
<file path=[Content_Types].xml><?xml version="1.0" encoding="utf-8"?>
<Types xmlns="http://schemas.openxmlformats.org/package/2006/content-types">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43746F-B389-1DF3-CDC3-CB32A4F05BED}" v="209" dt="2026-05-26T22:09:12.534"/>
    <p1510:client id="{FC2D189A-6FEC-C6EE-FD07-62817EC11889}" v="45" dt="2026-05-26T21:36:52.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33548A3E-2E33-48B3-98A6-606A797F5B4E}" type="datetimeFigureOut">
              <a:t>5/26/2026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781AFF1D-6B48-460F-83A2-6A6AC4862352}" type="slidenum">
              <a:t>‹#›</a:t>
            </a:fld>
            <a:endParaRPr lang="en-US"/>
          </a:p>
        </p:txBody>
      </p:sp>
    </p:spTree>
    <p:extLst>
      <p:ext uri="{BB962C8B-B14F-4D97-AF65-F5344CB8AC3E}">
        <p14:creationId xmlns:p14="http://schemas.microsoft.com/office/powerpoint/2010/main" val="4236704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github.com/v-thlewis/agentic-efficiency-improver-fieldguid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want to share something GitHub has been working on — a project we're calling Agentic Workflows. It's now generally available, so think of this as a look at where we believe CI/CD is heading. I'll walk through the idea, show you how it works, and then we'll do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the next twenty minutes. I'll start with a bit of context — how we got from automation to intelligence. Then I'll dig into what Agentic Workflows actually are and how you'd use them. We'll do a demo, and then leave plenty of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stage. Eight years ago GitHub Actions launched, and that gave teams a way to automate everything around the code. Then Copilot brought intelligence into the editor. Last year the Coding Agent shipped — software engineering agents that can take on whole tasks. What we're discussing today is the next step on that line: intelligence baked directly into the workflows themselves. Not just automation that runs, but automation that thinks.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it? Agentic Workflows is a way to safely combine GitHub Actions with software-engineering agents, driven from a small CLI extension. If you have a repo, Actions enabled, and the GitHub CLI, you install one extension and you're set up. We default to Copilot for the AI backend, but the design is engine-agnostic.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lives in frontmatter — the same YAML header pattern people already know. The only required field is the trigger. Everything else — which engine, what tools the agent can use, what permissions it has, what it's allowed to output — is optional and explicit. The goal was to make the common case one line and the careful case fully auditable.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itself is just markdown. You write what you want the agent to do in plain natural language, then you compile that markdown into a standard Actions YAML file. The compile step is important — it validates the workflow and produces a lock file you can review, diff, and commit. Nothing runs that hasn't been compiled.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once it's running, three things change compared to traditional CI. The workflow can read the repo, the issues, the pull requests, and use that context. It can make decisions based on what it sees, not just match preset conditions. And it stays on course — it understands the concepts you're working in, not just the primitives it has access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the first design constraint, not the last. The agent itself runs read-only — it can look, but it can't act. Anything it produces goes through threat detection that scans for prompt injection and other issues. And the actions it proposes — opening a PR, posting a comment — run in isolated containers as safe outputs. Three layers, each one independent.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this primitive, patterns emerge. Reactive workflows that respond to issues and PRs. Scheduled workflows that do daily analysis. Workflows that read project data and update state. And orchestration workflows that coordinate across repos. We've started calling this whole space Continuous AI — and we've documented design patterns for each of these.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also published a collection of ready-made workflows called </a:t>
            </a:r>
            <a:r>
              <a:rPr lang="en-US" dirty="0" err="1"/>
              <a:t>Agentics</a:t>
            </a:r>
            <a:r>
              <a:rPr lang="en-US" dirty="0"/>
              <a:t>. It's a good place to start if you want to see real examples and copy something working into your repo. Link is on the slide at the bottom.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let's stop talking about it and look at one running. I'll switch to my terminal...</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ea typeface="Calibri" panose="020F0502020204030204"/>
                <a:cs typeface="Calibri" panose="020F0502020204030204"/>
              </a:rPr>
              <a:t>You can use the demo walkthrough within the agentic-efficiency-improver-</a:t>
            </a:r>
            <a:r>
              <a:rPr lang="en-US" dirty="0" err="1">
                <a:ea typeface="Calibri" panose="020F0502020204030204"/>
                <a:cs typeface="Calibri" panose="020F0502020204030204"/>
              </a:rPr>
              <a:t>fieldguide</a:t>
            </a:r>
            <a:r>
              <a:rPr lang="en-US" dirty="0">
                <a:ea typeface="Calibri" panose="020F0502020204030204"/>
                <a:cs typeface="Calibri" panose="020F0502020204030204"/>
              </a:rPr>
              <a:t> repo at </a:t>
            </a:r>
            <a:r>
              <a:rPr lang="en-US" dirty="0">
                <a:hlinkClick r:id="rId3"/>
              </a:rPr>
              <a:t>https://github.com/v-thlewis/agentic-efficiency-improver-fieldguide</a:t>
            </a:r>
            <a:r>
              <a:rPr lang="en-US" dirty="0"/>
              <a:t>.</a:t>
            </a:r>
            <a:endParaRPr lang="en-US" dirty="0">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from me. Happy to take questions — about the CLI, the security model, the engines we support, or anything else.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68258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00-cover.md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562100"/>
            <a:ext cx="1687449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351" dirty="0">
                <a:solidFill>
                  <a:srgbClr val="7A8294"/>
                </a:solidFill>
                <a:latin typeface="Consolas" pitchFamily="34" charset="0"/>
                <a:ea typeface="Consolas" pitchFamily="34" charset="-122"/>
                <a:cs typeface="Consolas" pitchFamily="34" charset="-120"/>
              </a:rPr>
              <a:t># AN INTRODUCTION · 2026</a:t>
            </a:r>
            <a:endParaRPr lang="en-US" sz="1950" dirty="0"/>
          </a:p>
        </p:txBody>
      </p:sp>
      <p:sp>
        <p:nvSpPr>
          <p:cNvPr id="11" name="Text 9"/>
          <p:cNvSpPr/>
          <p:nvPr/>
        </p:nvSpPr>
        <p:spPr>
          <a:xfrm>
            <a:off x="952500" y="4203700"/>
            <a:ext cx="10178653" cy="3149600"/>
          </a:xfrm>
          <a:prstGeom prst="rect">
            <a:avLst/>
          </a:prstGeom>
          <a:noFill/>
          <a:ln/>
        </p:spPr>
        <p:txBody>
          <a:bodyPr wrap="square" lIns="25400" tIns="25400" rIns="25400" bIns="25400" rtlCol="0" anchor="t">
            <a:normAutofit/>
          </a:bodyPr>
          <a:lstStyle/>
          <a:p>
            <a:pPr marL="0" indent="0" algn="l">
              <a:lnSpc>
                <a:spcPct val="92000"/>
              </a:lnSpc>
              <a:buNone/>
            </a:pPr>
            <a:r>
              <a:rPr lang="en-US" sz="12600" kern="0" spc="-504" dirty="0">
                <a:solidFill>
                  <a:srgbClr val="E8E6DF"/>
                </a:solidFill>
                <a:latin typeface="Arial" pitchFamily="34" charset="0"/>
                <a:ea typeface="Arial" pitchFamily="34" charset="-122"/>
                <a:cs typeface="Arial" pitchFamily="34" charset="-120"/>
              </a:rPr>
              <a:t>Agentic </a:t>
            </a:r>
            <a:r>
              <a:rPr lang="en-US" sz="12600" i="1" kern="0" spc="-504" dirty="0">
                <a:solidFill>
                  <a:srgbClr val="B89CFF"/>
                </a:solidFill>
                <a:latin typeface="Georgia" pitchFamily="34" charset="0"/>
                <a:ea typeface="Georgia" pitchFamily="34" charset="-122"/>
                <a:cs typeface="Georgia" pitchFamily="34" charset="-120"/>
              </a:rPr>
              <a:t>Workflows.</a:t>
            </a:r>
            <a:endParaRPr lang="en-US" sz="12600" dirty="0"/>
          </a:p>
        </p:txBody>
      </p:sp>
      <p:sp>
        <p:nvSpPr>
          <p:cNvPr id="12" name="Shape 10"/>
          <p:cNvSpPr/>
          <p:nvPr/>
        </p:nvSpPr>
        <p:spPr>
          <a:xfrm>
            <a:off x="11406188" y="3987800"/>
            <a:ext cx="5929313" cy="3327400"/>
          </a:xfrm>
          <a:prstGeom prst="roundRect">
            <a:avLst>
              <a:gd name="adj" fmla="val 2290"/>
            </a:avLst>
          </a:prstGeom>
          <a:solidFill>
            <a:srgbClr val="161A23"/>
          </a:solidFill>
          <a:ln w="12700">
            <a:solidFill>
              <a:srgbClr val="2A3142"/>
            </a:solidFill>
            <a:prstDash val="solid"/>
          </a:ln>
        </p:spPr>
        <p:txBody>
          <a:bodyPr/>
          <a:p/>
        </p:txBody>
      </p:sp>
      <p:sp>
        <p:nvSpPr>
          <p:cNvPr id="13" name="Shape 11"/>
          <p:cNvSpPr/>
          <p:nvPr/>
        </p:nvSpPr>
        <p:spPr>
          <a:xfrm>
            <a:off x="11418888" y="4000500"/>
            <a:ext cx="5903913" cy="596900"/>
          </a:xfrm>
          <a:prstGeom prst="rect">
            <a:avLst/>
          </a:prstGeom>
          <a:solidFill>
            <a:srgbClr val="1C2230"/>
          </a:solidFill>
          <a:ln/>
        </p:spPr>
        <p:txBody>
          <a:bodyPr/>
          <a:p/>
        </p:txBody>
      </p:sp>
      <p:sp>
        <p:nvSpPr>
          <p:cNvPr id="14" name="Shape 12"/>
          <p:cNvSpPr/>
          <p:nvPr/>
        </p:nvSpPr>
        <p:spPr>
          <a:xfrm>
            <a:off x="11418888" y="4584700"/>
            <a:ext cx="5903913" cy="12700"/>
          </a:xfrm>
          <a:prstGeom prst="rect">
            <a:avLst/>
          </a:prstGeom>
          <a:solidFill>
            <a:srgbClr val="2A3142"/>
          </a:solidFill>
          <a:ln/>
        </p:spPr>
        <p:txBody>
          <a:bodyPr/>
          <a:p/>
        </p:txBody>
      </p:sp>
      <p:sp>
        <p:nvSpPr>
          <p:cNvPr id="15" name="Shape 13"/>
          <p:cNvSpPr/>
          <p:nvPr/>
        </p:nvSpPr>
        <p:spPr>
          <a:xfrm>
            <a:off x="11628438" y="4235450"/>
            <a:ext cx="114300" cy="114300"/>
          </a:xfrm>
          <a:prstGeom prst="ellipse">
            <a:avLst/>
          </a:prstGeom>
          <a:solidFill>
            <a:srgbClr val="3A4357"/>
          </a:solidFill>
          <a:ln/>
        </p:spPr>
        <p:txBody>
          <a:bodyPr/>
          <a:p/>
        </p:txBody>
      </p:sp>
      <p:sp>
        <p:nvSpPr>
          <p:cNvPr id="16" name="Shape 14"/>
          <p:cNvSpPr/>
          <p:nvPr/>
        </p:nvSpPr>
        <p:spPr>
          <a:xfrm>
            <a:off x="11818938" y="4235450"/>
            <a:ext cx="114300" cy="114300"/>
          </a:xfrm>
          <a:prstGeom prst="ellipse">
            <a:avLst/>
          </a:prstGeom>
          <a:solidFill>
            <a:srgbClr val="3A4357"/>
          </a:solidFill>
          <a:ln/>
        </p:spPr>
        <p:txBody>
          <a:bodyPr/>
          <a:p/>
        </p:txBody>
      </p:sp>
      <p:sp>
        <p:nvSpPr>
          <p:cNvPr id="17" name="Shape 15"/>
          <p:cNvSpPr/>
          <p:nvPr/>
        </p:nvSpPr>
        <p:spPr>
          <a:xfrm>
            <a:off x="12009438" y="4235450"/>
            <a:ext cx="114300" cy="114300"/>
          </a:xfrm>
          <a:prstGeom prst="ellipse">
            <a:avLst/>
          </a:prstGeom>
          <a:solidFill>
            <a:srgbClr val="3A4357"/>
          </a:solidFill>
          <a:ln/>
        </p:spPr>
        <p:txBody>
          <a:bodyPr/>
          <a:p/>
        </p:txBody>
      </p:sp>
      <p:sp>
        <p:nvSpPr>
          <p:cNvPr id="18" name="Text 16"/>
          <p:cNvSpPr/>
          <p:nvPr/>
        </p:nvSpPr>
        <p:spPr>
          <a:xfrm>
            <a:off x="12257088" y="4133850"/>
            <a:ext cx="89931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~/work</a:t>
            </a:r>
            <a:endParaRPr lang="en-US" sz="1800" dirty="0"/>
          </a:p>
        </p:txBody>
      </p:sp>
      <p:sp>
        <p:nvSpPr>
          <p:cNvPr id="19" name="Text 17"/>
          <p:cNvSpPr/>
          <p:nvPr/>
        </p:nvSpPr>
        <p:spPr>
          <a:xfrm>
            <a:off x="11666538" y="48450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B89CFF"/>
                </a:solidFill>
                <a:latin typeface="Consolas" pitchFamily="34" charset="0"/>
                <a:ea typeface="Consolas" pitchFamily="34" charset="-122"/>
                <a:cs typeface="Consolas" pitchFamily="34" charset="-120"/>
              </a:rPr>
              <a:t>$ </a:t>
            </a:r>
            <a:r>
              <a:rPr lang="en-US" sz="1800" dirty="0">
                <a:solidFill>
                  <a:srgbClr val="C6C4BC"/>
                </a:solidFill>
                <a:latin typeface="Consolas" pitchFamily="34" charset="0"/>
                <a:ea typeface="Consolas" pitchFamily="34" charset="-122"/>
                <a:cs typeface="Consolas" pitchFamily="34" charset="-120"/>
              </a:rPr>
              <a:t>gh extension install \</a:t>
            </a:r>
            <a:endParaRPr lang="en-US" sz="1800" dirty="0"/>
          </a:p>
        </p:txBody>
      </p:sp>
      <p:sp>
        <p:nvSpPr>
          <p:cNvPr id="20" name="Text 18"/>
          <p:cNvSpPr/>
          <p:nvPr/>
        </p:nvSpPr>
        <p:spPr>
          <a:xfrm>
            <a:off x="11666538" y="52260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C6C4BC"/>
                </a:solidFill>
                <a:latin typeface="Consolas" pitchFamily="34" charset="0"/>
                <a:ea typeface="Consolas" pitchFamily="34" charset="-122"/>
                <a:cs typeface="Consolas" pitchFamily="34" charset="-120"/>
              </a:rPr>
              <a:t>github/gh-aw</a:t>
            </a:r>
            <a:endParaRPr lang="en-US" sz="1800" dirty="0"/>
          </a:p>
        </p:txBody>
      </p:sp>
      <p:sp>
        <p:nvSpPr>
          <p:cNvPr id="21" name="Text 19"/>
          <p:cNvSpPr/>
          <p:nvPr/>
        </p:nvSpPr>
        <p:spPr>
          <a:xfrm>
            <a:off x="11666538" y="574040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8294"/>
                </a:solidFill>
                <a:latin typeface="Consolas" pitchFamily="34" charset="0"/>
                <a:ea typeface="Consolas" pitchFamily="34" charset="-122"/>
                <a:cs typeface="Consolas" pitchFamily="34" charset="-120"/>
              </a:rPr>
              <a:t># 1 extension. 0 services.</a:t>
            </a:r>
            <a:endParaRPr lang="en-US" sz="1800" dirty="0"/>
          </a:p>
        </p:txBody>
      </p:sp>
      <p:sp>
        <p:nvSpPr>
          <p:cNvPr id="22" name="Text 20"/>
          <p:cNvSpPr/>
          <p:nvPr/>
        </p:nvSpPr>
        <p:spPr>
          <a:xfrm>
            <a:off x="11666538" y="612140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8294"/>
                </a:solidFill>
                <a:latin typeface="Consolas" pitchFamily="34" charset="0"/>
                <a:ea typeface="Consolas" pitchFamily="34" charset="-122"/>
                <a:cs typeface="Consolas" pitchFamily="34" charset="-120"/>
              </a:rPr>
              <a:t># write markdown, ship a workflow.</a:t>
            </a:r>
            <a:endParaRPr lang="en-US" sz="1800" dirty="0"/>
          </a:p>
        </p:txBody>
      </p:sp>
      <p:sp>
        <p:nvSpPr>
          <p:cNvPr id="23" name="Text 21"/>
          <p:cNvSpPr/>
          <p:nvPr/>
        </p:nvSpPr>
        <p:spPr>
          <a:xfrm>
            <a:off x="11666538" y="66357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B89CFF"/>
                </a:solidFill>
                <a:latin typeface="Consolas" pitchFamily="34" charset="0"/>
                <a:ea typeface="Consolas" pitchFamily="34" charset="-122"/>
                <a:cs typeface="Consolas" pitchFamily="34" charset="-120"/>
              </a:rPr>
              <a:t>$ </a:t>
            </a:r>
            <a:r>
              <a:rPr lang="en-US" sz="1800" dirty="0">
                <a:solidFill>
                  <a:srgbClr val="C6C4BC"/>
                </a:solidFill>
                <a:latin typeface="Consolas" pitchFamily="34" charset="0"/>
                <a:ea typeface="Consolas" pitchFamily="34" charset="-122"/>
                <a:cs typeface="Consolas" pitchFamily="34" charset="-120"/>
              </a:rPr>
              <a:t>gh aw </a:t>
            </a:r>
            <a:r>
              <a:rPr lang="en-US" sz="1800" dirty="0">
                <a:solidFill>
                  <a:srgbClr val="E8E6DF"/>
                </a:solidFill>
                <a:latin typeface="Consolas" pitchFamily="34" charset="0"/>
                <a:ea typeface="Consolas" pitchFamily="34" charset="-122"/>
                <a:cs typeface="Consolas" pitchFamily="34" charset="-120"/>
              </a:rPr>
              <a:t>--help </a:t>
            </a:r>
            <a:r>
              <a:rPr lang="en-US" sz="1800" dirty="0">
                <a:solidFill>
                  <a:srgbClr val="B89CFF"/>
                </a:solidFill>
                <a:latin typeface="Consolas" pitchFamily="34" charset="0"/>
                <a:ea typeface="Consolas" pitchFamily="34" charset="-122"/>
                <a:cs typeface="Consolas" pitchFamily="34" charset="-120"/>
              </a:rPr>
              <a:t>▍</a:t>
            </a:r>
            <a:endParaRPr lang="en-US" sz="1800" dirty="0"/>
          </a:p>
        </p:txBody>
      </p:sp>
      <p:sp>
        <p:nvSpPr>
          <p:cNvPr id="24" name="Shape 22"/>
          <p:cNvSpPr/>
          <p:nvPr/>
        </p:nvSpPr>
        <p:spPr>
          <a:xfrm>
            <a:off x="952500" y="7696200"/>
            <a:ext cx="16383000" cy="12700"/>
          </a:xfrm>
          <a:prstGeom prst="rect">
            <a:avLst/>
          </a:prstGeom>
          <a:solidFill>
            <a:srgbClr val="2A3142"/>
          </a:solidFill>
          <a:ln/>
        </p:spPr>
        <p:txBody>
          <a:bodyPr/>
          <a:p/>
        </p:txBody>
      </p:sp>
      <p:sp>
        <p:nvSpPr>
          <p:cNvPr id="25" name="Text 23"/>
          <p:cNvSpPr/>
          <p:nvPr/>
        </p:nvSpPr>
        <p:spPr>
          <a:xfrm>
            <a:off x="952500" y="8013700"/>
            <a:ext cx="11047722" cy="3556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kern="0" spc="324">
                <a:solidFill>
                  <a:srgbClr val="545B6C"/>
                </a:solidFill>
                <a:latin typeface="Consolas"/>
              </a:rPr>
              <a:t>PRESENTERS</a:t>
            </a:r>
            <a:endParaRPr lang="en-US" sz="1800" dirty="0"/>
          </a:p>
        </p:txBody>
      </p:sp>
      <p:sp>
        <p:nvSpPr>
          <p:cNvPr id="26" name="Text 24"/>
          <p:cNvSpPr/>
          <p:nvPr/>
        </p:nvSpPr>
        <p:spPr>
          <a:xfrm>
            <a:off x="952500" y="8420100"/>
            <a:ext cx="11047690" cy="330200"/>
          </a:xfrm>
          <a:prstGeom prst="rect">
            <a:avLst/>
          </a:prstGeom>
          <a:noFill/>
          <a:ln/>
        </p:spPr>
        <p:txBody>
          <a:bodyPr wrap="square" lIns="0" tIns="0" rIns="0" bIns="0" rtlCol="0" anchor="t">
            <a:normAutofit lnSpcReduction="10000"/>
          </a:bodyPr>
          <a:lstStyle/>
          <a:p>
            <a:pPr marL="0" indent="0" algn="l">
              <a:lnSpc>
                <a:spcPct val="140000"/>
              </a:lnSpc>
              <a:buNone/>
            </a:pPr>
            <a:r>
              <a:rPr lang="en-US" sz="1800" kern="0" spc="144">
                <a:solidFill>
                  <a:srgbClr val="C6C4BC"/>
                </a:solidFill>
                <a:latin typeface="Consolas"/>
                <a:ea typeface="Consolas" pitchFamily="34" charset="-122"/>
                <a:cs typeface="Consolas" pitchFamily="34" charset="-120"/>
              </a:rPr>
              <a:t>@</a:t>
            </a:r>
            <a:r>
              <a:rPr lang="en-US" kern="0" spc="144">
                <a:solidFill>
                  <a:srgbClr val="C6C4BC"/>
                </a:solidFill>
                <a:latin typeface="Consolas"/>
                <a:ea typeface="Consolas" pitchFamily="34" charset="-122"/>
                <a:cs typeface="Consolas" pitchFamily="34" charset="-120"/>
              </a:rPr>
              <a:t>presenter</a:t>
            </a:r>
            <a:r>
              <a:rPr lang="en-US" sz="1800" kern="0" spc="144">
                <a:solidFill>
                  <a:srgbClr val="C6C4BC"/>
                </a:solidFill>
                <a:latin typeface="Consolas"/>
                <a:ea typeface="Consolas" pitchFamily="34" charset="-122"/>
                <a:cs typeface="Consolas" pitchFamily="34" charset="-120"/>
              </a:rPr>
              <a:t> · @</a:t>
            </a:r>
            <a:r>
              <a:rPr lang="en-US" kern="0" spc="144">
                <a:solidFill>
                  <a:srgbClr val="C6C4BC"/>
                </a:solidFill>
                <a:latin typeface="Consolas"/>
                <a:ea typeface="Consolas" pitchFamily="34" charset="-122"/>
                <a:cs typeface="Consolas" pitchFamily="34" charset="-120"/>
              </a:rPr>
              <a:t>presenter</a:t>
            </a:r>
            <a:r>
              <a:rPr lang="en-US" sz="1800" kern="0" spc="144">
                <a:solidFill>
                  <a:srgbClr val="C6C4BC"/>
                </a:solidFill>
                <a:latin typeface="Consolas"/>
                <a:ea typeface="Consolas" pitchFamily="34" charset="-122"/>
                <a:cs typeface="Consolas" pitchFamily="34" charset="-120"/>
              </a:rPr>
              <a:t> · @</a:t>
            </a:r>
            <a:r>
              <a:rPr lang="en-US" kern="0" spc="144">
                <a:solidFill>
                  <a:srgbClr val="C6C4BC"/>
                </a:solidFill>
                <a:latin typeface="Consolas"/>
                <a:ea typeface="Consolas" pitchFamily="34" charset="-122"/>
                <a:cs typeface="Consolas" pitchFamily="34" charset="-120"/>
              </a:rPr>
              <a:t>demoer</a:t>
            </a:r>
            <a:endParaRPr lang="en-US" sz="1800">
              <a:latin typeface="Consolas"/>
            </a:endParaRPr>
          </a:p>
        </p:txBody>
      </p:sp>
      <p:sp>
        <p:nvSpPr>
          <p:cNvPr id="27" name="Text 25"/>
          <p:cNvSpPr/>
          <p:nvPr/>
        </p:nvSpPr>
        <p:spPr>
          <a:xfrm>
            <a:off x="15469989" y="8407400"/>
            <a:ext cx="194171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44" dirty="0">
                <a:solidFill>
                  <a:srgbClr val="7A8294"/>
                </a:solidFill>
                <a:latin typeface="Consolas" pitchFamily="34" charset="0"/>
                <a:ea typeface="Consolas" pitchFamily="34" charset="-122"/>
                <a:cs typeface="Consolas" pitchFamily="34" charset="-120"/>
              </a:rPr>
              <a:t>v0 · 01 / 12</a:t>
            </a:r>
            <a:endParaRPr lang="en-US" sz="1800" dirty="0"/>
          </a:p>
        </p:txBody>
      </p:sp>
      <p:sp>
        <p:nvSpPr>
          <p:cNvPr id="28" name="Shape 26"/>
          <p:cNvSpPr/>
          <p:nvPr/>
        </p:nvSpPr>
        <p:spPr>
          <a:xfrm>
            <a:off x="0" y="9779001"/>
            <a:ext cx="18288000" cy="508000"/>
          </a:xfrm>
          <a:prstGeom prst="rect">
            <a:avLst/>
          </a:prstGeom>
          <a:solidFill>
            <a:srgbClr val="11141B"/>
          </a:solidFill>
          <a:ln/>
        </p:spPr>
        <p:txBody>
          <a:bodyPr/>
          <a:p/>
        </p:txBody>
      </p:sp>
      <p:sp>
        <p:nvSpPr>
          <p:cNvPr id="29" name="Shape 27"/>
          <p:cNvSpPr/>
          <p:nvPr/>
        </p:nvSpPr>
        <p:spPr>
          <a:xfrm>
            <a:off x="0" y="9779001"/>
            <a:ext cx="18288000" cy="12700"/>
          </a:xfrm>
          <a:prstGeom prst="rect">
            <a:avLst/>
          </a:prstGeom>
          <a:solidFill>
            <a:srgbClr val="2A3142"/>
          </a:solidFill>
          <a:ln/>
        </p:spPr>
        <p:txBody>
          <a:bodyPr/>
          <a:p/>
        </p:txBody>
      </p:sp>
      <p:sp>
        <p:nvSpPr>
          <p:cNvPr id="30" name="Text 28"/>
          <p:cNvSpPr/>
          <p:nvPr/>
        </p:nvSpPr>
        <p:spPr>
          <a:xfrm>
            <a:off x="304800" y="9880600"/>
            <a:ext cx="10689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main</a:t>
            </a:r>
            <a:endParaRPr lang="en-US" sz="1800" dirty="0"/>
          </a:p>
        </p:txBody>
      </p:sp>
      <p:sp>
        <p:nvSpPr>
          <p:cNvPr id="31" name="Text 29"/>
          <p:cNvSpPr/>
          <p:nvPr/>
        </p:nvSpPr>
        <p:spPr>
          <a:xfrm>
            <a:off x="160238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 0 ↓ 0</a:t>
            </a:r>
            <a:endParaRPr lang="en-US" sz="1800" dirty="0"/>
          </a:p>
        </p:txBody>
      </p:sp>
      <p:sp>
        <p:nvSpPr>
          <p:cNvPr id="32" name="Text 30"/>
          <p:cNvSpPr/>
          <p:nvPr/>
        </p:nvSpPr>
        <p:spPr>
          <a:xfrm>
            <a:off x="2899370" y="9880600"/>
            <a:ext cx="7850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UTF-8</a:t>
            </a:r>
            <a:endParaRPr lang="en-US" sz="1800" dirty="0"/>
          </a:p>
        </p:txBody>
      </p:sp>
      <p:sp>
        <p:nvSpPr>
          <p:cNvPr id="33" name="Text 31"/>
          <p:cNvSpPr/>
          <p:nvPr/>
        </p:nvSpPr>
        <p:spPr>
          <a:xfrm>
            <a:off x="15023505" y="9880600"/>
            <a:ext cx="121007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markdown</a:t>
            </a:r>
            <a:endParaRPr lang="en-US" sz="1800" dirty="0"/>
          </a:p>
        </p:txBody>
      </p:sp>
      <p:sp>
        <p:nvSpPr>
          <p:cNvPr id="34" name="Text 32"/>
          <p:cNvSpPr/>
          <p:nvPr/>
        </p:nvSpPr>
        <p:spPr>
          <a:xfrm>
            <a:off x="16424077" y="9880600"/>
            <a:ext cx="163532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Ln 1, Col 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82852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01-agenda.md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WE'LL COVER</a:t>
            </a:r>
            <a:endParaRPr lang="en-US" sz="1800" dirty="0"/>
          </a:p>
        </p:txBody>
      </p:sp>
      <p:sp>
        <p:nvSpPr>
          <p:cNvPr id="11" name="Text 9"/>
          <p:cNvSpPr/>
          <p:nvPr/>
        </p:nvSpPr>
        <p:spPr>
          <a:xfrm>
            <a:off x="952500" y="1631950"/>
            <a:ext cx="14716125" cy="8636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Four parts, about </a:t>
            </a:r>
            <a:r>
              <a:rPr lang="en-US" sz="5700" i="1" kern="0" spc="-142" dirty="0">
                <a:solidFill>
                  <a:srgbClr val="B89CFF"/>
                </a:solidFill>
                <a:latin typeface="Georgia" pitchFamily="34" charset="0"/>
                <a:ea typeface="Georgia" pitchFamily="34" charset="-122"/>
                <a:cs typeface="Georgia" pitchFamily="34" charset="-120"/>
              </a:rPr>
              <a:t>twenty </a:t>
            </a:r>
            <a:r>
              <a:rPr lang="en-US" sz="5700" kern="0" spc="-142" dirty="0">
                <a:solidFill>
                  <a:srgbClr val="E8E6DF"/>
                </a:solidFill>
                <a:latin typeface="Arial" pitchFamily="34" charset="0"/>
                <a:ea typeface="Arial" pitchFamily="34" charset="-122"/>
                <a:cs typeface="Arial" pitchFamily="34" charset="-120"/>
              </a:rPr>
              <a:t>minutes.</a:t>
            </a:r>
            <a:endParaRPr lang="en-US" sz="5700" dirty="0"/>
          </a:p>
        </p:txBody>
      </p:sp>
      <p:sp>
        <p:nvSpPr>
          <p:cNvPr id="12" name="Shape 10"/>
          <p:cNvSpPr/>
          <p:nvPr/>
        </p:nvSpPr>
        <p:spPr>
          <a:xfrm>
            <a:off x="952500" y="2952750"/>
            <a:ext cx="16383000" cy="12700"/>
          </a:xfrm>
          <a:prstGeom prst="rect">
            <a:avLst/>
          </a:prstGeom>
          <a:solidFill>
            <a:srgbClr val="2A3142"/>
          </a:solidFill>
          <a:ln/>
        </p:spPr>
        <p:txBody>
          <a:bodyPr/>
          <a:p/>
        </p:txBody>
      </p:sp>
      <p:sp>
        <p:nvSpPr>
          <p:cNvPr id="13" name="Text 11"/>
          <p:cNvSpPr/>
          <p:nvPr/>
        </p:nvSpPr>
        <p:spPr>
          <a:xfrm>
            <a:off x="952500" y="34290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01 ·</a:t>
            </a:r>
            <a:endParaRPr lang="en-US" sz="1950" dirty="0"/>
          </a:p>
        </p:txBody>
      </p:sp>
      <p:sp>
        <p:nvSpPr>
          <p:cNvPr id="14" name="Text 12"/>
          <p:cNvSpPr/>
          <p:nvPr/>
        </p:nvSpPr>
        <p:spPr>
          <a:xfrm>
            <a:off x="2305050" y="32321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From automation to intelligence</a:t>
            </a:r>
            <a:endParaRPr lang="en-US" sz="4200" dirty="0"/>
          </a:p>
        </p:txBody>
      </p:sp>
      <p:sp>
        <p:nvSpPr>
          <p:cNvPr id="15" name="Text 13"/>
          <p:cNvSpPr/>
          <p:nvPr/>
        </p:nvSpPr>
        <p:spPr>
          <a:xfrm>
            <a:off x="16295291" y="34290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3 min</a:t>
            </a:r>
            <a:endParaRPr lang="en-US" sz="1950" dirty="0"/>
          </a:p>
        </p:txBody>
      </p:sp>
      <p:sp>
        <p:nvSpPr>
          <p:cNvPr id="16" name="Shape 14"/>
          <p:cNvSpPr/>
          <p:nvPr/>
        </p:nvSpPr>
        <p:spPr>
          <a:xfrm>
            <a:off x="952500" y="4235450"/>
            <a:ext cx="16383000" cy="12700"/>
          </a:xfrm>
          <a:prstGeom prst="rect">
            <a:avLst/>
          </a:prstGeom>
          <a:solidFill>
            <a:srgbClr val="2A3142"/>
          </a:solidFill>
          <a:ln/>
        </p:spPr>
        <p:txBody>
          <a:bodyPr/>
          <a:p/>
        </p:txBody>
      </p:sp>
      <p:sp>
        <p:nvSpPr>
          <p:cNvPr id="17" name="Text 15"/>
          <p:cNvSpPr/>
          <p:nvPr/>
        </p:nvSpPr>
        <p:spPr>
          <a:xfrm>
            <a:off x="952500" y="47117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02 ·</a:t>
            </a:r>
            <a:endParaRPr lang="en-US" sz="1950" dirty="0"/>
          </a:p>
        </p:txBody>
      </p:sp>
      <p:sp>
        <p:nvSpPr>
          <p:cNvPr id="18" name="Text 16"/>
          <p:cNvSpPr/>
          <p:nvPr/>
        </p:nvSpPr>
        <p:spPr>
          <a:xfrm>
            <a:off x="2305050" y="45148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GitHub Agentic Workflows</a:t>
            </a:r>
            <a:endParaRPr lang="en-US" sz="4200" dirty="0"/>
          </a:p>
        </p:txBody>
      </p:sp>
      <p:sp>
        <p:nvSpPr>
          <p:cNvPr id="19" name="Text 17"/>
          <p:cNvSpPr/>
          <p:nvPr/>
        </p:nvSpPr>
        <p:spPr>
          <a:xfrm>
            <a:off x="16295291" y="47117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8 min</a:t>
            </a:r>
            <a:endParaRPr lang="en-US" sz="1950" dirty="0"/>
          </a:p>
        </p:txBody>
      </p:sp>
      <p:sp>
        <p:nvSpPr>
          <p:cNvPr id="20" name="Shape 18"/>
          <p:cNvSpPr/>
          <p:nvPr/>
        </p:nvSpPr>
        <p:spPr>
          <a:xfrm>
            <a:off x="952500" y="5518150"/>
            <a:ext cx="16383000" cy="12700"/>
          </a:xfrm>
          <a:prstGeom prst="rect">
            <a:avLst/>
          </a:prstGeom>
          <a:solidFill>
            <a:srgbClr val="2A3142"/>
          </a:solidFill>
          <a:ln/>
        </p:spPr>
        <p:txBody>
          <a:bodyPr/>
          <a:p/>
        </p:txBody>
      </p:sp>
      <p:sp>
        <p:nvSpPr>
          <p:cNvPr id="21" name="Text 19"/>
          <p:cNvSpPr/>
          <p:nvPr/>
        </p:nvSpPr>
        <p:spPr>
          <a:xfrm>
            <a:off x="952500" y="59944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03 ·</a:t>
            </a:r>
            <a:endParaRPr lang="en-US" sz="1950" dirty="0"/>
          </a:p>
        </p:txBody>
      </p:sp>
      <p:sp>
        <p:nvSpPr>
          <p:cNvPr id="22" name="Text 20"/>
          <p:cNvSpPr/>
          <p:nvPr/>
        </p:nvSpPr>
        <p:spPr>
          <a:xfrm>
            <a:off x="2305050" y="57975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Live demo</a:t>
            </a:r>
            <a:endParaRPr lang="en-US" sz="4200" dirty="0"/>
          </a:p>
        </p:txBody>
      </p:sp>
      <p:sp>
        <p:nvSpPr>
          <p:cNvPr id="23" name="Text 21"/>
          <p:cNvSpPr/>
          <p:nvPr/>
        </p:nvSpPr>
        <p:spPr>
          <a:xfrm>
            <a:off x="16295291" y="59944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6 min</a:t>
            </a:r>
            <a:endParaRPr lang="en-US" sz="1950" dirty="0"/>
          </a:p>
        </p:txBody>
      </p:sp>
      <p:sp>
        <p:nvSpPr>
          <p:cNvPr id="24" name="Shape 22"/>
          <p:cNvSpPr/>
          <p:nvPr/>
        </p:nvSpPr>
        <p:spPr>
          <a:xfrm>
            <a:off x="952500" y="8083550"/>
            <a:ext cx="16383000" cy="12700"/>
          </a:xfrm>
          <a:prstGeom prst="rect">
            <a:avLst/>
          </a:prstGeom>
          <a:solidFill>
            <a:srgbClr val="2A3142"/>
          </a:solidFill>
          <a:ln/>
        </p:spPr>
        <p:txBody>
          <a:bodyPr/>
          <a:p/>
        </p:txBody>
      </p:sp>
      <p:sp>
        <p:nvSpPr>
          <p:cNvPr id="25" name="Shape 23"/>
          <p:cNvSpPr/>
          <p:nvPr/>
        </p:nvSpPr>
        <p:spPr>
          <a:xfrm>
            <a:off x="952500" y="6800850"/>
            <a:ext cx="16383000" cy="12700"/>
          </a:xfrm>
          <a:prstGeom prst="rect">
            <a:avLst/>
          </a:prstGeom>
          <a:solidFill>
            <a:srgbClr val="2A3142"/>
          </a:solidFill>
          <a:ln/>
        </p:spPr>
        <p:txBody>
          <a:bodyPr/>
          <a:p/>
        </p:txBody>
      </p:sp>
      <p:sp>
        <p:nvSpPr>
          <p:cNvPr id="26" name="Text 24"/>
          <p:cNvSpPr/>
          <p:nvPr/>
        </p:nvSpPr>
        <p:spPr>
          <a:xfrm>
            <a:off x="952500" y="72771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04 ·</a:t>
            </a:r>
            <a:endParaRPr lang="en-US" sz="1950" dirty="0"/>
          </a:p>
        </p:txBody>
      </p:sp>
      <p:sp>
        <p:nvSpPr>
          <p:cNvPr id="27" name="Text 25"/>
          <p:cNvSpPr/>
          <p:nvPr/>
        </p:nvSpPr>
        <p:spPr>
          <a:xfrm>
            <a:off x="2305050" y="70802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Q&amp;A</a:t>
            </a:r>
            <a:endParaRPr lang="en-US" sz="4200" dirty="0"/>
          </a:p>
        </p:txBody>
      </p:sp>
      <p:sp>
        <p:nvSpPr>
          <p:cNvPr id="28" name="Text 26"/>
          <p:cNvSpPr/>
          <p:nvPr/>
        </p:nvSpPr>
        <p:spPr>
          <a:xfrm>
            <a:off x="16295291" y="72771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3 min</a:t>
            </a:r>
            <a:endParaRPr lang="en-US" sz="1950" dirty="0"/>
          </a:p>
        </p:txBody>
      </p:sp>
      <p:sp>
        <p:nvSpPr>
          <p:cNvPr id="29" name="Shape 27"/>
          <p:cNvSpPr/>
          <p:nvPr/>
        </p:nvSpPr>
        <p:spPr>
          <a:xfrm>
            <a:off x="0" y="9779001"/>
            <a:ext cx="18288000" cy="508000"/>
          </a:xfrm>
          <a:prstGeom prst="rect">
            <a:avLst/>
          </a:prstGeom>
          <a:solidFill>
            <a:srgbClr val="11141B"/>
          </a:solidFill>
          <a:ln/>
        </p:spPr>
        <p:txBody>
          <a:bodyPr/>
          <a:p/>
        </p:txBody>
      </p:sp>
      <p:sp>
        <p:nvSpPr>
          <p:cNvPr id="30" name="Shape 28"/>
          <p:cNvSpPr/>
          <p:nvPr/>
        </p:nvSpPr>
        <p:spPr>
          <a:xfrm>
            <a:off x="0" y="9779001"/>
            <a:ext cx="18288000" cy="12700"/>
          </a:xfrm>
          <a:prstGeom prst="rect">
            <a:avLst/>
          </a:prstGeom>
          <a:solidFill>
            <a:srgbClr val="2A3142"/>
          </a:solidFill>
          <a:ln/>
        </p:spPr>
        <p:txBody>
          <a:bodyPr/>
          <a:p/>
        </p:txBody>
      </p:sp>
      <p:sp>
        <p:nvSpPr>
          <p:cNvPr id="31" name="Text 29"/>
          <p:cNvSpPr/>
          <p:nvPr/>
        </p:nvSpPr>
        <p:spPr>
          <a:xfrm>
            <a:off x="304800" y="9880600"/>
            <a:ext cx="135235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agenda</a:t>
            </a:r>
            <a:endParaRPr lang="en-US" sz="1800" dirty="0"/>
          </a:p>
        </p:txBody>
      </p:sp>
      <p:sp>
        <p:nvSpPr>
          <p:cNvPr id="32" name="Text 30"/>
          <p:cNvSpPr/>
          <p:nvPr/>
        </p:nvSpPr>
        <p:spPr>
          <a:xfrm>
            <a:off x="1885752" y="9880600"/>
            <a:ext cx="149363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4 sections</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02 / 12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97445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02-context.md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FROM AUTOMATION TO INTELLIGENCE</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Eight years of embedding </a:t>
            </a:r>
            <a:r>
              <a:rPr lang="en-US" sz="5700" i="1" kern="0" spc="-142" dirty="0">
                <a:solidFill>
                  <a:srgbClr val="B89CFF"/>
                </a:solidFill>
                <a:latin typeface="Georgia" pitchFamily="34" charset="0"/>
                <a:ea typeface="Georgia" pitchFamily="34" charset="-122"/>
                <a:cs typeface="Georgia" pitchFamily="34" charset="-120"/>
              </a:rPr>
              <a:t>intelligence </a:t>
            </a:r>
            <a:r>
              <a:rPr lang="en-US" sz="5700" kern="0" spc="-142" dirty="0">
                <a:solidFill>
                  <a:srgbClr val="E8E6DF"/>
                </a:solidFill>
                <a:latin typeface="Arial" pitchFamily="34" charset="0"/>
                <a:ea typeface="Arial" pitchFamily="34" charset="-122"/>
                <a:cs typeface="Arial" pitchFamily="34" charset="-120"/>
              </a:rPr>
              <a:t>into the workflow.</a:t>
            </a:r>
            <a:endParaRPr lang="en-US" sz="5700" dirty="0"/>
          </a:p>
        </p:txBody>
      </p:sp>
      <p:sp>
        <p:nvSpPr>
          <p:cNvPr id="12" name="Shape 10"/>
          <p:cNvSpPr/>
          <p:nvPr/>
        </p:nvSpPr>
        <p:spPr>
          <a:xfrm>
            <a:off x="1238250" y="5016500"/>
            <a:ext cx="15811500" cy="9525"/>
          </a:xfrm>
          <a:prstGeom prst="rect">
            <a:avLst/>
          </a:prstGeom>
          <a:solidFill>
            <a:srgbClr val="2A3142"/>
          </a:solidFill>
          <a:ln/>
        </p:spPr>
        <p:txBody>
          <a:bodyPr/>
          <a:p/>
        </p:txBody>
      </p:sp>
      <p:sp>
        <p:nvSpPr>
          <p:cNvPr id="13" name="Shape 11"/>
          <p:cNvSpPr/>
          <p:nvPr/>
        </p:nvSpPr>
        <p:spPr>
          <a:xfrm>
            <a:off x="1238250" y="4959350"/>
            <a:ext cx="171450" cy="171450"/>
          </a:xfrm>
          <a:prstGeom prst="ellipse">
            <a:avLst/>
          </a:prstGeom>
          <a:solidFill>
            <a:srgbClr val="0B0D12"/>
          </a:solidFill>
          <a:ln w="19050">
            <a:solidFill>
              <a:srgbClr val="7A8294"/>
            </a:solidFill>
            <a:prstDash val="solid"/>
          </a:ln>
        </p:spPr>
        <p:txBody>
          <a:bodyPr/>
          <a:p/>
        </p:txBody>
      </p:sp>
      <p:sp>
        <p:nvSpPr>
          <p:cNvPr id="14" name="Text 12"/>
          <p:cNvSpPr/>
          <p:nvPr/>
        </p:nvSpPr>
        <p:spPr>
          <a:xfrm>
            <a:off x="1238250"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2018</a:t>
            </a:r>
            <a:endParaRPr lang="en-US" sz="1950" dirty="0"/>
          </a:p>
        </p:txBody>
      </p:sp>
      <p:sp>
        <p:nvSpPr>
          <p:cNvPr id="15" name="Text 13"/>
          <p:cNvSpPr/>
          <p:nvPr/>
        </p:nvSpPr>
        <p:spPr>
          <a:xfrm>
            <a:off x="1238250"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GitHub Actions</a:t>
            </a:r>
            <a:endParaRPr lang="en-US" sz="2550" dirty="0"/>
          </a:p>
        </p:txBody>
      </p:sp>
      <p:sp>
        <p:nvSpPr>
          <p:cNvPr id="16" name="Text 14"/>
          <p:cNvSpPr/>
          <p:nvPr/>
        </p:nvSpPr>
        <p:spPr>
          <a:xfrm>
            <a:off x="1238250"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Automation as the foundation.</a:t>
            </a:r>
            <a:endParaRPr lang="en-US" sz="1800" dirty="0"/>
          </a:p>
        </p:txBody>
      </p:sp>
      <p:sp>
        <p:nvSpPr>
          <p:cNvPr id="17" name="Shape 15"/>
          <p:cNvSpPr/>
          <p:nvPr/>
        </p:nvSpPr>
        <p:spPr>
          <a:xfrm>
            <a:off x="5191125" y="4959350"/>
            <a:ext cx="171450" cy="171450"/>
          </a:xfrm>
          <a:prstGeom prst="ellipse">
            <a:avLst/>
          </a:prstGeom>
          <a:solidFill>
            <a:srgbClr val="0B0D12"/>
          </a:solidFill>
          <a:ln w="19050">
            <a:solidFill>
              <a:srgbClr val="7A8294"/>
            </a:solidFill>
            <a:prstDash val="solid"/>
          </a:ln>
        </p:spPr>
        <p:txBody>
          <a:bodyPr/>
          <a:p/>
        </p:txBody>
      </p:sp>
      <p:sp>
        <p:nvSpPr>
          <p:cNvPr id="18" name="Text 16"/>
          <p:cNvSpPr/>
          <p:nvPr/>
        </p:nvSpPr>
        <p:spPr>
          <a:xfrm>
            <a:off x="5191125"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2021</a:t>
            </a:r>
            <a:endParaRPr lang="en-US" sz="1950" dirty="0"/>
          </a:p>
        </p:txBody>
      </p:sp>
      <p:sp>
        <p:nvSpPr>
          <p:cNvPr id="19" name="Text 17"/>
          <p:cNvSpPr/>
          <p:nvPr/>
        </p:nvSpPr>
        <p:spPr>
          <a:xfrm>
            <a:off x="5191125"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Copilot</a:t>
            </a:r>
            <a:endParaRPr lang="en-US" sz="2550" dirty="0"/>
          </a:p>
        </p:txBody>
      </p:sp>
      <p:sp>
        <p:nvSpPr>
          <p:cNvPr id="20" name="Text 18"/>
          <p:cNvSpPr/>
          <p:nvPr/>
        </p:nvSpPr>
        <p:spPr>
          <a:xfrm>
            <a:off x="5191125"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Assists you in the editor.</a:t>
            </a:r>
            <a:endParaRPr lang="en-US" sz="1800" dirty="0"/>
          </a:p>
        </p:txBody>
      </p:sp>
      <p:sp>
        <p:nvSpPr>
          <p:cNvPr id="21" name="Shape 19"/>
          <p:cNvSpPr/>
          <p:nvPr/>
        </p:nvSpPr>
        <p:spPr>
          <a:xfrm>
            <a:off x="9144000" y="4959350"/>
            <a:ext cx="171450" cy="171450"/>
          </a:xfrm>
          <a:prstGeom prst="ellipse">
            <a:avLst/>
          </a:prstGeom>
          <a:solidFill>
            <a:srgbClr val="0B0D12"/>
          </a:solidFill>
          <a:ln w="19050">
            <a:solidFill>
              <a:srgbClr val="7A8294"/>
            </a:solidFill>
            <a:prstDash val="solid"/>
          </a:ln>
        </p:spPr>
        <p:txBody>
          <a:bodyPr/>
          <a:p/>
        </p:txBody>
      </p:sp>
      <p:sp>
        <p:nvSpPr>
          <p:cNvPr id="22" name="Text 20"/>
          <p:cNvSpPr/>
          <p:nvPr/>
        </p:nvSpPr>
        <p:spPr>
          <a:xfrm>
            <a:off x="9144000"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2025</a:t>
            </a:r>
            <a:endParaRPr lang="en-US" sz="1950" dirty="0"/>
          </a:p>
        </p:txBody>
      </p:sp>
      <p:sp>
        <p:nvSpPr>
          <p:cNvPr id="23" name="Text 21"/>
          <p:cNvSpPr/>
          <p:nvPr/>
        </p:nvSpPr>
        <p:spPr>
          <a:xfrm>
            <a:off x="9144000"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Coding Agent</a:t>
            </a:r>
            <a:endParaRPr lang="en-US" sz="2550" dirty="0"/>
          </a:p>
        </p:txBody>
      </p:sp>
      <p:sp>
        <p:nvSpPr>
          <p:cNvPr id="24" name="Text 22"/>
          <p:cNvSpPr/>
          <p:nvPr/>
        </p:nvSpPr>
        <p:spPr>
          <a:xfrm>
            <a:off x="9144000"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SWE agents that act on tasks.</a:t>
            </a:r>
            <a:endParaRPr lang="en-US" sz="1800" dirty="0"/>
          </a:p>
        </p:txBody>
      </p:sp>
      <p:sp>
        <p:nvSpPr>
          <p:cNvPr id="25" name="Shape 23"/>
          <p:cNvSpPr/>
          <p:nvPr/>
        </p:nvSpPr>
        <p:spPr>
          <a:xfrm>
            <a:off x="13096875" y="4940300"/>
            <a:ext cx="209550" cy="209550"/>
          </a:xfrm>
          <a:prstGeom prst="ellipse">
            <a:avLst/>
          </a:prstGeom>
          <a:solidFill>
            <a:srgbClr val="B89CFF"/>
          </a:solidFill>
          <a:ln w="19050">
            <a:solidFill>
              <a:srgbClr val="B89CFF"/>
            </a:solidFill>
            <a:prstDash val="solid"/>
          </a:ln>
          <a:effectLst>
            <a:outerShdw blurRad="101600" dist="50800" dir="16200000" algn="bl" rotWithShape="0">
              <a:srgbClr val="B89CFF">
                <a:alpha val="18000"/>
              </a:srgbClr>
            </a:outerShdw>
          </a:effectLst>
        </p:spPr>
        <p:txBody>
          <a:bodyPr/>
          <a:p/>
        </p:txBody>
      </p:sp>
      <p:sp>
        <p:nvSpPr>
          <p:cNvPr id="26" name="Text 24"/>
          <p:cNvSpPr/>
          <p:nvPr/>
        </p:nvSpPr>
        <p:spPr>
          <a:xfrm>
            <a:off x="13096875"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2026 · </a:t>
            </a:r>
            <a:r>
              <a:rPr lang="en-US" sz="1950" kern="0" spc="156" dirty="0">
                <a:solidFill>
                  <a:srgbClr val="B89CFF"/>
                </a:solidFill>
                <a:latin typeface="Consolas" pitchFamily="34" charset="0"/>
                <a:ea typeface="Consolas" pitchFamily="34" charset="-122"/>
                <a:cs typeface="Consolas" pitchFamily="34" charset="-120"/>
              </a:rPr>
              <a:t>now</a:t>
            </a:r>
            <a:endParaRPr lang="en-US" sz="1950" dirty="0"/>
          </a:p>
        </p:txBody>
      </p:sp>
      <p:sp>
        <p:nvSpPr>
          <p:cNvPr id="27" name="Text 25"/>
          <p:cNvSpPr/>
          <p:nvPr/>
        </p:nvSpPr>
        <p:spPr>
          <a:xfrm>
            <a:off x="13096875"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B89CFF"/>
                </a:solidFill>
                <a:latin typeface="Arial" pitchFamily="34" charset="0"/>
                <a:ea typeface="Arial" pitchFamily="34" charset="-122"/>
                <a:cs typeface="Arial" pitchFamily="34" charset="-120"/>
              </a:rPr>
              <a:t>Agentic Workflows</a:t>
            </a:r>
            <a:endParaRPr lang="en-US" sz="2550" dirty="0"/>
          </a:p>
        </p:txBody>
      </p:sp>
      <p:sp>
        <p:nvSpPr>
          <p:cNvPr id="28" name="Text 26"/>
          <p:cNvSpPr/>
          <p:nvPr/>
        </p:nvSpPr>
        <p:spPr>
          <a:xfrm>
            <a:off x="13096875" y="6315075"/>
            <a:ext cx="3777139"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Intelligence built into the workflow itself.</a:t>
            </a:r>
            <a:endParaRPr lang="en-US" sz="1800" dirty="0"/>
          </a:p>
        </p:txBody>
      </p:sp>
      <p:sp>
        <p:nvSpPr>
          <p:cNvPr id="29" name="Shape 27"/>
          <p:cNvSpPr/>
          <p:nvPr/>
        </p:nvSpPr>
        <p:spPr>
          <a:xfrm>
            <a:off x="0" y="9779001"/>
            <a:ext cx="18288000" cy="508000"/>
          </a:xfrm>
          <a:prstGeom prst="rect">
            <a:avLst/>
          </a:prstGeom>
          <a:solidFill>
            <a:srgbClr val="11141B"/>
          </a:solidFill>
          <a:ln/>
        </p:spPr>
        <p:txBody>
          <a:bodyPr/>
          <a:p/>
        </p:txBody>
      </p:sp>
      <p:sp>
        <p:nvSpPr>
          <p:cNvPr id="30" name="Shape 28"/>
          <p:cNvSpPr/>
          <p:nvPr/>
        </p:nvSpPr>
        <p:spPr>
          <a:xfrm>
            <a:off x="0" y="9779001"/>
            <a:ext cx="18288000" cy="12700"/>
          </a:xfrm>
          <a:prstGeom prst="rect">
            <a:avLst/>
          </a:prstGeom>
          <a:solidFill>
            <a:srgbClr val="2A3142"/>
          </a:solidFill>
          <a:ln/>
        </p:spPr>
        <p:txBody>
          <a:bodyPr/>
          <a:p/>
        </p:txBody>
      </p:sp>
      <p:sp>
        <p:nvSpPr>
          <p:cNvPr id="31" name="Text 29"/>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context</a:t>
            </a:r>
            <a:endParaRPr lang="en-US" sz="1800" dirty="0"/>
          </a:p>
        </p:txBody>
      </p:sp>
      <p:sp>
        <p:nvSpPr>
          <p:cNvPr id="32" name="Text 30"/>
          <p:cNvSpPr/>
          <p:nvPr/>
        </p:nvSpPr>
        <p:spPr>
          <a:xfrm>
            <a:off x="2027436"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2018 → 2026</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03 / 12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97445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03-install.md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IS AGENTIC WORKFLOWS</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Actions and SWE agents, safely </a:t>
            </a:r>
            <a:r>
              <a:rPr lang="en-US" sz="5700" i="1" kern="0" spc="-142" dirty="0">
                <a:solidFill>
                  <a:srgbClr val="B89CFF"/>
                </a:solidFill>
                <a:latin typeface="Georgia" pitchFamily="34" charset="0"/>
                <a:ea typeface="Georgia" pitchFamily="34" charset="-122"/>
                <a:cs typeface="Georgia" pitchFamily="34" charset="-120"/>
              </a:rPr>
              <a:t>combined </a:t>
            </a:r>
            <a:r>
              <a:rPr lang="en-US" sz="5700" kern="0" spc="-142" dirty="0">
                <a:solidFill>
                  <a:srgbClr val="E8E6DF"/>
                </a:solidFill>
                <a:latin typeface="Arial" pitchFamily="34" charset="0"/>
                <a:ea typeface="Arial" pitchFamily="34" charset="-122"/>
                <a:cs typeface="Arial" pitchFamily="34" charset="-120"/>
              </a:rPr>
              <a:t>from one CLI.</a:t>
            </a:r>
            <a:endParaRPr lang="en-US" sz="5700" dirty="0"/>
          </a:p>
        </p:txBody>
      </p:sp>
      <p:sp>
        <p:nvSpPr>
          <p:cNvPr id="12" name="Text 10"/>
          <p:cNvSpPr/>
          <p:nvPr/>
        </p:nvSpPr>
        <p:spPr>
          <a:xfrm>
            <a:off x="952500" y="3702050"/>
            <a:ext cx="799576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PREREQUISITES</a:t>
            </a:r>
            <a:endParaRPr lang="en-US" sz="1800" dirty="0"/>
          </a:p>
        </p:txBody>
      </p:sp>
      <p:sp>
        <p:nvSpPr>
          <p:cNvPr id="13" name="Shape 11"/>
          <p:cNvSpPr/>
          <p:nvPr/>
        </p:nvSpPr>
        <p:spPr>
          <a:xfrm>
            <a:off x="952500" y="5175250"/>
            <a:ext cx="7762875" cy="12700"/>
          </a:xfrm>
          <a:prstGeom prst="rect">
            <a:avLst/>
          </a:prstGeom>
          <a:solidFill>
            <a:srgbClr val="2A3142"/>
          </a:solidFill>
          <a:ln/>
        </p:spPr>
        <p:txBody>
          <a:bodyPr/>
          <a:p/>
        </p:txBody>
      </p:sp>
      <p:sp>
        <p:nvSpPr>
          <p:cNvPr id="14" name="Text 12"/>
          <p:cNvSpPr/>
          <p:nvPr/>
        </p:nvSpPr>
        <p:spPr>
          <a:xfrm>
            <a:off x="952500" y="42989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15" name="Text 13"/>
          <p:cNvSpPr/>
          <p:nvPr/>
        </p:nvSpPr>
        <p:spPr>
          <a:xfrm>
            <a:off x="1657350" y="4311650"/>
            <a:ext cx="1336384"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AI account</a:t>
            </a:r>
            <a:endParaRPr lang="en-US" sz="2100" dirty="0"/>
          </a:p>
        </p:txBody>
      </p:sp>
      <p:sp>
        <p:nvSpPr>
          <p:cNvPr id="16" name="Text 14"/>
          <p:cNvSpPr/>
          <p:nvPr/>
        </p:nvSpPr>
        <p:spPr>
          <a:xfrm>
            <a:off x="1657350" y="46990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defaults to GitHub Copilot</a:t>
            </a:r>
            <a:endParaRPr lang="en-US" sz="1800" dirty="0"/>
          </a:p>
        </p:txBody>
      </p:sp>
      <p:sp>
        <p:nvSpPr>
          <p:cNvPr id="17" name="Shape 15"/>
          <p:cNvSpPr/>
          <p:nvPr/>
        </p:nvSpPr>
        <p:spPr>
          <a:xfrm>
            <a:off x="952500" y="6286500"/>
            <a:ext cx="7762875" cy="12700"/>
          </a:xfrm>
          <a:prstGeom prst="rect">
            <a:avLst/>
          </a:prstGeom>
          <a:solidFill>
            <a:srgbClr val="2A3142"/>
          </a:solidFill>
          <a:ln/>
        </p:spPr>
        <p:txBody>
          <a:bodyPr/>
          <a:p/>
        </p:txBody>
      </p:sp>
      <p:sp>
        <p:nvSpPr>
          <p:cNvPr id="18" name="Text 16"/>
          <p:cNvSpPr/>
          <p:nvPr/>
        </p:nvSpPr>
        <p:spPr>
          <a:xfrm>
            <a:off x="952500" y="541020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19" name="Text 17"/>
          <p:cNvSpPr/>
          <p:nvPr/>
        </p:nvSpPr>
        <p:spPr>
          <a:xfrm>
            <a:off x="1657350" y="5422900"/>
            <a:ext cx="2151329"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repository</a:t>
            </a:r>
            <a:endParaRPr lang="en-US" sz="2100" dirty="0"/>
          </a:p>
        </p:txBody>
      </p:sp>
      <p:sp>
        <p:nvSpPr>
          <p:cNvPr id="20" name="Text 18"/>
          <p:cNvSpPr/>
          <p:nvPr/>
        </p:nvSpPr>
        <p:spPr>
          <a:xfrm>
            <a:off x="1657350" y="581025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with write access</a:t>
            </a:r>
            <a:endParaRPr lang="en-US" sz="1800" dirty="0"/>
          </a:p>
        </p:txBody>
      </p:sp>
      <p:sp>
        <p:nvSpPr>
          <p:cNvPr id="21" name="Shape 19"/>
          <p:cNvSpPr/>
          <p:nvPr/>
        </p:nvSpPr>
        <p:spPr>
          <a:xfrm>
            <a:off x="952500" y="7397750"/>
            <a:ext cx="7762875" cy="12700"/>
          </a:xfrm>
          <a:prstGeom prst="rect">
            <a:avLst/>
          </a:prstGeom>
          <a:solidFill>
            <a:srgbClr val="2A3142"/>
          </a:solidFill>
          <a:ln/>
        </p:spPr>
        <p:txBody>
          <a:bodyPr/>
          <a:p/>
        </p:txBody>
      </p:sp>
      <p:sp>
        <p:nvSpPr>
          <p:cNvPr id="22" name="Text 20"/>
          <p:cNvSpPr/>
          <p:nvPr/>
        </p:nvSpPr>
        <p:spPr>
          <a:xfrm>
            <a:off x="952500" y="65214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23" name="Text 21"/>
          <p:cNvSpPr/>
          <p:nvPr/>
        </p:nvSpPr>
        <p:spPr>
          <a:xfrm>
            <a:off x="1657350" y="6534150"/>
            <a:ext cx="1854938"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Actions</a:t>
            </a:r>
            <a:endParaRPr lang="en-US" sz="2100" dirty="0"/>
          </a:p>
        </p:txBody>
      </p:sp>
      <p:sp>
        <p:nvSpPr>
          <p:cNvPr id="24" name="Text 22"/>
          <p:cNvSpPr/>
          <p:nvPr/>
        </p:nvSpPr>
        <p:spPr>
          <a:xfrm>
            <a:off x="1657350" y="69215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enabled on the repo</a:t>
            </a:r>
            <a:endParaRPr lang="en-US" sz="1800" dirty="0"/>
          </a:p>
        </p:txBody>
      </p:sp>
      <p:sp>
        <p:nvSpPr>
          <p:cNvPr id="25" name="Shape 23"/>
          <p:cNvSpPr/>
          <p:nvPr/>
        </p:nvSpPr>
        <p:spPr>
          <a:xfrm>
            <a:off x="952500" y="8509000"/>
            <a:ext cx="7762875" cy="12700"/>
          </a:xfrm>
          <a:prstGeom prst="rect">
            <a:avLst/>
          </a:prstGeom>
          <a:solidFill>
            <a:srgbClr val="2A3142"/>
          </a:solidFill>
          <a:ln/>
        </p:spPr>
        <p:txBody>
          <a:bodyPr/>
          <a:p/>
        </p:txBody>
      </p:sp>
      <p:sp>
        <p:nvSpPr>
          <p:cNvPr id="26" name="Text 24"/>
          <p:cNvSpPr/>
          <p:nvPr/>
        </p:nvSpPr>
        <p:spPr>
          <a:xfrm>
            <a:off x="952500" y="763270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27" name="Text 25"/>
          <p:cNvSpPr/>
          <p:nvPr/>
        </p:nvSpPr>
        <p:spPr>
          <a:xfrm>
            <a:off x="1657350" y="7645400"/>
            <a:ext cx="1943751"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CLI (gh)</a:t>
            </a:r>
            <a:endParaRPr lang="en-US" sz="2100" dirty="0"/>
          </a:p>
        </p:txBody>
      </p:sp>
      <p:sp>
        <p:nvSpPr>
          <p:cNvPr id="28" name="Text 26"/>
          <p:cNvSpPr/>
          <p:nvPr/>
        </p:nvSpPr>
        <p:spPr>
          <a:xfrm>
            <a:off x="1657350" y="803275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v2.0.0 or newer</a:t>
            </a:r>
            <a:endParaRPr lang="en-US" sz="1800" dirty="0"/>
          </a:p>
        </p:txBody>
      </p:sp>
      <p:sp>
        <p:nvSpPr>
          <p:cNvPr id="29" name="Text 27"/>
          <p:cNvSpPr/>
          <p:nvPr/>
        </p:nvSpPr>
        <p:spPr>
          <a:xfrm>
            <a:off x="952500" y="87439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30" name="Text 28"/>
          <p:cNvSpPr/>
          <p:nvPr/>
        </p:nvSpPr>
        <p:spPr>
          <a:xfrm>
            <a:off x="1657350" y="8756650"/>
            <a:ext cx="2166175"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Operating system</a:t>
            </a:r>
            <a:endParaRPr lang="en-US" sz="2100" dirty="0"/>
          </a:p>
        </p:txBody>
      </p:sp>
      <p:sp>
        <p:nvSpPr>
          <p:cNvPr id="31" name="Text 29"/>
          <p:cNvSpPr/>
          <p:nvPr/>
        </p:nvSpPr>
        <p:spPr>
          <a:xfrm>
            <a:off x="1657350" y="91440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linux · macos · windows + wsl</a:t>
            </a:r>
            <a:endParaRPr lang="en-US" sz="1800" dirty="0"/>
          </a:p>
        </p:txBody>
      </p:sp>
      <p:sp>
        <p:nvSpPr>
          <p:cNvPr id="32" name="Text 30"/>
          <p:cNvSpPr/>
          <p:nvPr/>
        </p:nvSpPr>
        <p:spPr>
          <a:xfrm>
            <a:off x="9572625" y="3702050"/>
            <a:ext cx="799576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INSTALL</a:t>
            </a:r>
            <a:endParaRPr lang="en-US" sz="1800" dirty="0"/>
          </a:p>
        </p:txBody>
      </p:sp>
      <p:sp>
        <p:nvSpPr>
          <p:cNvPr id="33" name="Shape 31"/>
          <p:cNvSpPr/>
          <p:nvPr/>
        </p:nvSpPr>
        <p:spPr>
          <a:xfrm>
            <a:off x="9572625" y="4286250"/>
            <a:ext cx="7762875" cy="3670300"/>
          </a:xfrm>
          <a:prstGeom prst="roundRect">
            <a:avLst>
              <a:gd name="adj" fmla="val 2076"/>
            </a:avLst>
          </a:prstGeom>
          <a:solidFill>
            <a:srgbClr val="161A23"/>
          </a:solidFill>
          <a:ln w="12700">
            <a:solidFill>
              <a:srgbClr val="2A3142"/>
            </a:solidFill>
            <a:prstDash val="solid"/>
          </a:ln>
        </p:spPr>
        <p:txBody>
          <a:bodyPr/>
          <a:p/>
        </p:txBody>
      </p:sp>
      <p:sp>
        <p:nvSpPr>
          <p:cNvPr id="34" name="Shape 32"/>
          <p:cNvSpPr/>
          <p:nvPr/>
        </p:nvSpPr>
        <p:spPr>
          <a:xfrm>
            <a:off x="9585325" y="4298950"/>
            <a:ext cx="7737475" cy="596900"/>
          </a:xfrm>
          <a:prstGeom prst="rect">
            <a:avLst/>
          </a:prstGeom>
          <a:solidFill>
            <a:srgbClr val="1C2230"/>
          </a:solidFill>
          <a:ln/>
        </p:spPr>
        <p:txBody>
          <a:bodyPr/>
          <a:p/>
        </p:txBody>
      </p:sp>
      <p:sp>
        <p:nvSpPr>
          <p:cNvPr id="35" name="Shape 33"/>
          <p:cNvSpPr/>
          <p:nvPr/>
        </p:nvSpPr>
        <p:spPr>
          <a:xfrm>
            <a:off x="9585325" y="4883150"/>
            <a:ext cx="7737475" cy="12700"/>
          </a:xfrm>
          <a:prstGeom prst="rect">
            <a:avLst/>
          </a:prstGeom>
          <a:solidFill>
            <a:srgbClr val="2A3142"/>
          </a:solidFill>
          <a:ln/>
        </p:spPr>
        <p:txBody>
          <a:bodyPr/>
          <a:p/>
        </p:txBody>
      </p:sp>
      <p:sp>
        <p:nvSpPr>
          <p:cNvPr id="36" name="Shape 34"/>
          <p:cNvSpPr/>
          <p:nvPr/>
        </p:nvSpPr>
        <p:spPr>
          <a:xfrm>
            <a:off x="9794875" y="4533900"/>
            <a:ext cx="114300" cy="114300"/>
          </a:xfrm>
          <a:prstGeom prst="ellipse">
            <a:avLst/>
          </a:prstGeom>
          <a:solidFill>
            <a:srgbClr val="3A4357"/>
          </a:solidFill>
          <a:ln/>
        </p:spPr>
        <p:txBody>
          <a:bodyPr/>
          <a:p/>
        </p:txBody>
      </p:sp>
      <p:sp>
        <p:nvSpPr>
          <p:cNvPr id="37" name="Shape 35"/>
          <p:cNvSpPr/>
          <p:nvPr/>
        </p:nvSpPr>
        <p:spPr>
          <a:xfrm>
            <a:off x="9985375" y="4533900"/>
            <a:ext cx="114300" cy="114300"/>
          </a:xfrm>
          <a:prstGeom prst="ellipse">
            <a:avLst/>
          </a:prstGeom>
          <a:solidFill>
            <a:srgbClr val="3A4357"/>
          </a:solidFill>
          <a:ln/>
        </p:spPr>
        <p:txBody>
          <a:bodyPr/>
          <a:p/>
        </p:txBody>
      </p:sp>
      <p:sp>
        <p:nvSpPr>
          <p:cNvPr id="38" name="Shape 36"/>
          <p:cNvSpPr/>
          <p:nvPr/>
        </p:nvSpPr>
        <p:spPr>
          <a:xfrm>
            <a:off x="10175875" y="4533900"/>
            <a:ext cx="114300" cy="114300"/>
          </a:xfrm>
          <a:prstGeom prst="ellipse">
            <a:avLst/>
          </a:prstGeom>
          <a:solidFill>
            <a:srgbClr val="3A4357"/>
          </a:solidFill>
          <a:ln/>
        </p:spPr>
        <p:txBody>
          <a:bodyPr/>
          <a:p/>
        </p:txBody>
      </p:sp>
      <p:sp>
        <p:nvSpPr>
          <p:cNvPr id="39" name="Text 37"/>
          <p:cNvSpPr/>
          <p:nvPr/>
        </p:nvSpPr>
        <p:spPr>
          <a:xfrm>
            <a:off x="10423525" y="4432300"/>
            <a:ext cx="17222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~/work — zsh</a:t>
            </a:r>
            <a:endParaRPr lang="en-US" sz="1800" dirty="0"/>
          </a:p>
        </p:txBody>
      </p:sp>
      <p:sp>
        <p:nvSpPr>
          <p:cNvPr id="40" name="Text 38"/>
          <p:cNvSpPr/>
          <p:nvPr/>
        </p:nvSpPr>
        <p:spPr>
          <a:xfrm>
            <a:off x="9852025" y="516255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B89CFF"/>
                </a:solidFill>
                <a:latin typeface="Consolas" pitchFamily="34" charset="0"/>
                <a:ea typeface="Consolas" pitchFamily="34" charset="-122"/>
                <a:cs typeface="Consolas" pitchFamily="34" charset="-120"/>
              </a:rPr>
              <a:t>$ </a:t>
            </a:r>
            <a:r>
              <a:rPr lang="en-US" sz="1950" dirty="0">
                <a:solidFill>
                  <a:srgbClr val="C6C4BC"/>
                </a:solidFill>
                <a:latin typeface="Consolas" pitchFamily="34" charset="0"/>
                <a:ea typeface="Consolas" pitchFamily="34" charset="-122"/>
                <a:cs typeface="Consolas" pitchFamily="34" charset="-120"/>
              </a:rPr>
              <a:t>gh extension install github/gh-aw</a:t>
            </a:r>
            <a:endParaRPr lang="en-US" sz="1950" dirty="0"/>
          </a:p>
        </p:txBody>
      </p:sp>
      <p:sp>
        <p:nvSpPr>
          <p:cNvPr id="41" name="Text 39"/>
          <p:cNvSpPr/>
          <p:nvPr/>
        </p:nvSpPr>
        <p:spPr>
          <a:xfrm>
            <a:off x="9852025" y="5715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7A8294"/>
                </a:solidFill>
                <a:latin typeface="Consolas" pitchFamily="34" charset="0"/>
                <a:ea typeface="Consolas" pitchFamily="34" charset="-122"/>
                <a:cs typeface="Consolas" pitchFamily="34" charset="-120"/>
              </a:rPr>
              <a:t># installs the gh-aw CLI extension</a:t>
            </a:r>
            <a:endParaRPr lang="en-US" sz="1950" dirty="0"/>
          </a:p>
        </p:txBody>
      </p:sp>
      <p:sp>
        <p:nvSpPr>
          <p:cNvPr id="42" name="Text 40"/>
          <p:cNvSpPr/>
          <p:nvPr/>
        </p:nvSpPr>
        <p:spPr>
          <a:xfrm>
            <a:off x="9852025" y="61341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7A8294"/>
                </a:solidFill>
                <a:latin typeface="Consolas" pitchFamily="34" charset="0"/>
                <a:ea typeface="Consolas" pitchFamily="34" charset="-122"/>
                <a:cs typeface="Consolas" pitchFamily="34" charset="-120"/>
              </a:rPr>
              <a:t># no services, no servers, no surprises</a:t>
            </a:r>
            <a:endParaRPr lang="en-US" sz="1950" dirty="0"/>
          </a:p>
        </p:txBody>
      </p:sp>
      <p:sp>
        <p:nvSpPr>
          <p:cNvPr id="43" name="Text 41"/>
          <p:cNvSpPr/>
          <p:nvPr/>
        </p:nvSpPr>
        <p:spPr>
          <a:xfrm>
            <a:off x="9852025" y="668655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B89CFF"/>
                </a:solidFill>
                <a:latin typeface="Consolas" pitchFamily="34" charset="0"/>
                <a:ea typeface="Consolas" pitchFamily="34" charset="-122"/>
                <a:cs typeface="Consolas" pitchFamily="34" charset="-120"/>
              </a:rPr>
              <a:t>$ </a:t>
            </a:r>
            <a:r>
              <a:rPr lang="en-US" sz="1950" dirty="0">
                <a:solidFill>
                  <a:srgbClr val="C6C4BC"/>
                </a:solidFill>
                <a:latin typeface="Consolas" pitchFamily="34" charset="0"/>
                <a:ea typeface="Consolas" pitchFamily="34" charset="-122"/>
                <a:cs typeface="Consolas" pitchFamily="34" charset="-120"/>
              </a:rPr>
              <a:t>gh aw </a:t>
            </a:r>
            <a:r>
              <a:rPr lang="en-US" sz="1950" dirty="0">
                <a:solidFill>
                  <a:srgbClr val="E8E6DF"/>
                </a:solidFill>
                <a:latin typeface="Consolas" pitchFamily="34" charset="0"/>
                <a:ea typeface="Consolas" pitchFamily="34" charset="-122"/>
                <a:cs typeface="Consolas" pitchFamily="34" charset="-120"/>
              </a:rPr>
              <a:t>--help</a:t>
            </a:r>
            <a:endParaRPr lang="en-US" sz="1950" dirty="0"/>
          </a:p>
        </p:txBody>
      </p:sp>
      <p:sp>
        <p:nvSpPr>
          <p:cNvPr id="44" name="Text 42"/>
          <p:cNvSpPr/>
          <p:nvPr/>
        </p:nvSpPr>
        <p:spPr>
          <a:xfrm>
            <a:off x="9852025" y="7239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6DC287"/>
                </a:solidFill>
                <a:latin typeface="Consolas" pitchFamily="34" charset="0"/>
                <a:ea typeface="Consolas" pitchFamily="34" charset="-122"/>
                <a:cs typeface="Consolas" pitchFamily="34" charset="-120"/>
              </a:rPr>
              <a:t>✓ ready</a:t>
            </a:r>
            <a:endParaRPr lang="en-US" sz="1950" dirty="0"/>
          </a:p>
        </p:txBody>
      </p:sp>
      <p:sp>
        <p:nvSpPr>
          <p:cNvPr id="45" name="Shape 43"/>
          <p:cNvSpPr/>
          <p:nvPr/>
        </p:nvSpPr>
        <p:spPr>
          <a:xfrm>
            <a:off x="0" y="9779001"/>
            <a:ext cx="18288000" cy="508000"/>
          </a:xfrm>
          <a:prstGeom prst="rect">
            <a:avLst/>
          </a:prstGeom>
          <a:solidFill>
            <a:srgbClr val="11141B"/>
          </a:solidFill>
          <a:ln/>
        </p:spPr>
        <p:txBody>
          <a:bodyPr/>
          <a:p/>
        </p:txBody>
      </p:sp>
      <p:sp>
        <p:nvSpPr>
          <p:cNvPr id="46" name="Shape 44"/>
          <p:cNvSpPr/>
          <p:nvPr/>
        </p:nvSpPr>
        <p:spPr>
          <a:xfrm>
            <a:off x="0" y="9779001"/>
            <a:ext cx="18288000" cy="12700"/>
          </a:xfrm>
          <a:prstGeom prst="rect">
            <a:avLst/>
          </a:prstGeom>
          <a:solidFill>
            <a:srgbClr val="2A3142"/>
          </a:solidFill>
          <a:ln/>
        </p:spPr>
        <p:txBody>
          <a:bodyPr/>
          <a:p/>
        </p:txBody>
      </p:sp>
      <p:sp>
        <p:nvSpPr>
          <p:cNvPr id="47" name="Text 45"/>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install</a:t>
            </a:r>
            <a:endParaRPr lang="en-US" sz="1800" dirty="0"/>
          </a:p>
        </p:txBody>
      </p:sp>
      <p:sp>
        <p:nvSpPr>
          <p:cNvPr id="48" name="Text 46"/>
          <p:cNvSpPr/>
          <p:nvPr/>
        </p:nvSpPr>
        <p:spPr>
          <a:xfrm>
            <a:off x="2027436" y="9880600"/>
            <a:ext cx="220225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5 prerequisites</a:t>
            </a:r>
            <a:endParaRPr lang="en-US" sz="1800" dirty="0"/>
          </a:p>
        </p:txBody>
      </p:sp>
      <p:sp>
        <p:nvSpPr>
          <p:cNvPr id="49" name="Text 47"/>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04 /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55840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04-frontmatter.md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CONFIGURATION</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One required field. Everything else </a:t>
            </a:r>
            <a:r>
              <a:rPr lang="en-US" sz="5700" i="1" kern="0" spc="-142" dirty="0">
                <a:solidFill>
                  <a:srgbClr val="B89CFF"/>
                </a:solidFill>
                <a:latin typeface="Georgia" pitchFamily="34" charset="0"/>
                <a:ea typeface="Georgia" pitchFamily="34" charset="-122"/>
                <a:cs typeface="Georgia" pitchFamily="34" charset="-120"/>
              </a:rPr>
              <a:t>explicit</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53390"/>
            <a:ext cx="7455297" cy="12700"/>
          </a:xfrm>
          <a:prstGeom prst="rect">
            <a:avLst/>
          </a:prstGeom>
          <a:solidFill>
            <a:srgbClr val="2A3142"/>
          </a:solidFill>
          <a:ln/>
        </p:spPr>
        <p:txBody>
          <a:bodyPr/>
          <a:p/>
        </p:txBody>
      </p:sp>
      <p:sp>
        <p:nvSpPr>
          <p:cNvPr id="13" name="Text 11"/>
          <p:cNvSpPr/>
          <p:nvPr/>
        </p:nvSpPr>
        <p:spPr>
          <a:xfrm>
            <a:off x="952500" y="32771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B89CFF"/>
                </a:solidFill>
                <a:latin typeface="Consolas" pitchFamily="34" charset="0"/>
                <a:ea typeface="Consolas" pitchFamily="34" charset="-122"/>
                <a:cs typeface="Consolas" pitchFamily="34" charset="-120"/>
              </a:rPr>
              <a:t>REQUIRED</a:t>
            </a:r>
            <a:endParaRPr lang="en-US" sz="1800" dirty="0"/>
          </a:p>
        </p:txBody>
      </p:sp>
      <p:sp>
        <p:nvSpPr>
          <p:cNvPr id="14" name="Text 12"/>
          <p:cNvSpPr/>
          <p:nvPr/>
        </p:nvSpPr>
        <p:spPr>
          <a:xfrm>
            <a:off x="3314700" y="32517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B89CFF"/>
                </a:solidFill>
                <a:latin typeface="Consolas" pitchFamily="34" charset="0"/>
                <a:ea typeface="Consolas" pitchFamily="34" charset="-122"/>
                <a:cs typeface="Consolas" pitchFamily="34" charset="-120"/>
              </a:rPr>
              <a:t>on: </a:t>
            </a:r>
            <a:r>
              <a:rPr lang="en-US" sz="1950" dirty="0">
                <a:solidFill>
                  <a:srgbClr val="7A8294"/>
                </a:solidFill>
                <a:latin typeface="Consolas" pitchFamily="34" charset="0"/>
                <a:ea typeface="Consolas" pitchFamily="34" charset="-122"/>
                <a:cs typeface="Consolas" pitchFamily="34" charset="-120"/>
              </a:rPr>
              <a:t>— trigger configuration</a:t>
            </a:r>
            <a:endParaRPr lang="en-US" sz="1950" dirty="0"/>
          </a:p>
        </p:txBody>
      </p:sp>
      <p:sp>
        <p:nvSpPr>
          <p:cNvPr id="15" name="Shape 13"/>
          <p:cNvSpPr/>
          <p:nvPr/>
        </p:nvSpPr>
        <p:spPr>
          <a:xfrm>
            <a:off x="952500" y="4401090"/>
            <a:ext cx="7455297" cy="12700"/>
          </a:xfrm>
          <a:prstGeom prst="rect">
            <a:avLst/>
          </a:prstGeom>
          <a:solidFill>
            <a:srgbClr val="2A3142"/>
          </a:solidFill>
          <a:ln/>
        </p:spPr>
        <p:txBody>
          <a:bodyPr/>
          <a:p/>
        </p:txBody>
      </p:sp>
      <p:sp>
        <p:nvSpPr>
          <p:cNvPr id="16" name="Text 14"/>
          <p:cNvSpPr/>
          <p:nvPr/>
        </p:nvSpPr>
        <p:spPr>
          <a:xfrm>
            <a:off x="952500" y="39248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AI</a:t>
            </a:r>
            <a:endParaRPr lang="en-US" sz="1800" dirty="0"/>
          </a:p>
        </p:txBody>
      </p:sp>
      <p:sp>
        <p:nvSpPr>
          <p:cNvPr id="17" name="Text 15"/>
          <p:cNvSpPr/>
          <p:nvPr/>
        </p:nvSpPr>
        <p:spPr>
          <a:xfrm>
            <a:off x="3314700" y="38994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engine</a:t>
            </a:r>
            <a:endParaRPr lang="en-US" sz="1950" dirty="0"/>
          </a:p>
        </p:txBody>
      </p:sp>
      <p:sp>
        <p:nvSpPr>
          <p:cNvPr id="18" name="Shape 16"/>
          <p:cNvSpPr/>
          <p:nvPr/>
        </p:nvSpPr>
        <p:spPr>
          <a:xfrm>
            <a:off x="952500" y="5048790"/>
            <a:ext cx="7455297" cy="12700"/>
          </a:xfrm>
          <a:prstGeom prst="rect">
            <a:avLst/>
          </a:prstGeom>
          <a:solidFill>
            <a:srgbClr val="2A3142"/>
          </a:solidFill>
          <a:ln/>
        </p:spPr>
        <p:txBody>
          <a:bodyPr/>
          <a:p/>
        </p:txBody>
      </p:sp>
      <p:sp>
        <p:nvSpPr>
          <p:cNvPr id="19" name="Text 17"/>
          <p:cNvSpPr/>
          <p:nvPr/>
        </p:nvSpPr>
        <p:spPr>
          <a:xfrm>
            <a:off x="952500" y="45725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EXECUTION</a:t>
            </a:r>
            <a:endParaRPr lang="en-US" sz="1800" dirty="0"/>
          </a:p>
        </p:txBody>
      </p:sp>
      <p:sp>
        <p:nvSpPr>
          <p:cNvPr id="20" name="Text 18"/>
          <p:cNvSpPr/>
          <p:nvPr/>
        </p:nvSpPr>
        <p:spPr>
          <a:xfrm>
            <a:off x="3314700" y="45471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jobs · concurrency · if</a:t>
            </a:r>
            <a:endParaRPr lang="en-US" sz="1950" dirty="0"/>
          </a:p>
        </p:txBody>
      </p:sp>
      <p:sp>
        <p:nvSpPr>
          <p:cNvPr id="21" name="Shape 19"/>
          <p:cNvSpPr/>
          <p:nvPr/>
        </p:nvSpPr>
        <p:spPr>
          <a:xfrm>
            <a:off x="952500" y="5696490"/>
            <a:ext cx="7455297" cy="12700"/>
          </a:xfrm>
          <a:prstGeom prst="rect">
            <a:avLst/>
          </a:prstGeom>
          <a:solidFill>
            <a:srgbClr val="2A3142"/>
          </a:solidFill>
          <a:ln/>
        </p:spPr>
        <p:txBody>
          <a:bodyPr/>
          <a:p/>
        </p:txBody>
      </p:sp>
      <p:sp>
        <p:nvSpPr>
          <p:cNvPr id="22" name="Text 20"/>
          <p:cNvSpPr/>
          <p:nvPr/>
        </p:nvSpPr>
        <p:spPr>
          <a:xfrm>
            <a:off x="952500" y="52202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CAPABILITIES</a:t>
            </a:r>
            <a:endParaRPr lang="en-US" sz="1800" dirty="0"/>
          </a:p>
        </p:txBody>
      </p:sp>
      <p:sp>
        <p:nvSpPr>
          <p:cNvPr id="23" name="Text 21"/>
          <p:cNvSpPr/>
          <p:nvPr/>
        </p:nvSpPr>
        <p:spPr>
          <a:xfrm>
            <a:off x="3314700" y="51948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tools · imports · env</a:t>
            </a:r>
            <a:endParaRPr lang="en-US" sz="1950" dirty="0"/>
          </a:p>
        </p:txBody>
      </p:sp>
      <p:sp>
        <p:nvSpPr>
          <p:cNvPr id="24" name="Shape 22"/>
          <p:cNvSpPr/>
          <p:nvPr/>
        </p:nvSpPr>
        <p:spPr>
          <a:xfrm>
            <a:off x="952500" y="6712490"/>
            <a:ext cx="7455297" cy="12700"/>
          </a:xfrm>
          <a:prstGeom prst="rect">
            <a:avLst/>
          </a:prstGeom>
          <a:solidFill>
            <a:srgbClr val="2A3142"/>
          </a:solidFill>
          <a:ln/>
        </p:spPr>
        <p:txBody>
          <a:bodyPr/>
          <a:p/>
        </p:txBody>
      </p:sp>
      <p:sp>
        <p:nvSpPr>
          <p:cNvPr id="25" name="Text 23"/>
          <p:cNvSpPr/>
          <p:nvPr/>
        </p:nvSpPr>
        <p:spPr>
          <a:xfrm>
            <a:off x="952500" y="5867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METADATA</a:t>
            </a:r>
            <a:endParaRPr lang="en-US" sz="1800" dirty="0"/>
          </a:p>
        </p:txBody>
      </p:sp>
      <p:sp>
        <p:nvSpPr>
          <p:cNvPr id="26" name="Text 24"/>
          <p:cNvSpPr/>
          <p:nvPr/>
        </p:nvSpPr>
        <p:spPr>
          <a:xfrm>
            <a:off x="3314700" y="5842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name · description · label · source</a:t>
            </a:r>
            <a:endParaRPr lang="en-US" sz="1950" dirty="0"/>
          </a:p>
        </p:txBody>
      </p:sp>
      <p:sp>
        <p:nvSpPr>
          <p:cNvPr id="27" name="Shape 25"/>
          <p:cNvSpPr/>
          <p:nvPr/>
        </p:nvSpPr>
        <p:spPr>
          <a:xfrm>
            <a:off x="952500" y="7728490"/>
            <a:ext cx="7455297" cy="12700"/>
          </a:xfrm>
          <a:prstGeom prst="rect">
            <a:avLst/>
          </a:prstGeom>
          <a:solidFill>
            <a:srgbClr val="2A3142"/>
          </a:solidFill>
          <a:ln/>
        </p:spPr>
        <p:txBody>
          <a:bodyPr/>
          <a:p/>
        </p:txBody>
      </p:sp>
      <p:sp>
        <p:nvSpPr>
          <p:cNvPr id="28" name="Text 26"/>
          <p:cNvSpPr/>
          <p:nvPr/>
        </p:nvSpPr>
        <p:spPr>
          <a:xfrm>
            <a:off x="952500" y="6883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SECURITY</a:t>
            </a:r>
            <a:endParaRPr lang="en-US" sz="1800" dirty="0"/>
          </a:p>
        </p:txBody>
      </p:sp>
      <p:sp>
        <p:nvSpPr>
          <p:cNvPr id="29" name="Text 27"/>
          <p:cNvSpPr/>
          <p:nvPr/>
        </p:nvSpPr>
        <p:spPr>
          <a:xfrm>
            <a:off x="3314700" y="6858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permissions · network · safe-outputs</a:t>
            </a:r>
            <a:endParaRPr lang="en-US" sz="1950" dirty="0"/>
          </a:p>
        </p:txBody>
      </p:sp>
      <p:sp>
        <p:nvSpPr>
          <p:cNvPr id="30" name="Shape 28"/>
          <p:cNvSpPr/>
          <p:nvPr/>
        </p:nvSpPr>
        <p:spPr>
          <a:xfrm>
            <a:off x="952500" y="8744490"/>
            <a:ext cx="7455297" cy="12700"/>
          </a:xfrm>
          <a:prstGeom prst="rect">
            <a:avLst/>
          </a:prstGeom>
          <a:solidFill>
            <a:srgbClr val="2A3142"/>
          </a:solidFill>
          <a:ln/>
        </p:spPr>
        <p:txBody>
          <a:bodyPr/>
          <a:p/>
        </p:txBody>
      </p:sp>
      <p:sp>
        <p:nvSpPr>
          <p:cNvPr id="31" name="Text 29"/>
          <p:cNvSpPr/>
          <p:nvPr/>
        </p:nvSpPr>
        <p:spPr>
          <a:xfrm>
            <a:off x="952500" y="7899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RUNTIME</a:t>
            </a:r>
            <a:endParaRPr lang="en-US" sz="1800" dirty="0"/>
          </a:p>
        </p:txBody>
      </p:sp>
      <p:sp>
        <p:nvSpPr>
          <p:cNvPr id="32" name="Text 30"/>
          <p:cNvSpPr/>
          <p:nvPr/>
        </p:nvSpPr>
        <p:spPr>
          <a:xfrm>
            <a:off x="3314700" y="7874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runs-on · timeout-minutes · environment</a:t>
            </a:r>
            <a:endParaRPr lang="en-US" sz="1950" dirty="0"/>
          </a:p>
        </p:txBody>
      </p:sp>
      <p:sp>
        <p:nvSpPr>
          <p:cNvPr id="33" name="Text 31"/>
          <p:cNvSpPr/>
          <p:nvPr/>
        </p:nvSpPr>
        <p:spPr>
          <a:xfrm>
            <a:off x="952500" y="8947690"/>
            <a:ext cx="767895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See docs for the full frontmatter reference.</a:t>
            </a:r>
            <a:endParaRPr lang="en-US" sz="1800" dirty="0"/>
          </a:p>
        </p:txBody>
      </p:sp>
      <p:sp>
        <p:nvSpPr>
          <p:cNvPr id="34" name="Shape 32"/>
          <p:cNvSpPr/>
          <p:nvPr/>
        </p:nvSpPr>
        <p:spPr>
          <a:xfrm>
            <a:off x="9169797" y="3118390"/>
            <a:ext cx="8165505" cy="5746750"/>
          </a:xfrm>
          <a:prstGeom prst="roundRect">
            <a:avLst>
              <a:gd name="adj" fmla="val 1326"/>
            </a:avLst>
          </a:prstGeom>
          <a:solidFill>
            <a:srgbClr val="161A23"/>
          </a:solidFill>
          <a:ln w="12700">
            <a:solidFill>
              <a:srgbClr val="2A3142"/>
            </a:solidFill>
            <a:prstDash val="solid"/>
          </a:ln>
        </p:spPr>
        <p:txBody>
          <a:bodyPr/>
          <a:p/>
        </p:txBody>
      </p:sp>
      <p:sp>
        <p:nvSpPr>
          <p:cNvPr id="35" name="Shape 33"/>
          <p:cNvSpPr/>
          <p:nvPr/>
        </p:nvSpPr>
        <p:spPr>
          <a:xfrm>
            <a:off x="9182497" y="3131090"/>
            <a:ext cx="8140105" cy="596900"/>
          </a:xfrm>
          <a:prstGeom prst="rect">
            <a:avLst/>
          </a:prstGeom>
          <a:solidFill>
            <a:srgbClr val="1C2230"/>
          </a:solidFill>
          <a:ln/>
        </p:spPr>
        <p:txBody>
          <a:bodyPr/>
          <a:p/>
        </p:txBody>
      </p:sp>
      <p:sp>
        <p:nvSpPr>
          <p:cNvPr id="36" name="Shape 34"/>
          <p:cNvSpPr/>
          <p:nvPr/>
        </p:nvSpPr>
        <p:spPr>
          <a:xfrm>
            <a:off x="9182497" y="3715290"/>
            <a:ext cx="8140105" cy="12700"/>
          </a:xfrm>
          <a:prstGeom prst="rect">
            <a:avLst/>
          </a:prstGeom>
          <a:solidFill>
            <a:srgbClr val="2A3142"/>
          </a:solidFill>
          <a:ln/>
        </p:spPr>
        <p:txBody>
          <a:bodyPr/>
          <a:p/>
        </p:txBody>
      </p:sp>
      <p:sp>
        <p:nvSpPr>
          <p:cNvPr id="37" name="Text 35"/>
          <p:cNvSpPr/>
          <p:nvPr/>
        </p:nvSpPr>
        <p:spPr>
          <a:xfrm>
            <a:off x="9392047" y="3264440"/>
            <a:ext cx="353207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triage.md </a:t>
            </a:r>
            <a:r>
              <a:rPr lang="en-US" sz="1800" dirty="0">
                <a:solidFill>
                  <a:srgbClr val="545B6C"/>
                </a:solidFill>
                <a:latin typeface="Consolas" pitchFamily="34" charset="0"/>
                <a:ea typeface="Consolas" pitchFamily="34" charset="-122"/>
                <a:cs typeface="Consolas" pitchFamily="34" charset="-120"/>
              </a:rPr>
              <a:t>— frontmatter</a:t>
            </a:r>
            <a:endParaRPr lang="en-US" sz="1800" dirty="0"/>
          </a:p>
        </p:txBody>
      </p:sp>
      <p:sp>
        <p:nvSpPr>
          <p:cNvPr id="38" name="Text 36"/>
          <p:cNvSpPr/>
          <p:nvPr/>
        </p:nvSpPr>
        <p:spPr>
          <a:xfrm>
            <a:off x="12954595" y="3264440"/>
            <a:ext cx="62488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0B265"/>
                </a:solidFill>
                <a:latin typeface="Consolas" pitchFamily="34" charset="0"/>
                <a:ea typeface="Consolas" pitchFamily="34" charset="-122"/>
                <a:cs typeface="Consolas" pitchFamily="34" charset="-120"/>
              </a:rPr>
              <a:t>YAML</a:t>
            </a:r>
            <a:endParaRPr lang="en-US" sz="1800" dirty="0"/>
          </a:p>
        </p:txBody>
      </p:sp>
      <p:sp>
        <p:nvSpPr>
          <p:cNvPr id="39" name="Text 37"/>
          <p:cNvSpPr/>
          <p:nvPr/>
        </p:nvSpPr>
        <p:spPr>
          <a:xfrm>
            <a:off x="9449197" y="3994690"/>
            <a:ext cx="7834906" cy="4610100"/>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7A8294"/>
                </a:solidFill>
                <a:latin typeface="Consolas" pitchFamily="34" charset="0"/>
                <a:ea typeface="Consolas" pitchFamily="34" charset="-122"/>
                <a:cs typeface="Consolas" pitchFamily="34" charset="-120"/>
              </a:rPr>
              <a:t>---</a:t>
            </a:r>
            <a:endParaRPr lang="en-US" sz="1950" dirty="0"/>
          </a:p>
          <a:p>
            <a:pPr marL="0" indent="0" algn="l">
              <a:lnSpc>
                <a:spcPct val="130000"/>
              </a:lnSpc>
              <a:buNone/>
            </a:pPr>
            <a:r>
              <a:rPr lang="en-US" sz="1950" dirty="0">
                <a:solidFill>
                  <a:srgbClr val="79B8FF"/>
                </a:solidFill>
                <a:latin typeface="Consolas" pitchFamily="34" charset="0"/>
                <a:ea typeface="Consolas" pitchFamily="34" charset="-122"/>
                <a:cs typeface="Consolas" pitchFamily="34" charset="-120"/>
              </a:rPr>
              <a:t>on:</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issues:</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types: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F0B265"/>
                </a:solidFill>
                <a:latin typeface="Consolas" pitchFamily="34" charset="0"/>
                <a:ea typeface="Consolas" pitchFamily="34" charset="-122"/>
                <a:cs typeface="Consolas" pitchFamily="34" charset="-120"/>
              </a:rPr>
              <a:t>[opened]</a:t>
            </a:r>
            <a:endParaRPr lang="en-US" sz="1950" dirty="0"/>
          </a:p>
          <a:p>
            <a:pPr marL="0" indent="0" algn="l">
              <a:lnSpc>
                <a:spcPct val="130000"/>
              </a:lnSpc>
              <a:buNone/>
            </a:pPr>
            <a:r>
              <a:rPr lang="en-US" sz="1950" dirty="0">
                <a:solidFill>
                  <a:srgbClr val="79B8FF"/>
                </a:solidFill>
                <a:latin typeface="Consolas" pitchFamily="34" charset="0"/>
                <a:ea typeface="Consolas" pitchFamily="34" charset="-122"/>
                <a:cs typeface="Consolas" pitchFamily="34" charset="-120"/>
              </a:rPr>
              <a:t>engine:</a:t>
            </a:r>
            <a:r>
              <a:rPr lang="en-US" sz="1950" dirty="0">
                <a:solidFill>
                  <a:srgbClr val="C6C4BC"/>
                </a:solidFill>
                <a:latin typeface="Consolas" pitchFamily="34" charset="0"/>
                <a:ea typeface="Consolas" pitchFamily="34" charset="-122"/>
                <a:cs typeface="Consolas" pitchFamily="34" charset="-120"/>
              </a:rPr>
              <a:t> copilot</a:t>
            </a:r>
            <a:endParaRPr lang="en-US" sz="1950" dirty="0"/>
          </a:p>
          <a:p>
            <a:pPr marL="0" indent="0" algn="l">
              <a:lnSpc>
                <a:spcPct val="130000"/>
              </a:lnSpc>
              <a:buNone/>
            </a:pPr>
            <a:r>
              <a:rPr lang="en-US" sz="1950" dirty="0">
                <a:solidFill>
                  <a:srgbClr val="79B8FF"/>
                </a:solidFill>
                <a:latin typeface="Consolas" pitchFamily="34" charset="0"/>
                <a:ea typeface="Consolas" pitchFamily="34" charset="-122"/>
                <a:cs typeface="Consolas" pitchFamily="34" charset="-120"/>
              </a:rPr>
              <a:t>permissions:</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contents: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E8E6DF"/>
                </a:solidFill>
                <a:latin typeface="Consolas" pitchFamily="34" charset="0"/>
                <a:ea typeface="Consolas" pitchFamily="34" charset="-122"/>
                <a:cs typeface="Consolas" pitchFamily="34" charset="-120"/>
              </a:rPr>
              <a:t>read</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issues: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E8E6DF"/>
                </a:solidFill>
                <a:latin typeface="Consolas" pitchFamily="34" charset="0"/>
                <a:ea typeface="Consolas" pitchFamily="34" charset="-122"/>
                <a:cs typeface="Consolas" pitchFamily="34" charset="-120"/>
              </a:rPr>
              <a:t>read</a:t>
            </a:r>
            <a:endParaRPr lang="en-US" sz="1950" dirty="0"/>
          </a:p>
          <a:p>
            <a:pPr marL="0" indent="0" algn="l">
              <a:lnSpc>
                <a:spcPct val="130000"/>
              </a:lnSpc>
              <a:buNone/>
            </a:pPr>
            <a:r>
              <a:rPr lang="en-US" sz="1950" dirty="0">
                <a:solidFill>
                  <a:srgbClr val="79B8FF"/>
                </a:solidFill>
                <a:latin typeface="Consolas" pitchFamily="34" charset="0"/>
                <a:ea typeface="Consolas" pitchFamily="34" charset="-122"/>
                <a:cs typeface="Consolas" pitchFamily="34" charset="-120"/>
              </a:rPr>
              <a:t>safe-outputs:</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add-comment:</a:t>
            </a:r>
            <a:endParaRPr lang="en-US" sz="1950" dirty="0"/>
          </a:p>
          <a:p>
            <a:pPr marL="0" indent="0" algn="l">
              <a:lnSpc>
                <a:spcPct val="130000"/>
              </a:lnSpc>
              <a:buNone/>
            </a:pPr>
            <a:r>
              <a:rPr lang="en-US" sz="1950" dirty="0">
                <a:solidFill>
                  <a:srgbClr val="C6C4BC"/>
                </a:solidFill>
                <a:latin typeface="Consolas" pitchFamily="34" charset="0"/>
                <a:ea typeface="Consolas" pitchFamily="34" charset="-122"/>
                <a:cs typeface="Consolas" pitchFamily="34" charset="-120"/>
              </a:rPr>
              <a:t>  add-labels:</a:t>
            </a:r>
            <a:endParaRPr lang="en-US" sz="1950" dirty="0"/>
          </a:p>
          <a:p>
            <a:pPr marL="0" indent="0" algn="l">
              <a:lnSpc>
                <a:spcPct val="130000"/>
              </a:lnSpc>
              <a:buNone/>
            </a:pPr>
            <a:r>
              <a:rPr lang="en-US" sz="1950" dirty="0">
                <a:solidFill>
                  <a:srgbClr val="7A8294"/>
                </a:solidFill>
                <a:latin typeface="Consolas" pitchFamily="34" charset="0"/>
                <a:ea typeface="Consolas" pitchFamily="34" charset="-122"/>
                <a:cs typeface="Consolas" pitchFamily="34" charset="-120"/>
              </a:rPr>
              <a:t>---</a:t>
            </a:r>
            <a:endParaRPr lang="en-US" sz="1950" dirty="0"/>
          </a:p>
        </p:txBody>
      </p:sp>
      <p:sp>
        <p:nvSpPr>
          <p:cNvPr id="40" name="Shape 38"/>
          <p:cNvSpPr/>
          <p:nvPr/>
        </p:nvSpPr>
        <p:spPr>
          <a:xfrm>
            <a:off x="0" y="9779001"/>
            <a:ext cx="18288000" cy="508000"/>
          </a:xfrm>
          <a:prstGeom prst="rect">
            <a:avLst/>
          </a:prstGeom>
          <a:solidFill>
            <a:srgbClr val="11141B"/>
          </a:solidFill>
          <a:ln/>
        </p:spPr>
        <p:txBody>
          <a:bodyPr/>
          <a:p/>
        </p:txBody>
      </p:sp>
      <p:sp>
        <p:nvSpPr>
          <p:cNvPr id="41" name="Shape 39"/>
          <p:cNvSpPr/>
          <p:nvPr/>
        </p:nvSpPr>
        <p:spPr>
          <a:xfrm>
            <a:off x="0" y="9779001"/>
            <a:ext cx="18288000" cy="12700"/>
          </a:xfrm>
          <a:prstGeom prst="rect">
            <a:avLst/>
          </a:prstGeom>
          <a:solidFill>
            <a:srgbClr val="2A3142"/>
          </a:solidFill>
          <a:ln/>
        </p:spPr>
        <p:txBody>
          <a:bodyPr/>
          <a:p/>
        </p:txBody>
      </p:sp>
      <p:sp>
        <p:nvSpPr>
          <p:cNvPr id="42" name="Text 40"/>
          <p:cNvSpPr/>
          <p:nvPr/>
        </p:nvSpPr>
        <p:spPr>
          <a:xfrm>
            <a:off x="304800" y="9880600"/>
            <a:ext cx="206097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frontmatter</a:t>
            </a:r>
            <a:endParaRPr lang="en-US" sz="1800" dirty="0"/>
          </a:p>
        </p:txBody>
      </p:sp>
      <p:sp>
        <p:nvSpPr>
          <p:cNvPr id="43" name="Text 41"/>
          <p:cNvSpPr/>
          <p:nvPr/>
        </p:nvSpPr>
        <p:spPr>
          <a:xfrm>
            <a:off x="2594372" y="9880600"/>
            <a:ext cx="335772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 required · 6 optional</a:t>
            </a:r>
            <a:endParaRPr lang="en-US" sz="1800" dirty="0"/>
          </a:p>
        </p:txBody>
      </p:sp>
      <p:sp>
        <p:nvSpPr>
          <p:cNvPr id="44" name="Text 4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05 / 12</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26653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05-authoring.md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AUTHORING</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Write Markdown. Compile to a </a:t>
            </a:r>
            <a:r>
              <a:rPr lang="en-US" sz="5700" i="1" kern="0" spc="-142" dirty="0">
                <a:solidFill>
                  <a:srgbClr val="B89CFF"/>
                </a:solidFill>
                <a:latin typeface="Georgia" pitchFamily="34" charset="0"/>
                <a:ea typeface="Georgia" pitchFamily="34" charset="-122"/>
                <a:cs typeface="Georgia" pitchFamily="34" charset="-120"/>
              </a:rPr>
              <a:t>workflow</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6858000" cy="4927600"/>
          </a:xfrm>
          <a:prstGeom prst="roundRect">
            <a:avLst>
              <a:gd name="adj" fmla="val 1546"/>
            </a:avLst>
          </a:prstGeom>
          <a:solidFill>
            <a:srgbClr val="161A23"/>
          </a:solidFill>
          <a:ln w="12700">
            <a:solidFill>
              <a:srgbClr val="2A3142"/>
            </a:solidFill>
            <a:prstDash val="solid"/>
          </a:ln>
        </p:spPr>
        <p:txBody>
          <a:bodyPr/>
          <a:p/>
        </p:txBody>
      </p:sp>
      <p:sp>
        <p:nvSpPr>
          <p:cNvPr id="13" name="Shape 11"/>
          <p:cNvSpPr/>
          <p:nvPr/>
        </p:nvSpPr>
        <p:spPr>
          <a:xfrm>
            <a:off x="965200" y="3714750"/>
            <a:ext cx="6832600" cy="596900"/>
          </a:xfrm>
          <a:prstGeom prst="rect">
            <a:avLst/>
          </a:prstGeom>
          <a:solidFill>
            <a:srgbClr val="1C2230"/>
          </a:solidFill>
          <a:ln/>
        </p:spPr>
        <p:txBody>
          <a:bodyPr/>
          <a:p/>
        </p:txBody>
      </p:sp>
      <p:sp>
        <p:nvSpPr>
          <p:cNvPr id="14" name="Shape 12"/>
          <p:cNvSpPr/>
          <p:nvPr/>
        </p:nvSpPr>
        <p:spPr>
          <a:xfrm>
            <a:off x="965200" y="4298950"/>
            <a:ext cx="6832600" cy="12700"/>
          </a:xfrm>
          <a:prstGeom prst="rect">
            <a:avLst/>
          </a:prstGeom>
          <a:solidFill>
            <a:srgbClr val="2A3142"/>
          </a:solidFill>
          <a:ln/>
        </p:spPr>
        <p:txBody>
          <a:bodyPr/>
          <a:p/>
        </p:txBody>
      </p:sp>
      <p:sp>
        <p:nvSpPr>
          <p:cNvPr id="15" name="Text 13"/>
          <p:cNvSpPr/>
          <p:nvPr/>
        </p:nvSpPr>
        <p:spPr>
          <a:xfrm>
            <a:off x="1174750" y="3848100"/>
            <a:ext cx="131068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triage.md</a:t>
            </a:r>
            <a:endParaRPr lang="en-US" sz="1800" dirty="0"/>
          </a:p>
        </p:txBody>
      </p:sp>
      <p:sp>
        <p:nvSpPr>
          <p:cNvPr id="16" name="Text 14"/>
          <p:cNvSpPr/>
          <p:nvPr/>
        </p:nvSpPr>
        <p:spPr>
          <a:xfrm>
            <a:off x="5777707" y="3848100"/>
            <a:ext cx="188674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B89CFF"/>
                </a:solidFill>
                <a:latin typeface="Consolas" pitchFamily="34" charset="0"/>
                <a:ea typeface="Consolas" pitchFamily="34" charset="-122"/>
                <a:cs typeface="Consolas" pitchFamily="34" charset="-120"/>
              </a:rPr>
              <a:t>SOURCE · MD</a:t>
            </a:r>
            <a:endParaRPr lang="en-US" sz="1800" dirty="0"/>
          </a:p>
        </p:txBody>
      </p:sp>
      <p:sp>
        <p:nvSpPr>
          <p:cNvPr id="17" name="Text 15"/>
          <p:cNvSpPr/>
          <p:nvPr/>
        </p:nvSpPr>
        <p:spPr>
          <a:xfrm>
            <a:off x="1231900" y="4559300"/>
            <a:ext cx="6504178" cy="3810000"/>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on: { issues: { types: [opened] } }</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engine: copilot</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a:t>
            </a:r>
            <a:endParaRPr lang="en-US" sz="1800" dirty="0"/>
          </a:p>
          <a:p>
            <a:pPr marL="0" indent="0" algn="l">
              <a:lnSpc>
                <a:spcPct val="155000"/>
              </a:lnSpc>
              <a:buNone/>
            </a:pPr>
            <a:r>
              <a:rPr lang="en-US" sz="1800" dirty="0">
                <a:solidFill>
                  <a:srgbClr val="E8E6DF"/>
                </a:solidFill>
                <a:latin typeface="Consolas" pitchFamily="34" charset="0"/>
                <a:ea typeface="Consolas" pitchFamily="34" charset="-122"/>
                <a:cs typeface="Consolas" pitchFamily="34" charset="-120"/>
              </a:rPr>
              <a:t>## Triage incoming issue</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Read the issue body and any</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referenced files. Suggest a</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label and write a one-line</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summary as a comment.</a:t>
            </a:r>
            <a:endParaRPr lang="en-US" sz="1800" dirty="0"/>
          </a:p>
        </p:txBody>
      </p:sp>
      <p:sp>
        <p:nvSpPr>
          <p:cNvPr id="18" name="Text 16"/>
          <p:cNvSpPr/>
          <p:nvPr/>
        </p:nvSpPr>
        <p:spPr>
          <a:xfrm>
            <a:off x="9034860" y="5194300"/>
            <a:ext cx="294283" cy="533400"/>
          </a:xfrm>
          <a:prstGeom prst="rect">
            <a:avLst/>
          </a:prstGeom>
          <a:noFill/>
          <a:ln/>
        </p:spPr>
        <p:txBody>
          <a:bodyPr wrap="square" lIns="25400" tIns="25400" rIns="25400" bIns="25400" rtlCol="0" anchor="t">
            <a:normAutofit/>
          </a:bodyPr>
          <a:lstStyle/>
          <a:p>
            <a:pPr marL="0" indent="0" algn="l">
              <a:lnSpc>
                <a:spcPct val="140000"/>
              </a:lnSpc>
              <a:buNone/>
            </a:pPr>
            <a:r>
              <a:rPr lang="en-US" sz="2850" dirty="0">
                <a:solidFill>
                  <a:srgbClr val="7A8294"/>
                </a:solidFill>
                <a:latin typeface="Consolas" pitchFamily="34" charset="0"/>
                <a:ea typeface="Consolas" pitchFamily="34" charset="-122"/>
                <a:cs typeface="Consolas" pitchFamily="34" charset="-120"/>
              </a:rPr>
              <a:t>→</a:t>
            </a:r>
            <a:endParaRPr lang="en-US" sz="2850" dirty="0"/>
          </a:p>
        </p:txBody>
      </p:sp>
      <p:sp>
        <p:nvSpPr>
          <p:cNvPr id="19" name="Shape 17"/>
          <p:cNvSpPr/>
          <p:nvPr/>
        </p:nvSpPr>
        <p:spPr>
          <a:xfrm>
            <a:off x="7893050" y="5861050"/>
            <a:ext cx="2502098" cy="609600"/>
          </a:xfrm>
          <a:prstGeom prst="roundRect">
            <a:avLst>
              <a:gd name="adj" fmla="val 9375"/>
            </a:avLst>
          </a:prstGeom>
          <a:solidFill>
            <a:srgbClr val="B89CFF">
              <a:alpha val="8000"/>
            </a:srgbClr>
          </a:solidFill>
          <a:ln w="12700">
            <a:solidFill>
              <a:srgbClr val="B89CFF">
                <a:alpha val="40000"/>
              </a:srgbClr>
            </a:solidFill>
            <a:prstDash val="solid"/>
          </a:ln>
        </p:spPr>
        <p:txBody>
          <a:bodyPr/>
          <a:p/>
        </p:txBody>
      </p:sp>
      <p:sp>
        <p:nvSpPr>
          <p:cNvPr id="20" name="Text 18"/>
          <p:cNvSpPr/>
          <p:nvPr/>
        </p:nvSpPr>
        <p:spPr>
          <a:xfrm>
            <a:off x="8115300" y="6007100"/>
            <a:ext cx="21337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B89CFF"/>
                </a:solidFill>
                <a:latin typeface="Consolas" pitchFamily="34" charset="0"/>
                <a:ea typeface="Consolas" pitchFamily="34" charset="-122"/>
                <a:cs typeface="Consolas" pitchFamily="34" charset="-120"/>
              </a:rPr>
              <a:t>$ gh aw compile</a:t>
            </a:r>
            <a:endParaRPr lang="en-US" sz="1800" dirty="0"/>
          </a:p>
        </p:txBody>
      </p:sp>
      <p:sp>
        <p:nvSpPr>
          <p:cNvPr id="21" name="Text 19"/>
          <p:cNvSpPr/>
          <p:nvPr/>
        </p:nvSpPr>
        <p:spPr>
          <a:xfrm>
            <a:off x="9034860" y="6642100"/>
            <a:ext cx="294283" cy="533400"/>
          </a:xfrm>
          <a:prstGeom prst="rect">
            <a:avLst/>
          </a:prstGeom>
          <a:noFill/>
          <a:ln/>
        </p:spPr>
        <p:txBody>
          <a:bodyPr wrap="square" lIns="25400" tIns="25400" rIns="25400" bIns="25400" rtlCol="0" anchor="t">
            <a:normAutofit/>
          </a:bodyPr>
          <a:lstStyle/>
          <a:p>
            <a:pPr marL="0" indent="0" algn="l">
              <a:lnSpc>
                <a:spcPct val="140000"/>
              </a:lnSpc>
              <a:buNone/>
            </a:pPr>
            <a:r>
              <a:rPr lang="en-US" sz="2850" dirty="0">
                <a:solidFill>
                  <a:srgbClr val="7A8294"/>
                </a:solidFill>
                <a:latin typeface="Consolas" pitchFamily="34" charset="0"/>
                <a:ea typeface="Consolas" pitchFamily="34" charset="-122"/>
                <a:cs typeface="Consolas" pitchFamily="34" charset="-120"/>
              </a:rPr>
              <a:t>→</a:t>
            </a:r>
            <a:endParaRPr lang="en-US" sz="2850" dirty="0"/>
          </a:p>
        </p:txBody>
      </p:sp>
      <p:sp>
        <p:nvSpPr>
          <p:cNvPr id="22" name="Shape 20"/>
          <p:cNvSpPr/>
          <p:nvPr/>
        </p:nvSpPr>
        <p:spPr>
          <a:xfrm>
            <a:off x="10477500" y="3702050"/>
            <a:ext cx="6858000" cy="4927600"/>
          </a:xfrm>
          <a:prstGeom prst="roundRect">
            <a:avLst>
              <a:gd name="adj" fmla="val 1546"/>
            </a:avLst>
          </a:prstGeom>
          <a:solidFill>
            <a:srgbClr val="161A23"/>
          </a:solidFill>
          <a:ln w="12700">
            <a:solidFill>
              <a:srgbClr val="2A3142"/>
            </a:solidFill>
            <a:prstDash val="solid"/>
          </a:ln>
        </p:spPr>
        <p:txBody>
          <a:bodyPr/>
          <a:p/>
        </p:txBody>
      </p:sp>
      <p:sp>
        <p:nvSpPr>
          <p:cNvPr id="23" name="Shape 21"/>
          <p:cNvSpPr/>
          <p:nvPr/>
        </p:nvSpPr>
        <p:spPr>
          <a:xfrm>
            <a:off x="10490200" y="3714750"/>
            <a:ext cx="6832600" cy="596900"/>
          </a:xfrm>
          <a:prstGeom prst="rect">
            <a:avLst/>
          </a:prstGeom>
          <a:solidFill>
            <a:srgbClr val="1C2230"/>
          </a:solidFill>
          <a:ln/>
        </p:spPr>
        <p:txBody>
          <a:bodyPr/>
          <a:p/>
        </p:txBody>
      </p:sp>
      <p:sp>
        <p:nvSpPr>
          <p:cNvPr id="24" name="Shape 22"/>
          <p:cNvSpPr/>
          <p:nvPr/>
        </p:nvSpPr>
        <p:spPr>
          <a:xfrm>
            <a:off x="10490200" y="4298950"/>
            <a:ext cx="6832600" cy="12700"/>
          </a:xfrm>
          <a:prstGeom prst="rect">
            <a:avLst/>
          </a:prstGeom>
          <a:solidFill>
            <a:srgbClr val="2A3142"/>
          </a:solidFill>
          <a:ln/>
        </p:spPr>
        <p:txBody>
          <a:bodyPr/>
          <a:p/>
        </p:txBody>
      </p:sp>
      <p:sp>
        <p:nvSpPr>
          <p:cNvPr id="25" name="Text 23"/>
          <p:cNvSpPr/>
          <p:nvPr/>
        </p:nvSpPr>
        <p:spPr>
          <a:xfrm>
            <a:off x="10699750" y="3848100"/>
            <a:ext cx="213379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triage.lock.yml</a:t>
            </a:r>
            <a:endParaRPr lang="en-US" sz="1800" dirty="0"/>
          </a:p>
        </p:txBody>
      </p:sp>
      <p:sp>
        <p:nvSpPr>
          <p:cNvPr id="26" name="Text 24"/>
          <p:cNvSpPr/>
          <p:nvPr/>
        </p:nvSpPr>
        <p:spPr>
          <a:xfrm>
            <a:off x="15138004" y="3848100"/>
            <a:ext cx="2051447"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B89CFF"/>
                </a:solidFill>
                <a:latin typeface="Consolas" pitchFamily="34" charset="0"/>
                <a:ea typeface="Consolas" pitchFamily="34" charset="-122"/>
                <a:cs typeface="Consolas" pitchFamily="34" charset="-120"/>
              </a:rPr>
              <a:t>BUILT · YAML</a:t>
            </a:r>
            <a:endParaRPr lang="en-US" sz="1800" dirty="0"/>
          </a:p>
        </p:txBody>
      </p:sp>
      <p:sp>
        <p:nvSpPr>
          <p:cNvPr id="27" name="Text 25"/>
          <p:cNvSpPr/>
          <p:nvPr/>
        </p:nvSpPr>
        <p:spPr>
          <a:xfrm>
            <a:off x="10756900" y="4559300"/>
            <a:ext cx="6504178" cy="381000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79B8FF"/>
                </a:solidFill>
                <a:latin typeface="Consolas" pitchFamily="34" charset="0"/>
                <a:ea typeface="Consolas" pitchFamily="34" charset="-122"/>
                <a:cs typeface="Consolas" pitchFamily="34" charset="-120"/>
              </a:rPr>
              <a:t>name:</a:t>
            </a:r>
            <a:r>
              <a:rPr lang="en-US" sz="1800" dirty="0">
                <a:solidFill>
                  <a:srgbClr val="C6C4BC"/>
                </a:solidFill>
                <a:latin typeface="Consolas" pitchFamily="34" charset="0"/>
                <a:ea typeface="Consolas" pitchFamily="34" charset="-122"/>
                <a:cs typeface="Consolas" pitchFamily="34" charset="-120"/>
              </a:rPr>
              <a:t> triage</a:t>
            </a:r>
            <a:endParaRPr lang="en-US" sz="1800" dirty="0"/>
          </a:p>
          <a:p>
            <a:pPr marL="0" indent="0" algn="l">
              <a:lnSpc>
                <a:spcPct val="130000"/>
              </a:lnSpc>
              <a:buNone/>
            </a:pPr>
            <a:r>
              <a:rPr lang="en-US" sz="1800" dirty="0">
                <a:solidFill>
                  <a:srgbClr val="79B8FF"/>
                </a:solidFill>
                <a:latin typeface="Consolas" pitchFamily="34" charset="0"/>
                <a:ea typeface="Consolas" pitchFamily="34" charset="-122"/>
                <a:cs typeface="Consolas" pitchFamily="34" charset="-120"/>
              </a:rPr>
              <a:t>on:</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issues:</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types:</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F0B265"/>
                </a:solidFill>
                <a:latin typeface="Consolas" pitchFamily="34" charset="0"/>
                <a:ea typeface="Consolas" pitchFamily="34" charset="-122"/>
                <a:cs typeface="Consolas" pitchFamily="34" charset="-120"/>
              </a:rPr>
              <a:t>[opened]</a:t>
            </a:r>
            <a:endParaRPr lang="en-US" sz="1800" dirty="0"/>
          </a:p>
          <a:p>
            <a:pPr marL="0" indent="0" algn="l">
              <a:lnSpc>
                <a:spcPct val="130000"/>
              </a:lnSpc>
              <a:buNone/>
            </a:pPr>
            <a:r>
              <a:rPr lang="en-US" sz="1800" dirty="0">
                <a:solidFill>
                  <a:srgbClr val="79B8FF"/>
                </a:solidFill>
                <a:latin typeface="Consolas" pitchFamily="34" charset="0"/>
                <a:ea typeface="Consolas" pitchFamily="34" charset="-122"/>
                <a:cs typeface="Consolas" pitchFamily="34" charset="-120"/>
              </a:rPr>
              <a:t>jobs:</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agent:</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runs-on:</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E8E6DF"/>
                </a:solidFill>
                <a:latin typeface="Consolas" pitchFamily="34" charset="0"/>
                <a:ea typeface="Consolas" pitchFamily="34" charset="-122"/>
                <a:cs typeface="Consolas" pitchFamily="34" charset="-120"/>
              </a:rPr>
              <a:t>ubuntu-latest</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permissions:</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contents:</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E8E6DF"/>
                </a:solidFill>
                <a:latin typeface="Consolas" pitchFamily="34" charset="0"/>
                <a:ea typeface="Consolas" pitchFamily="34" charset="-122"/>
                <a:cs typeface="Consolas" pitchFamily="34" charset="-120"/>
              </a:rPr>
              <a:t>read</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steps:</a:t>
            </a:r>
            <a:endParaRPr lang="en-US" sz="1800" dirty="0"/>
          </a:p>
          <a:p>
            <a:pPr marL="0" indent="0" algn="l">
              <a:lnSpc>
                <a:spcPct val="130000"/>
              </a:lnSpc>
              <a:buNone/>
            </a:pPr>
            <a:r>
              <a:rPr lang="en-US" sz="1800" dirty="0">
                <a:solidFill>
                  <a:srgbClr val="C6C4BC"/>
                </a:solidFill>
                <a:latin typeface="Consolas" pitchFamily="34" charset="0"/>
                <a:ea typeface="Consolas" pitchFamily="34" charset="-122"/>
                <a:cs typeface="Consolas" pitchFamily="34" charset="-120"/>
              </a:rPr>
              <a:t>      - </a:t>
            </a:r>
            <a:r>
              <a:rPr lang="en-US" sz="1800" dirty="0">
                <a:solidFill>
                  <a:srgbClr val="79B8FF"/>
                </a:solidFill>
                <a:latin typeface="Consolas" pitchFamily="34" charset="0"/>
                <a:ea typeface="Consolas" pitchFamily="34" charset="-122"/>
                <a:cs typeface="Consolas" pitchFamily="34" charset="-120"/>
              </a:rPr>
              <a:t>uses:</a:t>
            </a:r>
            <a:r>
              <a:rPr lang="en-US" sz="1800" dirty="0">
                <a:solidFill>
                  <a:srgbClr val="C6C4BC"/>
                </a:solidFill>
                <a:latin typeface="Consolas" pitchFamily="34" charset="0"/>
                <a:ea typeface="Consolas" pitchFamily="34" charset="-122"/>
                <a:cs typeface="Consolas" pitchFamily="34" charset="-120"/>
              </a:rPr>
              <a:t> github/gh-aw@v0</a:t>
            </a:r>
            <a:endParaRPr lang="en-US" sz="1800" dirty="0"/>
          </a:p>
        </p:txBody>
      </p:sp>
      <p:sp>
        <p:nvSpPr>
          <p:cNvPr id="28" name="Shape 26"/>
          <p:cNvSpPr/>
          <p:nvPr/>
        </p:nvSpPr>
        <p:spPr>
          <a:xfrm>
            <a:off x="0" y="9779001"/>
            <a:ext cx="18288000" cy="508000"/>
          </a:xfrm>
          <a:prstGeom prst="rect">
            <a:avLst/>
          </a:prstGeom>
          <a:solidFill>
            <a:srgbClr val="11141B"/>
          </a:solidFill>
          <a:ln/>
        </p:spPr>
        <p:txBody>
          <a:bodyPr/>
          <a:p/>
        </p:txBody>
      </p:sp>
      <p:sp>
        <p:nvSpPr>
          <p:cNvPr id="29" name="Shape 27"/>
          <p:cNvSpPr/>
          <p:nvPr/>
        </p:nvSpPr>
        <p:spPr>
          <a:xfrm>
            <a:off x="0" y="9779001"/>
            <a:ext cx="18288000" cy="12700"/>
          </a:xfrm>
          <a:prstGeom prst="rect">
            <a:avLst/>
          </a:prstGeom>
          <a:solidFill>
            <a:srgbClr val="2A3142"/>
          </a:solidFill>
          <a:ln/>
        </p:spPr>
        <p:txBody>
          <a:bodyPr/>
          <a:p/>
        </p:txBody>
      </p:sp>
      <p:sp>
        <p:nvSpPr>
          <p:cNvPr id="30" name="Text 28"/>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compile</a:t>
            </a:r>
            <a:endParaRPr lang="en-US" sz="1800" dirty="0"/>
          </a:p>
        </p:txBody>
      </p:sp>
      <p:sp>
        <p:nvSpPr>
          <p:cNvPr id="31" name="Text 29"/>
          <p:cNvSpPr/>
          <p:nvPr/>
        </p:nvSpPr>
        <p:spPr>
          <a:xfrm>
            <a:off x="2027436" y="9880600"/>
            <a:ext cx="19192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md → lock.yml</a:t>
            </a:r>
            <a:endParaRPr lang="en-US" sz="1800" dirty="0"/>
          </a:p>
        </p:txBody>
      </p:sp>
      <p:sp>
        <p:nvSpPr>
          <p:cNvPr id="32" name="Text 30"/>
          <p:cNvSpPr/>
          <p:nvPr/>
        </p:nvSpPr>
        <p:spPr>
          <a:xfrm>
            <a:off x="4175324" y="9880600"/>
            <a:ext cx="1351955"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+24 lines</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06 / 12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70454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06-capabilities.md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CHANGES</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CI/CD that reads, decides, and </a:t>
            </a:r>
            <a:r>
              <a:rPr lang="en-US" sz="5700" i="1" kern="0" spc="-142" dirty="0">
                <a:solidFill>
                  <a:srgbClr val="B89CFF"/>
                </a:solidFill>
                <a:latin typeface="Georgia" pitchFamily="34" charset="0"/>
                <a:ea typeface="Georgia" pitchFamily="34" charset="-122"/>
                <a:cs typeface="Georgia" pitchFamily="34" charset="-120"/>
              </a:rPr>
              <a:t>stays on course</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5207000" cy="4140200"/>
          </a:xfrm>
          <a:prstGeom prst="roundRect">
            <a:avLst>
              <a:gd name="adj" fmla="val 1840"/>
            </a:avLst>
          </a:prstGeom>
          <a:solidFill>
            <a:srgbClr val="161A23"/>
          </a:solidFill>
          <a:ln w="12700">
            <a:solidFill>
              <a:srgbClr val="2A3142"/>
            </a:solidFill>
            <a:prstDash val="solid"/>
          </a:ln>
        </p:spPr>
        <p:txBody>
          <a:bodyPr/>
          <a:p/>
        </p:txBody>
      </p:sp>
      <p:sp>
        <p:nvSpPr>
          <p:cNvPr id="13" name="Text 11"/>
          <p:cNvSpPr/>
          <p:nvPr/>
        </p:nvSpPr>
        <p:spPr>
          <a:xfrm>
            <a:off x="1270000"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01 ·</a:t>
            </a:r>
            <a:endParaRPr lang="en-US" sz="1800" dirty="0"/>
          </a:p>
        </p:txBody>
      </p:sp>
      <p:sp>
        <p:nvSpPr>
          <p:cNvPr id="14" name="Text 12"/>
          <p:cNvSpPr/>
          <p:nvPr/>
        </p:nvSpPr>
        <p:spPr>
          <a:xfrm>
            <a:off x="1270000"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Understands </a:t>
            </a:r>
            <a:r>
              <a:rPr lang="en-US" sz="3450" i="1" kern="0" spc="-69" dirty="0">
                <a:solidFill>
                  <a:srgbClr val="B89CFF"/>
                </a:solidFill>
                <a:latin typeface="Georgia" pitchFamily="34" charset="0"/>
                <a:ea typeface="Georgia" pitchFamily="34" charset="-122"/>
                <a:cs typeface="Georgia" pitchFamily="34" charset="-120"/>
              </a:rPr>
              <a:t>context</a:t>
            </a:r>
            <a:endParaRPr lang="en-US" sz="3450" dirty="0"/>
          </a:p>
        </p:txBody>
      </p:sp>
      <p:sp>
        <p:nvSpPr>
          <p:cNvPr id="15" name="Text 13"/>
          <p:cNvSpPr/>
          <p:nvPr/>
        </p:nvSpPr>
        <p:spPr>
          <a:xfrm>
            <a:off x="1270000"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Reads the repository, issues, pull requests, and any other source you grant access to.</a:t>
            </a:r>
            <a:endParaRPr lang="en-US" sz="1800" dirty="0"/>
          </a:p>
        </p:txBody>
      </p:sp>
      <p:sp>
        <p:nvSpPr>
          <p:cNvPr id="16" name="Shape 14"/>
          <p:cNvSpPr/>
          <p:nvPr/>
        </p:nvSpPr>
        <p:spPr>
          <a:xfrm>
            <a:off x="6540500" y="3702050"/>
            <a:ext cx="5207000" cy="4140200"/>
          </a:xfrm>
          <a:prstGeom prst="roundRect">
            <a:avLst>
              <a:gd name="adj" fmla="val 1840"/>
            </a:avLst>
          </a:prstGeom>
          <a:solidFill>
            <a:srgbClr val="161A23"/>
          </a:solidFill>
          <a:ln w="12700">
            <a:solidFill>
              <a:srgbClr val="2A3142"/>
            </a:solidFill>
            <a:prstDash val="solid"/>
          </a:ln>
        </p:spPr>
        <p:txBody>
          <a:bodyPr/>
          <a:p/>
        </p:txBody>
      </p:sp>
      <p:sp>
        <p:nvSpPr>
          <p:cNvPr id="17" name="Text 15"/>
          <p:cNvSpPr/>
          <p:nvPr/>
        </p:nvSpPr>
        <p:spPr>
          <a:xfrm>
            <a:off x="6858000"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02 ·</a:t>
            </a:r>
            <a:endParaRPr lang="en-US" sz="1800" dirty="0"/>
          </a:p>
        </p:txBody>
      </p:sp>
      <p:sp>
        <p:nvSpPr>
          <p:cNvPr id="18" name="Text 16"/>
          <p:cNvSpPr/>
          <p:nvPr/>
        </p:nvSpPr>
        <p:spPr>
          <a:xfrm>
            <a:off x="6858000"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Makes </a:t>
            </a:r>
            <a:r>
              <a:rPr lang="en-US" sz="3450" i="1" kern="0" spc="-69" dirty="0">
                <a:solidFill>
                  <a:srgbClr val="B89CFF"/>
                </a:solidFill>
                <a:latin typeface="Georgia" pitchFamily="34" charset="0"/>
                <a:ea typeface="Georgia" pitchFamily="34" charset="-122"/>
                <a:cs typeface="Georgia" pitchFamily="34" charset="-120"/>
              </a:rPr>
              <a:t>decisions</a:t>
            </a:r>
            <a:endParaRPr lang="en-US" sz="3450" dirty="0"/>
          </a:p>
        </p:txBody>
      </p:sp>
      <p:sp>
        <p:nvSpPr>
          <p:cNvPr id="19" name="Text 17"/>
          <p:cNvSpPr/>
          <p:nvPr/>
        </p:nvSpPr>
        <p:spPr>
          <a:xfrm>
            <a:off x="6858000"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Chooses what to do based on context — not just on predefined conditions.</a:t>
            </a:r>
            <a:endParaRPr lang="en-US" sz="1800" dirty="0"/>
          </a:p>
        </p:txBody>
      </p:sp>
      <p:sp>
        <p:nvSpPr>
          <p:cNvPr id="20" name="Shape 18"/>
          <p:cNvSpPr/>
          <p:nvPr/>
        </p:nvSpPr>
        <p:spPr>
          <a:xfrm>
            <a:off x="12128500" y="3702050"/>
            <a:ext cx="5207000" cy="4140200"/>
          </a:xfrm>
          <a:prstGeom prst="roundRect">
            <a:avLst>
              <a:gd name="adj" fmla="val 1840"/>
            </a:avLst>
          </a:prstGeom>
          <a:solidFill>
            <a:srgbClr val="161A23"/>
          </a:solidFill>
          <a:ln w="12700">
            <a:solidFill>
              <a:srgbClr val="2A3142"/>
            </a:solidFill>
            <a:prstDash val="solid"/>
          </a:ln>
        </p:spPr>
        <p:txBody>
          <a:bodyPr/>
          <a:p/>
        </p:txBody>
      </p:sp>
      <p:sp>
        <p:nvSpPr>
          <p:cNvPr id="21" name="Text 19"/>
          <p:cNvSpPr/>
          <p:nvPr/>
        </p:nvSpPr>
        <p:spPr>
          <a:xfrm>
            <a:off x="12446001"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03 ·</a:t>
            </a:r>
            <a:endParaRPr lang="en-US" sz="1800" dirty="0"/>
          </a:p>
        </p:txBody>
      </p:sp>
      <p:sp>
        <p:nvSpPr>
          <p:cNvPr id="22" name="Text 20"/>
          <p:cNvSpPr/>
          <p:nvPr/>
        </p:nvSpPr>
        <p:spPr>
          <a:xfrm>
            <a:off x="12446001"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Stays </a:t>
            </a:r>
            <a:r>
              <a:rPr lang="en-US" sz="3450" i="1" kern="0" spc="-69" dirty="0">
                <a:solidFill>
                  <a:srgbClr val="B89CFF"/>
                </a:solidFill>
                <a:latin typeface="Georgia" pitchFamily="34" charset="0"/>
                <a:ea typeface="Georgia" pitchFamily="34" charset="-122"/>
                <a:cs typeface="Georgia" pitchFamily="34" charset="-120"/>
              </a:rPr>
              <a:t>on course</a:t>
            </a:r>
            <a:endParaRPr lang="en-US" sz="3450" dirty="0"/>
          </a:p>
        </p:txBody>
      </p:sp>
      <p:sp>
        <p:nvSpPr>
          <p:cNvPr id="23" name="Text 21"/>
          <p:cNvSpPr/>
          <p:nvPr/>
        </p:nvSpPr>
        <p:spPr>
          <a:xfrm>
            <a:off x="12446001"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Understands the concepts of your project, not only the primitives it can call.</a:t>
            </a:r>
            <a:endParaRPr lang="en-US" sz="1800" dirty="0"/>
          </a:p>
        </p:txBody>
      </p:sp>
      <p:sp>
        <p:nvSpPr>
          <p:cNvPr id="24" name="Shape 22"/>
          <p:cNvSpPr/>
          <p:nvPr/>
        </p:nvSpPr>
        <p:spPr>
          <a:xfrm>
            <a:off x="952500" y="8375650"/>
            <a:ext cx="16383000" cy="12700"/>
          </a:xfrm>
          <a:prstGeom prst="rect">
            <a:avLst/>
          </a:prstGeom>
          <a:solidFill>
            <a:srgbClr val="2A3142"/>
          </a:solidFill>
          <a:ln/>
        </p:spPr>
        <p:txBody>
          <a:bodyPr/>
          <a:p/>
        </p:txBody>
      </p:sp>
      <p:sp>
        <p:nvSpPr>
          <p:cNvPr id="25" name="Text 23"/>
          <p:cNvSpPr/>
          <p:nvPr/>
        </p:nvSpPr>
        <p:spPr>
          <a:xfrm>
            <a:off x="952500" y="8667750"/>
            <a:ext cx="422414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SUPPORTED AI ENGINES</a:t>
            </a:r>
            <a:endParaRPr lang="en-US" sz="1800" dirty="0"/>
          </a:p>
        </p:txBody>
      </p:sp>
      <p:sp>
        <p:nvSpPr>
          <p:cNvPr id="26" name="Text 24"/>
          <p:cNvSpPr/>
          <p:nvPr/>
        </p:nvSpPr>
        <p:spPr>
          <a:xfrm>
            <a:off x="12328525" y="8655050"/>
            <a:ext cx="1414066"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B89CFF"/>
                </a:solidFill>
                <a:latin typeface="Consolas" pitchFamily="34" charset="0"/>
                <a:ea typeface="Consolas" pitchFamily="34" charset="-122"/>
                <a:cs typeface="Consolas" pitchFamily="34" charset="-120"/>
              </a:rPr>
              <a:t>copilot</a:t>
            </a:r>
            <a:endParaRPr lang="en-US" sz="1950" dirty="0"/>
          </a:p>
        </p:txBody>
      </p:sp>
      <p:sp>
        <p:nvSpPr>
          <p:cNvPr id="27" name="Text 25"/>
          <p:cNvSpPr/>
          <p:nvPr/>
        </p:nvSpPr>
        <p:spPr>
          <a:xfrm>
            <a:off x="14047391" y="8655050"/>
            <a:ext cx="96778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claude</a:t>
            </a:r>
            <a:endParaRPr lang="en-US" sz="1950" dirty="0"/>
          </a:p>
        </p:txBody>
      </p:sp>
      <p:sp>
        <p:nvSpPr>
          <p:cNvPr id="28" name="Text 26"/>
          <p:cNvSpPr/>
          <p:nvPr/>
        </p:nvSpPr>
        <p:spPr>
          <a:xfrm>
            <a:off x="15319971" y="8655050"/>
            <a:ext cx="8191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codex</a:t>
            </a:r>
            <a:endParaRPr lang="en-US" sz="1950" dirty="0"/>
          </a:p>
        </p:txBody>
      </p:sp>
      <p:sp>
        <p:nvSpPr>
          <p:cNvPr id="29" name="Text 27"/>
          <p:cNvSpPr/>
          <p:nvPr/>
        </p:nvSpPr>
        <p:spPr>
          <a:xfrm>
            <a:off x="16443921" y="8655050"/>
            <a:ext cx="96778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pi</a:t>
            </a:r>
            <a:endParaRPr lang="en-US" sz="1950" dirty="0"/>
          </a:p>
        </p:txBody>
      </p:sp>
      <p:sp>
        <p:nvSpPr>
          <p:cNvPr id="30" name="Shape 28"/>
          <p:cNvSpPr/>
          <p:nvPr/>
        </p:nvSpPr>
        <p:spPr>
          <a:xfrm>
            <a:off x="0" y="9779001"/>
            <a:ext cx="18288000" cy="508000"/>
          </a:xfrm>
          <a:prstGeom prst="rect">
            <a:avLst/>
          </a:prstGeom>
          <a:solidFill>
            <a:srgbClr val="11141B"/>
          </a:solidFill>
          <a:ln/>
        </p:spPr>
        <p:txBody>
          <a:bodyPr/>
          <a:p/>
        </p:txBody>
      </p:sp>
      <p:sp>
        <p:nvSpPr>
          <p:cNvPr id="31" name="Shape 29"/>
          <p:cNvSpPr/>
          <p:nvPr/>
        </p:nvSpPr>
        <p:spPr>
          <a:xfrm>
            <a:off x="0" y="9779001"/>
            <a:ext cx="18288000" cy="12700"/>
          </a:xfrm>
          <a:prstGeom prst="rect">
            <a:avLst/>
          </a:prstGeom>
          <a:solidFill>
            <a:srgbClr val="2A3142"/>
          </a:solidFill>
          <a:ln/>
        </p:spPr>
        <p:txBody>
          <a:bodyPr/>
          <a:p/>
        </p:txBody>
      </p:sp>
      <p:sp>
        <p:nvSpPr>
          <p:cNvPr id="32" name="Text 30"/>
          <p:cNvSpPr/>
          <p:nvPr/>
        </p:nvSpPr>
        <p:spPr>
          <a:xfrm>
            <a:off x="304800" y="9880600"/>
            <a:ext cx="220265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capabilities</a:t>
            </a:r>
            <a:endParaRPr lang="en-US" sz="1800" dirty="0"/>
          </a:p>
        </p:txBody>
      </p:sp>
      <p:sp>
        <p:nvSpPr>
          <p:cNvPr id="33" name="Text 31"/>
          <p:cNvSpPr/>
          <p:nvPr/>
        </p:nvSpPr>
        <p:spPr>
          <a:xfrm>
            <a:off x="2736056" y="9880600"/>
            <a:ext cx="350366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3 properties · 4 engines</a:t>
            </a:r>
            <a:endParaRPr lang="en-US" sz="1800" dirty="0"/>
          </a:p>
        </p:txBody>
      </p:sp>
      <p:sp>
        <p:nvSpPr>
          <p:cNvPr id="34" name="Text 3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07 / 12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07-security.md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SECURITY ARCHITECTURE</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Three independent layers. </a:t>
            </a:r>
            <a:r>
              <a:rPr lang="en-US" sz="5700" i="1" kern="0" spc="-142" dirty="0">
                <a:solidFill>
                  <a:srgbClr val="B89CFF"/>
                </a:solidFill>
                <a:latin typeface="Georgia" pitchFamily="34" charset="0"/>
                <a:ea typeface="Georgia" pitchFamily="34" charset="-122"/>
                <a:cs typeface="Georgia" pitchFamily="34" charset="-120"/>
              </a:rPr>
              <a:t>Security </a:t>
            </a:r>
            <a:r>
              <a:rPr lang="en-US" sz="5700" kern="0" spc="-142" dirty="0">
                <a:solidFill>
                  <a:srgbClr val="E8E6DF"/>
                </a:solidFill>
                <a:latin typeface="Arial" pitchFamily="34" charset="0"/>
                <a:ea typeface="Arial" pitchFamily="34" charset="-122"/>
                <a:cs typeface="Arial" pitchFamily="34" charset="-120"/>
              </a:rPr>
              <a:t>first, not last.</a:t>
            </a:r>
            <a:endParaRPr lang="en-US" sz="5700" dirty="0"/>
          </a:p>
        </p:txBody>
      </p:sp>
      <p:sp>
        <p:nvSpPr>
          <p:cNvPr id="12" name="Shape 10"/>
          <p:cNvSpPr/>
          <p:nvPr/>
        </p:nvSpPr>
        <p:spPr>
          <a:xfrm>
            <a:off x="952500" y="3702050"/>
            <a:ext cx="5257800" cy="4254500"/>
          </a:xfrm>
          <a:prstGeom prst="roundRect">
            <a:avLst>
              <a:gd name="adj" fmla="val 1791"/>
            </a:avLst>
          </a:prstGeom>
          <a:solidFill>
            <a:srgbClr val="161A23"/>
          </a:solidFill>
          <a:ln w="12700">
            <a:solidFill>
              <a:srgbClr val="2A3142"/>
            </a:solidFill>
            <a:prstDash val="solid"/>
          </a:ln>
        </p:spPr>
        <p:txBody>
          <a:bodyPr/>
          <a:p/>
        </p:txBody>
      </p:sp>
      <p:sp>
        <p:nvSpPr>
          <p:cNvPr id="13" name="Text 11"/>
          <p:cNvSpPr/>
          <p:nvPr/>
        </p:nvSpPr>
        <p:spPr>
          <a:xfrm>
            <a:off x="12700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01</a:t>
            </a:r>
            <a:endParaRPr lang="en-US" sz="1800" dirty="0"/>
          </a:p>
        </p:txBody>
      </p:sp>
      <p:sp>
        <p:nvSpPr>
          <p:cNvPr id="14" name="Text 12"/>
          <p:cNvSpPr/>
          <p:nvPr/>
        </p:nvSpPr>
        <p:spPr>
          <a:xfrm>
            <a:off x="5197673" y="4019550"/>
            <a:ext cx="771327"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READ</a:t>
            </a:r>
            <a:endParaRPr lang="en-US" sz="1800" dirty="0"/>
          </a:p>
        </p:txBody>
      </p:sp>
      <p:sp>
        <p:nvSpPr>
          <p:cNvPr id="15" name="Text 13"/>
          <p:cNvSpPr/>
          <p:nvPr/>
        </p:nvSpPr>
        <p:spPr>
          <a:xfrm>
            <a:off x="12700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agent</a:t>
            </a:r>
            <a:endParaRPr lang="en-US" sz="3000" dirty="0"/>
          </a:p>
        </p:txBody>
      </p:sp>
      <p:sp>
        <p:nvSpPr>
          <p:cNvPr id="16" name="Text 14"/>
          <p:cNvSpPr/>
          <p:nvPr/>
        </p:nvSpPr>
        <p:spPr>
          <a:xfrm>
            <a:off x="12700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Has read-only permissions. Proposes actions — never takes them.</a:t>
            </a:r>
            <a:endParaRPr lang="en-US" sz="1800" dirty="0"/>
          </a:p>
        </p:txBody>
      </p:sp>
      <p:sp>
        <p:nvSpPr>
          <p:cNvPr id="17" name="Shape 15"/>
          <p:cNvSpPr/>
          <p:nvPr/>
        </p:nvSpPr>
        <p:spPr>
          <a:xfrm>
            <a:off x="1270000" y="6388100"/>
            <a:ext cx="4622800" cy="12700"/>
          </a:xfrm>
          <a:prstGeom prst="rect">
            <a:avLst/>
          </a:prstGeom>
          <a:solidFill>
            <a:srgbClr val="2A3142"/>
          </a:solidFill>
          <a:ln/>
        </p:spPr>
        <p:txBody>
          <a:bodyPr/>
          <a:p/>
        </p:txBody>
      </p:sp>
      <p:sp>
        <p:nvSpPr>
          <p:cNvPr id="18" name="Text 16"/>
          <p:cNvSpPr/>
          <p:nvPr/>
        </p:nvSpPr>
        <p:spPr>
          <a:xfrm>
            <a:off x="12700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contents:read</a:t>
            </a:r>
            <a:endParaRPr lang="en-US" sz="1800" dirty="0"/>
          </a:p>
        </p:txBody>
      </p:sp>
      <p:sp>
        <p:nvSpPr>
          <p:cNvPr id="19" name="Text 17"/>
          <p:cNvSpPr/>
          <p:nvPr/>
        </p:nvSpPr>
        <p:spPr>
          <a:xfrm>
            <a:off x="12700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issues:read</a:t>
            </a:r>
            <a:endParaRPr lang="en-US" sz="1800" dirty="0"/>
          </a:p>
        </p:txBody>
      </p:sp>
      <p:sp>
        <p:nvSpPr>
          <p:cNvPr id="20" name="Text 18"/>
          <p:cNvSpPr/>
          <p:nvPr/>
        </p:nvSpPr>
        <p:spPr>
          <a:xfrm>
            <a:off x="12700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D97070"/>
                </a:solidFill>
                <a:latin typeface="Consolas" pitchFamily="34" charset="0"/>
                <a:ea typeface="Consolas" pitchFamily="34" charset="-122"/>
                <a:cs typeface="Consolas" pitchFamily="34" charset="-120"/>
              </a:rPr>
              <a:t>− write: ✗</a:t>
            </a:r>
            <a:endParaRPr lang="en-US" sz="1800" dirty="0"/>
          </a:p>
        </p:txBody>
      </p:sp>
      <p:sp>
        <p:nvSpPr>
          <p:cNvPr id="21" name="Shape 19"/>
          <p:cNvSpPr/>
          <p:nvPr/>
        </p:nvSpPr>
        <p:spPr>
          <a:xfrm>
            <a:off x="6515100" y="3702050"/>
            <a:ext cx="5257800" cy="4254500"/>
          </a:xfrm>
          <a:prstGeom prst="roundRect">
            <a:avLst>
              <a:gd name="adj" fmla="val 1791"/>
            </a:avLst>
          </a:prstGeom>
          <a:solidFill>
            <a:srgbClr val="161A23"/>
          </a:solidFill>
          <a:ln w="12700">
            <a:solidFill>
              <a:srgbClr val="2A3142"/>
            </a:solidFill>
            <a:prstDash val="solid"/>
          </a:ln>
        </p:spPr>
        <p:txBody>
          <a:bodyPr/>
          <a:p/>
        </p:txBody>
      </p:sp>
      <p:sp>
        <p:nvSpPr>
          <p:cNvPr id="22" name="Text 20"/>
          <p:cNvSpPr/>
          <p:nvPr/>
        </p:nvSpPr>
        <p:spPr>
          <a:xfrm>
            <a:off x="68326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02</a:t>
            </a:r>
            <a:endParaRPr lang="en-US" sz="1800" dirty="0"/>
          </a:p>
        </p:txBody>
      </p:sp>
      <p:sp>
        <p:nvSpPr>
          <p:cNvPr id="23" name="Text 21"/>
          <p:cNvSpPr/>
          <p:nvPr/>
        </p:nvSpPr>
        <p:spPr>
          <a:xfrm>
            <a:off x="10239177" y="4019550"/>
            <a:ext cx="129242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INSPECT</a:t>
            </a:r>
            <a:endParaRPr lang="en-US" sz="1800" dirty="0"/>
          </a:p>
        </p:txBody>
      </p:sp>
      <p:sp>
        <p:nvSpPr>
          <p:cNvPr id="24" name="Text 22"/>
          <p:cNvSpPr/>
          <p:nvPr/>
        </p:nvSpPr>
        <p:spPr>
          <a:xfrm>
            <a:off x="68326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detection</a:t>
            </a:r>
            <a:endParaRPr lang="en-US" sz="3000" dirty="0"/>
          </a:p>
        </p:txBody>
      </p:sp>
      <p:sp>
        <p:nvSpPr>
          <p:cNvPr id="25" name="Text 23"/>
          <p:cNvSpPr/>
          <p:nvPr/>
        </p:nvSpPr>
        <p:spPr>
          <a:xfrm>
            <a:off x="68326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Threat detection scans agent output for prompt injection and security issues.</a:t>
            </a:r>
            <a:endParaRPr lang="en-US" sz="1800" dirty="0"/>
          </a:p>
        </p:txBody>
      </p:sp>
      <p:sp>
        <p:nvSpPr>
          <p:cNvPr id="26" name="Shape 24"/>
          <p:cNvSpPr/>
          <p:nvPr/>
        </p:nvSpPr>
        <p:spPr>
          <a:xfrm>
            <a:off x="6832600" y="6388100"/>
            <a:ext cx="4622800" cy="12700"/>
          </a:xfrm>
          <a:prstGeom prst="rect">
            <a:avLst/>
          </a:prstGeom>
          <a:solidFill>
            <a:srgbClr val="2A3142"/>
          </a:solidFill>
          <a:ln/>
        </p:spPr>
        <p:txBody>
          <a:bodyPr/>
          <a:p/>
        </p:txBody>
      </p:sp>
      <p:sp>
        <p:nvSpPr>
          <p:cNvPr id="27" name="Text 25"/>
          <p:cNvSpPr/>
          <p:nvPr/>
        </p:nvSpPr>
        <p:spPr>
          <a:xfrm>
            <a:off x="68326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scan(prompt-injection)</a:t>
            </a:r>
            <a:endParaRPr lang="en-US" sz="1800" dirty="0"/>
          </a:p>
        </p:txBody>
      </p:sp>
      <p:sp>
        <p:nvSpPr>
          <p:cNvPr id="28" name="Text 26"/>
          <p:cNvSpPr/>
          <p:nvPr/>
        </p:nvSpPr>
        <p:spPr>
          <a:xfrm>
            <a:off x="68326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scan(secrets)</a:t>
            </a:r>
            <a:endParaRPr lang="en-US" sz="1800" dirty="0"/>
          </a:p>
        </p:txBody>
      </p:sp>
      <p:sp>
        <p:nvSpPr>
          <p:cNvPr id="29" name="Text 27"/>
          <p:cNvSpPr/>
          <p:nvPr/>
        </p:nvSpPr>
        <p:spPr>
          <a:xfrm>
            <a:off x="68326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D97070"/>
                </a:solidFill>
                <a:latin typeface="Consolas" pitchFamily="34" charset="0"/>
                <a:ea typeface="Consolas" pitchFamily="34" charset="-122"/>
                <a:cs typeface="Consolas" pitchFamily="34" charset="-120"/>
              </a:rPr>
              <a:t>− block on match</a:t>
            </a:r>
            <a:endParaRPr lang="en-US" sz="1800" dirty="0"/>
          </a:p>
        </p:txBody>
      </p:sp>
      <p:sp>
        <p:nvSpPr>
          <p:cNvPr id="30" name="Shape 28"/>
          <p:cNvSpPr/>
          <p:nvPr/>
        </p:nvSpPr>
        <p:spPr>
          <a:xfrm>
            <a:off x="12077700" y="3702050"/>
            <a:ext cx="5257800" cy="4254500"/>
          </a:xfrm>
          <a:prstGeom prst="roundRect">
            <a:avLst>
              <a:gd name="adj" fmla="val 1791"/>
            </a:avLst>
          </a:prstGeom>
          <a:solidFill>
            <a:srgbClr val="161A23"/>
          </a:solidFill>
          <a:ln w="12700">
            <a:solidFill>
              <a:srgbClr val="2A3142"/>
            </a:solidFill>
            <a:prstDash val="solid"/>
          </a:ln>
        </p:spPr>
        <p:txBody>
          <a:bodyPr/>
          <a:p/>
        </p:txBody>
      </p:sp>
      <p:sp>
        <p:nvSpPr>
          <p:cNvPr id="31" name="Text 29"/>
          <p:cNvSpPr/>
          <p:nvPr/>
        </p:nvSpPr>
        <p:spPr>
          <a:xfrm>
            <a:off x="123952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03</a:t>
            </a:r>
            <a:endParaRPr lang="en-US" sz="1800" dirty="0"/>
          </a:p>
        </p:txBody>
      </p:sp>
      <p:sp>
        <p:nvSpPr>
          <p:cNvPr id="32" name="Text 30"/>
          <p:cNvSpPr/>
          <p:nvPr/>
        </p:nvSpPr>
        <p:spPr>
          <a:xfrm>
            <a:off x="15801777" y="4019550"/>
            <a:ext cx="129242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ISOLATE</a:t>
            </a:r>
            <a:endParaRPr lang="en-US" sz="1800" dirty="0"/>
          </a:p>
        </p:txBody>
      </p:sp>
      <p:sp>
        <p:nvSpPr>
          <p:cNvPr id="33" name="Text 31"/>
          <p:cNvSpPr/>
          <p:nvPr/>
        </p:nvSpPr>
        <p:spPr>
          <a:xfrm>
            <a:off x="123952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safe-outputs</a:t>
            </a:r>
            <a:endParaRPr lang="en-US" sz="3000" dirty="0"/>
          </a:p>
        </p:txBody>
      </p:sp>
      <p:sp>
        <p:nvSpPr>
          <p:cNvPr id="34" name="Text 32"/>
          <p:cNvSpPr/>
          <p:nvPr/>
        </p:nvSpPr>
        <p:spPr>
          <a:xfrm>
            <a:off x="123952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Proposed actions execute inside isolated containers with their own permissions.</a:t>
            </a:r>
            <a:endParaRPr lang="en-US" sz="1800" dirty="0"/>
          </a:p>
        </p:txBody>
      </p:sp>
      <p:sp>
        <p:nvSpPr>
          <p:cNvPr id="35" name="Shape 33"/>
          <p:cNvSpPr/>
          <p:nvPr/>
        </p:nvSpPr>
        <p:spPr>
          <a:xfrm>
            <a:off x="12395200" y="6388100"/>
            <a:ext cx="4622800" cy="12700"/>
          </a:xfrm>
          <a:prstGeom prst="rect">
            <a:avLst/>
          </a:prstGeom>
          <a:solidFill>
            <a:srgbClr val="2A3142"/>
          </a:solidFill>
          <a:ln/>
        </p:spPr>
        <p:txBody>
          <a:bodyPr/>
          <a:p/>
        </p:txBody>
      </p:sp>
      <p:sp>
        <p:nvSpPr>
          <p:cNvPr id="36" name="Text 34"/>
          <p:cNvSpPr/>
          <p:nvPr/>
        </p:nvSpPr>
        <p:spPr>
          <a:xfrm>
            <a:off x="123952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sandboxed</a:t>
            </a:r>
            <a:endParaRPr lang="en-US" sz="1800" dirty="0"/>
          </a:p>
        </p:txBody>
      </p:sp>
      <p:sp>
        <p:nvSpPr>
          <p:cNvPr id="37" name="Text 35"/>
          <p:cNvSpPr/>
          <p:nvPr/>
        </p:nvSpPr>
        <p:spPr>
          <a:xfrm>
            <a:off x="123952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explicit grants</a:t>
            </a:r>
            <a:endParaRPr lang="en-US" sz="1800" dirty="0"/>
          </a:p>
        </p:txBody>
      </p:sp>
      <p:sp>
        <p:nvSpPr>
          <p:cNvPr id="38" name="Text 36"/>
          <p:cNvSpPr/>
          <p:nvPr/>
        </p:nvSpPr>
        <p:spPr>
          <a:xfrm>
            <a:off x="123952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audit log</a:t>
            </a:r>
            <a:endParaRPr lang="en-US" sz="1800" dirty="0"/>
          </a:p>
        </p:txBody>
      </p:sp>
      <p:sp>
        <p:nvSpPr>
          <p:cNvPr id="39" name="Text 37"/>
          <p:cNvSpPr/>
          <p:nvPr/>
        </p:nvSpPr>
        <p:spPr>
          <a:xfrm>
            <a:off x="952500" y="82994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Read the full Security Architecture documentation.</a:t>
            </a:r>
            <a:endParaRPr lang="en-US" sz="1800" dirty="0"/>
          </a:p>
        </p:txBody>
      </p:sp>
      <p:sp>
        <p:nvSpPr>
          <p:cNvPr id="40" name="Shape 38"/>
          <p:cNvSpPr/>
          <p:nvPr/>
        </p:nvSpPr>
        <p:spPr>
          <a:xfrm>
            <a:off x="0" y="9779001"/>
            <a:ext cx="18288000" cy="508000"/>
          </a:xfrm>
          <a:prstGeom prst="rect">
            <a:avLst/>
          </a:prstGeom>
          <a:solidFill>
            <a:srgbClr val="11141B"/>
          </a:solidFill>
          <a:ln/>
        </p:spPr>
        <p:txBody>
          <a:bodyPr/>
          <a:p/>
        </p:txBody>
      </p:sp>
      <p:sp>
        <p:nvSpPr>
          <p:cNvPr id="41" name="Shape 39"/>
          <p:cNvSpPr/>
          <p:nvPr/>
        </p:nvSpPr>
        <p:spPr>
          <a:xfrm>
            <a:off x="0" y="9779001"/>
            <a:ext cx="18288000" cy="12700"/>
          </a:xfrm>
          <a:prstGeom prst="rect">
            <a:avLst/>
          </a:prstGeom>
          <a:solidFill>
            <a:srgbClr val="2A3142"/>
          </a:solidFill>
          <a:ln/>
        </p:spPr>
        <p:txBody>
          <a:bodyPr/>
          <a:p/>
        </p:txBody>
      </p:sp>
      <p:sp>
        <p:nvSpPr>
          <p:cNvPr id="42" name="Text 40"/>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security</a:t>
            </a:r>
            <a:endParaRPr lang="en-US" sz="1800" dirty="0"/>
          </a:p>
        </p:txBody>
      </p:sp>
      <p:sp>
        <p:nvSpPr>
          <p:cNvPr id="43" name="Text 41"/>
          <p:cNvSpPr/>
          <p:nvPr/>
        </p:nvSpPr>
        <p:spPr>
          <a:xfrm>
            <a:off x="2169319" y="9880600"/>
            <a:ext cx="321179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3 layers · independent</a:t>
            </a:r>
            <a:endParaRPr lang="en-US" sz="1800" dirty="0"/>
          </a:p>
        </p:txBody>
      </p:sp>
      <p:sp>
        <p:nvSpPr>
          <p:cNvPr id="44" name="Text 4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08 / 12</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08-patterns.md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CONTINUOUS AI</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Building blocks for an </a:t>
            </a:r>
            <a:r>
              <a:rPr lang="en-US" sz="5700" i="1" kern="0" spc="-142" dirty="0">
                <a:solidFill>
                  <a:srgbClr val="B89CFF"/>
                </a:solidFill>
                <a:latin typeface="Georgia" pitchFamily="34" charset="0"/>
                <a:ea typeface="Georgia" pitchFamily="34" charset="-122"/>
                <a:cs typeface="Georgia" pitchFamily="34" charset="-120"/>
              </a:rPr>
              <a:t>always-on </a:t>
            </a:r>
            <a:r>
              <a:rPr lang="en-US" sz="5700" kern="0" spc="-142" dirty="0">
                <a:solidFill>
                  <a:srgbClr val="E8E6DF"/>
                </a:solidFill>
                <a:latin typeface="Arial" pitchFamily="34" charset="0"/>
                <a:ea typeface="Arial" pitchFamily="34" charset="-122"/>
                <a:cs typeface="Arial" pitchFamily="34" charset="-120"/>
              </a:rPr>
              <a:t>engineering loop.</a:t>
            </a:r>
            <a:endParaRPr lang="en-US" sz="5700" dirty="0"/>
          </a:p>
        </p:txBody>
      </p:sp>
      <p:sp>
        <p:nvSpPr>
          <p:cNvPr id="12" name="Shape 10"/>
          <p:cNvSpPr/>
          <p:nvPr/>
        </p:nvSpPr>
        <p:spPr>
          <a:xfrm>
            <a:off x="952500" y="3702050"/>
            <a:ext cx="8058150" cy="2571750"/>
          </a:xfrm>
          <a:prstGeom prst="roundRect">
            <a:avLst>
              <a:gd name="adj" fmla="val 2963"/>
            </a:avLst>
          </a:prstGeom>
          <a:solidFill>
            <a:srgbClr val="161A23"/>
          </a:solidFill>
          <a:ln w="12700">
            <a:solidFill>
              <a:srgbClr val="2A3142"/>
            </a:solidFill>
            <a:prstDash val="solid"/>
          </a:ln>
        </p:spPr>
        <p:txBody>
          <a:bodyPr/>
          <a:p/>
        </p:txBody>
      </p:sp>
      <p:sp>
        <p:nvSpPr>
          <p:cNvPr id="13" name="Text 11"/>
          <p:cNvSpPr/>
          <p:nvPr/>
        </p:nvSpPr>
        <p:spPr>
          <a:xfrm>
            <a:off x="1270000" y="398145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01 ·</a:t>
            </a:r>
            <a:endParaRPr lang="en-US" sz="1800" dirty="0"/>
          </a:p>
        </p:txBody>
      </p:sp>
      <p:sp>
        <p:nvSpPr>
          <p:cNvPr id="14" name="Text 12"/>
          <p:cNvSpPr/>
          <p:nvPr/>
        </p:nvSpPr>
        <p:spPr>
          <a:xfrm>
            <a:off x="2032000" y="398145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ChatOps · IssueOps</a:t>
            </a:r>
            <a:endParaRPr lang="en-US" sz="1800" dirty="0"/>
          </a:p>
        </p:txBody>
      </p:sp>
      <p:sp>
        <p:nvSpPr>
          <p:cNvPr id="15" name="Text 13"/>
          <p:cNvSpPr/>
          <p:nvPr/>
        </p:nvSpPr>
        <p:spPr>
          <a:xfrm>
            <a:off x="2032000" y="443230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Reactive Intelligence</a:t>
            </a:r>
            <a:endParaRPr lang="en-US" sz="2700" dirty="0"/>
          </a:p>
        </p:txBody>
      </p:sp>
      <p:sp>
        <p:nvSpPr>
          <p:cNvPr id="16" name="Text 14"/>
          <p:cNvSpPr/>
          <p:nvPr/>
        </p:nvSpPr>
        <p:spPr>
          <a:xfrm>
            <a:off x="2032000" y="513080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AI responds to issues, PRs, and comments — triaging, labelling, and following up in the conversation.</a:t>
            </a:r>
            <a:endParaRPr lang="en-US" sz="1800" dirty="0"/>
          </a:p>
        </p:txBody>
      </p:sp>
      <p:sp>
        <p:nvSpPr>
          <p:cNvPr id="17" name="Shape 15"/>
          <p:cNvSpPr/>
          <p:nvPr/>
        </p:nvSpPr>
        <p:spPr>
          <a:xfrm>
            <a:off x="9277350" y="3702050"/>
            <a:ext cx="8058150" cy="2571750"/>
          </a:xfrm>
          <a:prstGeom prst="roundRect">
            <a:avLst>
              <a:gd name="adj" fmla="val 2963"/>
            </a:avLst>
          </a:prstGeom>
          <a:solidFill>
            <a:srgbClr val="161A23"/>
          </a:solidFill>
          <a:ln w="12700">
            <a:solidFill>
              <a:srgbClr val="2A3142"/>
            </a:solidFill>
            <a:prstDash val="solid"/>
          </a:ln>
        </p:spPr>
        <p:txBody>
          <a:bodyPr/>
          <a:p/>
        </p:txBody>
      </p:sp>
      <p:sp>
        <p:nvSpPr>
          <p:cNvPr id="18" name="Text 16"/>
          <p:cNvSpPr/>
          <p:nvPr/>
        </p:nvSpPr>
        <p:spPr>
          <a:xfrm>
            <a:off x="9594850" y="398145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02 ·</a:t>
            </a:r>
            <a:endParaRPr lang="en-US" sz="1800" dirty="0"/>
          </a:p>
        </p:txBody>
      </p:sp>
      <p:sp>
        <p:nvSpPr>
          <p:cNvPr id="19" name="Text 17"/>
          <p:cNvSpPr/>
          <p:nvPr/>
        </p:nvSpPr>
        <p:spPr>
          <a:xfrm>
            <a:off x="10356850" y="398145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DailyOps · TaskOps</a:t>
            </a:r>
            <a:endParaRPr lang="en-US" sz="1800" dirty="0"/>
          </a:p>
        </p:txBody>
      </p:sp>
      <p:sp>
        <p:nvSpPr>
          <p:cNvPr id="20" name="Text 18"/>
          <p:cNvSpPr/>
          <p:nvPr/>
        </p:nvSpPr>
        <p:spPr>
          <a:xfrm>
            <a:off x="10356850" y="443230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Continuous Improvement</a:t>
            </a:r>
            <a:endParaRPr lang="en-US" sz="2700" dirty="0"/>
          </a:p>
        </p:txBody>
      </p:sp>
      <p:sp>
        <p:nvSpPr>
          <p:cNvPr id="21" name="Text 19"/>
          <p:cNvSpPr/>
          <p:nvPr/>
        </p:nvSpPr>
        <p:spPr>
          <a:xfrm>
            <a:off x="10356850" y="513080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Scheduled, AI-driven analysis and incremental upgrades between human commits.</a:t>
            </a:r>
            <a:endParaRPr lang="en-US" sz="1800" dirty="0"/>
          </a:p>
        </p:txBody>
      </p:sp>
      <p:sp>
        <p:nvSpPr>
          <p:cNvPr id="22" name="Shape 20"/>
          <p:cNvSpPr/>
          <p:nvPr/>
        </p:nvSpPr>
        <p:spPr>
          <a:xfrm>
            <a:off x="952500" y="6540500"/>
            <a:ext cx="8058150" cy="2571750"/>
          </a:xfrm>
          <a:prstGeom prst="roundRect">
            <a:avLst>
              <a:gd name="adj" fmla="val 2963"/>
            </a:avLst>
          </a:prstGeom>
          <a:solidFill>
            <a:srgbClr val="161A23"/>
          </a:solidFill>
          <a:ln w="12700">
            <a:solidFill>
              <a:srgbClr val="2A3142"/>
            </a:solidFill>
            <a:prstDash val="solid"/>
          </a:ln>
        </p:spPr>
        <p:txBody>
          <a:bodyPr/>
          <a:p/>
        </p:txBody>
      </p:sp>
      <p:sp>
        <p:nvSpPr>
          <p:cNvPr id="23" name="Text 21"/>
          <p:cNvSpPr/>
          <p:nvPr/>
        </p:nvSpPr>
        <p:spPr>
          <a:xfrm>
            <a:off x="1270000" y="681990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03 ·</a:t>
            </a:r>
            <a:endParaRPr lang="en-US" sz="1800" dirty="0"/>
          </a:p>
        </p:txBody>
      </p:sp>
      <p:sp>
        <p:nvSpPr>
          <p:cNvPr id="24" name="Text 22"/>
          <p:cNvSpPr/>
          <p:nvPr/>
        </p:nvSpPr>
        <p:spPr>
          <a:xfrm>
            <a:off x="2032000" y="681990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DataOps · ProjectOps</a:t>
            </a:r>
            <a:endParaRPr lang="en-US" sz="1800" dirty="0"/>
          </a:p>
        </p:txBody>
      </p:sp>
      <p:sp>
        <p:nvSpPr>
          <p:cNvPr id="25" name="Text 23"/>
          <p:cNvSpPr/>
          <p:nvPr/>
        </p:nvSpPr>
        <p:spPr>
          <a:xfrm>
            <a:off x="2032000" y="727075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Insight &amp; Governance</a:t>
            </a:r>
            <a:endParaRPr lang="en-US" sz="2700" dirty="0"/>
          </a:p>
        </p:txBody>
      </p:sp>
      <p:sp>
        <p:nvSpPr>
          <p:cNvPr id="26" name="Text 24"/>
          <p:cNvSpPr/>
          <p:nvPr/>
        </p:nvSpPr>
        <p:spPr>
          <a:xfrm>
            <a:off x="2032000" y="796925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Analyse repository data and automatically update project state, fields, and roll-ups.</a:t>
            </a:r>
            <a:endParaRPr lang="en-US" sz="1800" dirty="0"/>
          </a:p>
        </p:txBody>
      </p:sp>
      <p:sp>
        <p:nvSpPr>
          <p:cNvPr id="27" name="Shape 25"/>
          <p:cNvSpPr/>
          <p:nvPr/>
        </p:nvSpPr>
        <p:spPr>
          <a:xfrm>
            <a:off x="9277350" y="6540500"/>
            <a:ext cx="8058150" cy="2571750"/>
          </a:xfrm>
          <a:prstGeom prst="roundRect">
            <a:avLst>
              <a:gd name="adj" fmla="val 2963"/>
            </a:avLst>
          </a:prstGeom>
          <a:solidFill>
            <a:srgbClr val="161A23"/>
          </a:solidFill>
          <a:ln w="12700">
            <a:solidFill>
              <a:srgbClr val="2A3142"/>
            </a:solidFill>
            <a:prstDash val="solid"/>
          </a:ln>
        </p:spPr>
        <p:txBody>
          <a:bodyPr/>
          <a:p/>
        </p:txBody>
      </p:sp>
      <p:sp>
        <p:nvSpPr>
          <p:cNvPr id="28" name="Text 26"/>
          <p:cNvSpPr/>
          <p:nvPr/>
        </p:nvSpPr>
        <p:spPr>
          <a:xfrm>
            <a:off x="9594850" y="681990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04 ·</a:t>
            </a:r>
            <a:endParaRPr lang="en-US" sz="1800" dirty="0"/>
          </a:p>
        </p:txBody>
      </p:sp>
      <p:sp>
        <p:nvSpPr>
          <p:cNvPr id="29" name="Text 27"/>
          <p:cNvSpPr/>
          <p:nvPr/>
        </p:nvSpPr>
        <p:spPr>
          <a:xfrm>
            <a:off x="10356850" y="681990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MultiRepoOps · CentralRepoOps</a:t>
            </a:r>
            <a:endParaRPr lang="en-US" sz="1800" dirty="0"/>
          </a:p>
        </p:txBody>
      </p:sp>
      <p:sp>
        <p:nvSpPr>
          <p:cNvPr id="30" name="Text 28"/>
          <p:cNvSpPr/>
          <p:nvPr/>
        </p:nvSpPr>
        <p:spPr>
          <a:xfrm>
            <a:off x="10356850" y="727075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Orchestration</a:t>
            </a:r>
            <a:endParaRPr lang="en-US" sz="2700" dirty="0"/>
          </a:p>
        </p:txBody>
      </p:sp>
      <p:sp>
        <p:nvSpPr>
          <p:cNvPr id="31" name="Text 29"/>
          <p:cNvSpPr/>
          <p:nvPr/>
        </p:nvSpPr>
        <p:spPr>
          <a:xfrm>
            <a:off x="10356850" y="796925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Coordinate work across repositories with centralised oversight from a single control plane.</a:t>
            </a:r>
            <a:endParaRPr lang="en-US" sz="1800" dirty="0"/>
          </a:p>
        </p:txBody>
      </p:sp>
      <p:sp>
        <p:nvSpPr>
          <p:cNvPr id="32" name="Text 30"/>
          <p:cNvSpPr/>
          <p:nvPr/>
        </p:nvSpPr>
        <p:spPr>
          <a:xfrm>
            <a:off x="952500" y="93789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Full catalogue in the Design Patterns docs.</a:t>
            </a:r>
            <a:endParaRPr lang="en-US" sz="1800" dirty="0"/>
          </a:p>
        </p:txBody>
      </p:sp>
      <p:sp>
        <p:nvSpPr>
          <p:cNvPr id="33" name="Shape 31"/>
          <p:cNvSpPr/>
          <p:nvPr/>
        </p:nvSpPr>
        <p:spPr>
          <a:xfrm>
            <a:off x="0" y="9779001"/>
            <a:ext cx="18288000" cy="508000"/>
          </a:xfrm>
          <a:prstGeom prst="rect">
            <a:avLst/>
          </a:prstGeom>
          <a:solidFill>
            <a:srgbClr val="11141B"/>
          </a:solidFill>
          <a:ln/>
        </p:spPr>
        <p:txBody>
          <a:bodyPr/>
          <a:p/>
        </p:txBody>
      </p:sp>
      <p:sp>
        <p:nvSpPr>
          <p:cNvPr id="34" name="Shape 32"/>
          <p:cNvSpPr/>
          <p:nvPr/>
        </p:nvSpPr>
        <p:spPr>
          <a:xfrm>
            <a:off x="0" y="9779001"/>
            <a:ext cx="18288000" cy="12700"/>
          </a:xfrm>
          <a:prstGeom prst="rect">
            <a:avLst/>
          </a:prstGeom>
          <a:solidFill>
            <a:srgbClr val="2A3142"/>
          </a:solidFill>
          <a:ln/>
        </p:spPr>
        <p:txBody>
          <a:bodyPr/>
          <a:p/>
        </p:txBody>
      </p:sp>
      <p:sp>
        <p:nvSpPr>
          <p:cNvPr id="35" name="Text 33"/>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patterns</a:t>
            </a:r>
            <a:endParaRPr lang="en-US" sz="1800" dirty="0"/>
          </a:p>
        </p:txBody>
      </p:sp>
      <p:sp>
        <p:nvSpPr>
          <p:cNvPr id="36" name="Text 34"/>
          <p:cNvSpPr/>
          <p:nvPr/>
        </p:nvSpPr>
        <p:spPr>
          <a:xfrm>
            <a:off x="2169319" y="9880600"/>
            <a:ext cx="2485827"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4 building blocks</a:t>
            </a:r>
            <a:endParaRPr lang="en-US" sz="1800" dirty="0"/>
          </a:p>
        </p:txBody>
      </p:sp>
      <p:sp>
        <p:nvSpPr>
          <p:cNvPr id="37" name="Text 35"/>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09 / 12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09-agentics.md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GET STARTED</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A library of ready-made workflows to </a:t>
            </a:r>
            <a:r>
              <a:rPr lang="en-US" sz="5700" i="1" kern="0" spc="-142" dirty="0">
                <a:solidFill>
                  <a:srgbClr val="B89CFF"/>
                </a:solidFill>
                <a:latin typeface="Georgia" pitchFamily="34" charset="0"/>
                <a:ea typeface="Georgia" pitchFamily="34" charset="-122"/>
                <a:cs typeface="Georgia" pitchFamily="34" charset="-120"/>
              </a:rPr>
              <a:t>lift &amp; remix</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16383000" cy="1651000"/>
          </a:xfrm>
          <a:prstGeom prst="roundRect">
            <a:avLst>
              <a:gd name="adj" fmla="val 4615"/>
            </a:avLst>
          </a:prstGeom>
          <a:solidFill>
            <a:srgbClr val="161A23"/>
          </a:solidFill>
          <a:ln w="12700">
            <a:solidFill>
              <a:srgbClr val="2A3142"/>
            </a:solidFill>
            <a:prstDash val="solid"/>
          </a:ln>
        </p:spPr>
        <p:txBody>
          <a:bodyPr/>
          <a:p/>
        </p:txBody>
      </p:sp>
      <p:sp>
        <p:nvSpPr>
          <p:cNvPr id="13" name="Text 11"/>
          <p:cNvSpPr/>
          <p:nvPr/>
        </p:nvSpPr>
        <p:spPr>
          <a:xfrm>
            <a:off x="1498600" y="4171950"/>
            <a:ext cx="385961" cy="749300"/>
          </a:xfrm>
          <a:prstGeom prst="rect">
            <a:avLst/>
          </a:prstGeom>
          <a:noFill/>
          <a:ln/>
        </p:spPr>
        <p:txBody>
          <a:bodyPr wrap="square" lIns="25400" tIns="25400" rIns="25400" bIns="25400" rtlCol="0" anchor="t">
            <a:normAutofit/>
          </a:bodyPr>
          <a:lstStyle/>
          <a:p>
            <a:pPr marL="0" indent="0" algn="l">
              <a:lnSpc>
                <a:spcPct val="140000"/>
              </a:lnSpc>
              <a:buNone/>
            </a:pPr>
            <a:r>
              <a:rPr lang="en-US" sz="4050" dirty="0">
                <a:solidFill>
                  <a:srgbClr val="B89CFF"/>
                </a:solidFill>
                <a:latin typeface="Consolas" pitchFamily="34" charset="0"/>
                <a:ea typeface="Consolas" pitchFamily="34" charset="-122"/>
                <a:cs typeface="Consolas" pitchFamily="34" charset="-120"/>
              </a:rPr>
              <a:t>→</a:t>
            </a:r>
            <a:endParaRPr lang="en-US" sz="4050" dirty="0"/>
          </a:p>
        </p:txBody>
      </p:sp>
      <p:sp>
        <p:nvSpPr>
          <p:cNvPr id="14" name="Text 12"/>
          <p:cNvSpPr/>
          <p:nvPr/>
        </p:nvSpPr>
        <p:spPr>
          <a:xfrm>
            <a:off x="2189361" y="4438650"/>
            <a:ext cx="4040460" cy="3302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AGENTICS COLLECTION</a:t>
            </a:r>
            <a:endParaRPr lang="en-US" sz="1800" dirty="0"/>
          </a:p>
        </p:txBody>
      </p:sp>
      <p:sp>
        <p:nvSpPr>
          <p:cNvPr id="15" name="Text 13"/>
          <p:cNvSpPr/>
          <p:nvPr/>
        </p:nvSpPr>
        <p:spPr>
          <a:xfrm>
            <a:off x="6191528" y="4260850"/>
            <a:ext cx="7355118" cy="558800"/>
          </a:xfrm>
          <a:prstGeom prst="rect">
            <a:avLst/>
          </a:prstGeom>
          <a:noFill/>
          <a:ln/>
        </p:spPr>
        <p:txBody>
          <a:bodyPr wrap="square" lIns="25400" tIns="25400" rIns="25400" bIns="25400" rtlCol="0" anchor="t">
            <a:normAutofit/>
          </a:bodyPr>
          <a:lstStyle/>
          <a:p>
            <a:pPr marL="0" indent="0" algn="l">
              <a:lnSpc>
                <a:spcPct val="140000"/>
              </a:lnSpc>
              <a:buNone/>
            </a:pPr>
            <a:r>
              <a:rPr lang="en-US" sz="3150" kern="0" spc="-16" dirty="0">
                <a:solidFill>
                  <a:srgbClr val="B89CFF"/>
                </a:solidFill>
                <a:latin typeface="Consolas" pitchFamily="34" charset="0"/>
                <a:ea typeface="Consolas" pitchFamily="34" charset="-122"/>
                <a:cs typeface="Consolas" pitchFamily="34" charset="-120"/>
              </a:rPr>
              <a:t>github.com/</a:t>
            </a:r>
            <a:r>
              <a:rPr lang="en-US" sz="3150" kern="0" spc="-16" dirty="0">
                <a:solidFill>
                  <a:srgbClr val="E8E6DF"/>
                </a:solidFill>
                <a:latin typeface="Consolas" pitchFamily="34" charset="0"/>
                <a:ea typeface="Consolas" pitchFamily="34" charset="-122"/>
                <a:cs typeface="Consolas" pitchFamily="34" charset="-120"/>
              </a:rPr>
              <a:t>githubnext/agentics</a:t>
            </a:r>
            <a:endParaRPr lang="en-US" sz="3150" dirty="0"/>
          </a:p>
        </p:txBody>
      </p:sp>
      <p:sp>
        <p:nvSpPr>
          <p:cNvPr id="16" name="Shape 14"/>
          <p:cNvSpPr/>
          <p:nvPr/>
        </p:nvSpPr>
        <p:spPr>
          <a:xfrm>
            <a:off x="14835585" y="4222750"/>
            <a:ext cx="1953816" cy="609600"/>
          </a:xfrm>
          <a:prstGeom prst="roundRect">
            <a:avLst>
              <a:gd name="adj" fmla="val 9375"/>
            </a:avLst>
          </a:prstGeom>
          <a:ln w="12700">
            <a:solidFill>
              <a:srgbClr val="B89CFF"/>
            </a:solidFill>
            <a:prstDash val="solid"/>
          </a:ln>
        </p:spPr>
        <p:txBody>
          <a:bodyPr/>
          <a:p/>
        </p:txBody>
      </p:sp>
      <p:sp>
        <p:nvSpPr>
          <p:cNvPr id="17" name="Text 15"/>
          <p:cNvSpPr/>
          <p:nvPr/>
        </p:nvSpPr>
        <p:spPr>
          <a:xfrm>
            <a:off x="15057835" y="4368800"/>
            <a:ext cx="158551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B89CFF"/>
                </a:solidFill>
                <a:latin typeface="Consolas" pitchFamily="34" charset="0"/>
                <a:ea typeface="Consolas" pitchFamily="34" charset="-122"/>
                <a:cs typeface="Consolas" pitchFamily="34" charset="-120"/>
              </a:rPr>
              <a:t>git clone ↵</a:t>
            </a:r>
            <a:endParaRPr lang="en-US" sz="1800" dirty="0"/>
          </a:p>
        </p:txBody>
      </p:sp>
      <p:sp>
        <p:nvSpPr>
          <p:cNvPr id="18" name="Text 16"/>
          <p:cNvSpPr/>
          <p:nvPr/>
        </p:nvSpPr>
        <p:spPr>
          <a:xfrm>
            <a:off x="952500" y="5924550"/>
            <a:ext cx="11772900" cy="8255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7A8294"/>
                </a:solidFill>
                <a:latin typeface="Arial" pitchFamily="34" charset="0"/>
                <a:ea typeface="Arial" pitchFamily="34" charset="-122"/>
                <a:cs typeface="Arial" pitchFamily="34" charset="-120"/>
              </a:rPr>
              <a:t>Each entry is a working </a:t>
            </a:r>
            <a:r>
              <a:rPr lang="en-US" sz="2100" dirty="0">
                <a:solidFill>
                  <a:srgbClr val="B89CFF"/>
                </a:solidFill>
                <a:latin typeface="Consolas" pitchFamily="34" charset="0"/>
                <a:ea typeface="Consolas" pitchFamily="34" charset="-122"/>
                <a:cs typeface="Consolas" pitchFamily="34" charset="-120"/>
              </a:rPr>
              <a:t>*.md </a:t>
            </a:r>
            <a:r>
              <a:rPr lang="en-US" sz="2100" dirty="0">
                <a:solidFill>
                  <a:srgbClr val="7A8294"/>
                </a:solidFill>
                <a:latin typeface="Arial" pitchFamily="34" charset="0"/>
                <a:ea typeface="Arial" pitchFamily="34" charset="-122"/>
                <a:cs typeface="Arial" pitchFamily="34" charset="-120"/>
              </a:rPr>
              <a:t>workflow — copy it into </a:t>
            </a:r>
            <a:r>
              <a:rPr lang="en-US" sz="2100" dirty="0">
                <a:solidFill>
                  <a:srgbClr val="B89CFF"/>
                </a:solidFill>
                <a:latin typeface="Consolas" pitchFamily="34" charset="0"/>
                <a:ea typeface="Consolas" pitchFamily="34" charset="-122"/>
                <a:cs typeface="Consolas" pitchFamily="34" charset="-120"/>
              </a:rPr>
              <a:t>.github/workflows/ </a:t>
            </a:r>
            <a:r>
              <a:rPr lang="en-US" sz="2100" dirty="0">
                <a:solidFill>
                  <a:srgbClr val="7A8294"/>
                </a:solidFill>
                <a:latin typeface="Arial" pitchFamily="34" charset="0"/>
                <a:ea typeface="Arial" pitchFamily="34" charset="-122"/>
                <a:cs typeface="Arial" pitchFamily="34" charset="-120"/>
              </a:rPr>
              <a:t>, compile, commit, run.</a:t>
            </a:r>
            <a:endParaRPr lang="en-US" sz="2100" dirty="0"/>
          </a:p>
        </p:txBody>
      </p:sp>
      <p:sp>
        <p:nvSpPr>
          <p:cNvPr id="19" name="Shape 17"/>
          <p:cNvSpPr/>
          <p:nvPr/>
        </p:nvSpPr>
        <p:spPr>
          <a:xfrm>
            <a:off x="0" y="9779001"/>
            <a:ext cx="18288000" cy="508000"/>
          </a:xfrm>
          <a:prstGeom prst="rect">
            <a:avLst/>
          </a:prstGeom>
          <a:solidFill>
            <a:srgbClr val="11141B"/>
          </a:solidFill>
          <a:ln/>
        </p:spPr>
        <p:txBody>
          <a:bodyPr/>
          <a:p/>
        </p:txBody>
      </p:sp>
      <p:sp>
        <p:nvSpPr>
          <p:cNvPr id="20" name="Shape 18"/>
          <p:cNvSpPr/>
          <p:nvPr/>
        </p:nvSpPr>
        <p:spPr>
          <a:xfrm>
            <a:off x="0" y="9779001"/>
            <a:ext cx="18288000" cy="12700"/>
          </a:xfrm>
          <a:prstGeom prst="rect">
            <a:avLst/>
          </a:prstGeom>
          <a:solidFill>
            <a:srgbClr val="2A3142"/>
          </a:solidFill>
          <a:ln/>
        </p:spPr>
        <p:txBody>
          <a:bodyPr/>
          <a:p/>
        </p:txBody>
      </p:sp>
      <p:sp>
        <p:nvSpPr>
          <p:cNvPr id="21" name="Text 19"/>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agentics</a:t>
            </a:r>
            <a:endParaRPr lang="en-US" sz="1800" dirty="0"/>
          </a:p>
        </p:txBody>
      </p:sp>
      <p:sp>
        <p:nvSpPr>
          <p:cNvPr id="22" name="Text 20"/>
          <p:cNvSpPr/>
          <p:nvPr/>
        </p:nvSpPr>
        <p:spPr>
          <a:xfrm>
            <a:off x="2169319" y="9880600"/>
            <a:ext cx="43796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github.com/githubnext/agentics</a:t>
            </a:r>
            <a:endParaRPr lang="en-US" sz="1800" dirty="0"/>
          </a:p>
        </p:txBody>
      </p:sp>
      <p:sp>
        <p:nvSpPr>
          <p:cNvPr id="23" name="Text 2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10 / 12</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5366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10-demo.sh</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844500" y="1851625"/>
            <a:ext cx="16874490" cy="2387600"/>
          </a:xfrm>
          <a:prstGeom prst="rect">
            <a:avLst/>
          </a:prstGeom>
          <a:noFill/>
          <a:ln/>
        </p:spPr>
        <p:txBody>
          <a:bodyPr wrap="square" lIns="25400" tIns="25400" rIns="25400" bIns="25400" rtlCol="0" anchor="t">
            <a:normAutofit/>
          </a:bodyPr>
          <a:lstStyle/>
          <a:p>
            <a:pPr marL="0" indent="0" algn="l">
              <a:lnSpc>
                <a:spcPct val="100000"/>
              </a:lnSpc>
              <a:buNone/>
            </a:pPr>
            <a:r>
              <a:rPr lang="en-US" sz="16500" i="1" kern="0" spc="-660" dirty="0">
                <a:solidFill>
                  <a:srgbClr val="B89CFF"/>
                </a:solidFill>
                <a:latin typeface="Georgia" pitchFamily="34" charset="0"/>
                <a:ea typeface="Georgia" pitchFamily="34" charset="-122"/>
                <a:cs typeface="Georgia" pitchFamily="34" charset="-120"/>
              </a:rPr>
              <a:t>Demo.</a:t>
            </a:r>
            <a:endParaRPr lang="en-US" sz="16500" dirty="0"/>
          </a:p>
        </p:txBody>
      </p:sp>
      <p:sp>
        <p:nvSpPr>
          <p:cNvPr id="11" name="Text 9"/>
          <p:cNvSpPr/>
          <p:nvPr/>
        </p:nvSpPr>
        <p:spPr>
          <a:xfrm>
            <a:off x="1069500" y="4734375"/>
            <a:ext cx="16874490" cy="406400"/>
          </a:xfrm>
          <a:prstGeom prst="rect">
            <a:avLst/>
          </a:prstGeom>
          <a:noFill/>
          <a:ln/>
        </p:spPr>
        <p:txBody>
          <a:bodyPr wrap="square" lIns="25400" tIns="25400" rIns="25400" bIns="25400" rtlCol="0" anchor="t">
            <a:normAutofit fontScale="92500" lnSpcReduction="10000"/>
          </a:bodyPr>
          <a:lstStyle/>
          <a:p>
            <a:pPr>
              <a:lnSpc>
                <a:spcPct val="140000"/>
              </a:lnSpc>
            </a:pPr>
            <a:r>
              <a:rPr lang="en-US" sz="2100" kern="0" spc="336" dirty="0">
                <a:solidFill>
                  <a:srgbClr val="7A8294"/>
                </a:solidFill>
                <a:latin typeface="Consolas"/>
                <a:ea typeface="Consolas" pitchFamily="34" charset="-122"/>
                <a:cs typeface="Consolas" pitchFamily="34" charset="-120"/>
              </a:rPr>
              <a:t>→ SWITCHING TO THE TERMINAL... Agentic Wor</a:t>
            </a:r>
            <a:r>
              <a:rPr lang="en-US" sz="2100" kern="0" spc="336" dirty="0">
                <a:solidFill>
                  <a:srgbClr val="7A8294"/>
                </a:solidFill>
                <a:latin typeface="Consolas"/>
              </a:rPr>
              <a:t>kflows</a:t>
            </a:r>
            <a:r>
              <a:rPr lang="en-US" sz="2100" kern="0" spc="336">
                <a:solidFill>
                  <a:srgbClr val="7A8294"/>
                </a:solidFill>
                <a:latin typeface="Consolas"/>
                <a:ea typeface="Consolas" pitchFamily="34" charset="-122"/>
                <a:cs typeface="Consolas" pitchFamily="34" charset="-120"/>
              </a:rPr>
              <a:t> with Efficiency Improver  </a:t>
            </a:r>
            <a:r>
              <a:rPr lang="en-US" sz="2100" kern="0" spc="336" dirty="0">
                <a:solidFill>
                  <a:srgbClr val="B89CFF"/>
                </a:solidFill>
                <a:latin typeface="Consolas"/>
                <a:ea typeface="Consolas" pitchFamily="34" charset="-122"/>
                <a:cs typeface="Consolas" pitchFamily="34" charset="-120"/>
              </a:rPr>
              <a:t>▍</a:t>
            </a:r>
            <a:endParaRPr lang="en-US" sz="2100" dirty="0"/>
          </a:p>
        </p:txBody>
      </p:sp>
      <p:sp>
        <p:nvSpPr>
          <p:cNvPr id="12" name="Shape 10"/>
          <p:cNvSpPr/>
          <p:nvPr/>
        </p:nvSpPr>
        <p:spPr>
          <a:xfrm>
            <a:off x="0" y="9779001"/>
            <a:ext cx="18288000" cy="508000"/>
          </a:xfrm>
          <a:prstGeom prst="rect">
            <a:avLst/>
          </a:prstGeom>
          <a:solidFill>
            <a:srgbClr val="11141B"/>
          </a:solidFill>
          <a:ln/>
        </p:spPr>
        <p:txBody>
          <a:bodyPr/>
          <a:p/>
        </p:txBody>
      </p:sp>
      <p:sp>
        <p:nvSpPr>
          <p:cNvPr id="13" name="Shape 11"/>
          <p:cNvSpPr/>
          <p:nvPr/>
        </p:nvSpPr>
        <p:spPr>
          <a:xfrm>
            <a:off x="0" y="9779001"/>
            <a:ext cx="18288000" cy="12700"/>
          </a:xfrm>
          <a:prstGeom prst="rect">
            <a:avLst/>
          </a:prstGeom>
          <a:solidFill>
            <a:srgbClr val="2A3142"/>
          </a:solidFill>
          <a:ln/>
        </p:spPr>
        <p:txBody>
          <a:bodyPr/>
          <a:p/>
        </p:txBody>
      </p:sp>
      <p:sp>
        <p:nvSpPr>
          <p:cNvPr id="14" name="Text 12"/>
          <p:cNvSpPr/>
          <p:nvPr/>
        </p:nvSpPr>
        <p:spPr>
          <a:xfrm>
            <a:off x="304800" y="9880600"/>
            <a:ext cx="10689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demo</a:t>
            </a:r>
            <a:endParaRPr lang="en-US" sz="1800" dirty="0"/>
          </a:p>
        </p:txBody>
      </p:sp>
      <p:sp>
        <p:nvSpPr>
          <p:cNvPr id="15" name="Text 13"/>
          <p:cNvSpPr/>
          <p:nvPr/>
        </p:nvSpPr>
        <p:spPr>
          <a:xfrm>
            <a:off x="1602383" y="9880600"/>
            <a:ext cx="6431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live</a:t>
            </a:r>
            <a:endParaRPr lang="en-US" sz="1800" dirty="0"/>
          </a:p>
        </p:txBody>
      </p:sp>
      <p:sp>
        <p:nvSpPr>
          <p:cNvPr id="16" name="Text 14"/>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11 / 12</a:t>
            </a:r>
            <a:endParaRPr lang="en-US" sz="1800" dirty="0"/>
          </a:p>
        </p:txBody>
      </p:sp>
      <p:sp>
        <p:nvSpPr>
          <p:cNvPr id="19" name="Shape 31">
            <a:extLst>
              <a:ext uri="{FF2B5EF4-FFF2-40B4-BE49-F238E27FC236}">
                <a16:creationId xmlns:a16="http://schemas.microsoft.com/office/drawing/2014/main" id="{D7A93D5F-D890-FCDD-A79D-154A40BDFA3E}"/>
              </a:ext>
            </a:extLst>
          </p:cNvPr>
          <p:cNvSpPr/>
          <p:nvPr/>
        </p:nvSpPr>
        <p:spPr>
          <a:xfrm>
            <a:off x="9572625" y="5870250"/>
            <a:ext cx="7762875" cy="3670300"/>
          </a:xfrm>
          <a:prstGeom prst="roundRect">
            <a:avLst>
              <a:gd name="adj" fmla="val 2076"/>
            </a:avLst>
          </a:prstGeom>
          <a:solidFill>
            <a:srgbClr val="161A23"/>
          </a:solidFill>
          <a:ln w="12700">
            <a:solidFill>
              <a:srgbClr val="2A3142"/>
            </a:solidFill>
            <a:prstDash val="solid"/>
          </a:ln>
        </p:spPr>
        <p:txBody>
          <a:bodyPr/>
          <a:p/>
        </p:txBody>
      </p:sp>
      <p:sp>
        <p:nvSpPr>
          <p:cNvPr id="21" name="Shape 32">
            <a:extLst>
              <a:ext uri="{FF2B5EF4-FFF2-40B4-BE49-F238E27FC236}">
                <a16:creationId xmlns:a16="http://schemas.microsoft.com/office/drawing/2014/main" id="{6BAF6E74-C88B-96ED-4B1B-E5F3EB3075B0}"/>
              </a:ext>
            </a:extLst>
          </p:cNvPr>
          <p:cNvSpPr/>
          <p:nvPr/>
        </p:nvSpPr>
        <p:spPr>
          <a:xfrm>
            <a:off x="9585325" y="5882950"/>
            <a:ext cx="7737475" cy="596900"/>
          </a:xfrm>
          <a:prstGeom prst="rect">
            <a:avLst/>
          </a:prstGeom>
          <a:solidFill>
            <a:srgbClr val="1C2230"/>
          </a:solidFill>
          <a:ln/>
        </p:spPr>
        <p:txBody>
          <a:bodyPr/>
          <a:p/>
        </p:txBody>
      </p:sp>
      <p:sp>
        <p:nvSpPr>
          <p:cNvPr id="23" name="Shape 33">
            <a:extLst>
              <a:ext uri="{FF2B5EF4-FFF2-40B4-BE49-F238E27FC236}">
                <a16:creationId xmlns:a16="http://schemas.microsoft.com/office/drawing/2014/main" id="{3BF3ED3A-F62A-8BA2-FC23-682E72FC223D}"/>
              </a:ext>
            </a:extLst>
          </p:cNvPr>
          <p:cNvSpPr/>
          <p:nvPr/>
        </p:nvSpPr>
        <p:spPr>
          <a:xfrm>
            <a:off x="9585325" y="6467150"/>
            <a:ext cx="7737475" cy="12700"/>
          </a:xfrm>
          <a:prstGeom prst="rect">
            <a:avLst/>
          </a:prstGeom>
          <a:solidFill>
            <a:srgbClr val="2A3142"/>
          </a:solidFill>
          <a:ln/>
        </p:spPr>
        <p:txBody>
          <a:bodyPr/>
          <a:p/>
        </p:txBody>
      </p:sp>
      <p:sp>
        <p:nvSpPr>
          <p:cNvPr id="25" name="Shape 34">
            <a:extLst>
              <a:ext uri="{FF2B5EF4-FFF2-40B4-BE49-F238E27FC236}">
                <a16:creationId xmlns:a16="http://schemas.microsoft.com/office/drawing/2014/main" id="{D9390BD2-2686-EB41-6DC2-22573E9E23F0}"/>
              </a:ext>
            </a:extLst>
          </p:cNvPr>
          <p:cNvSpPr/>
          <p:nvPr/>
        </p:nvSpPr>
        <p:spPr>
          <a:xfrm>
            <a:off x="9794875" y="6117900"/>
            <a:ext cx="114300" cy="114300"/>
          </a:xfrm>
          <a:prstGeom prst="ellipse">
            <a:avLst/>
          </a:prstGeom>
          <a:solidFill>
            <a:srgbClr val="3A4357"/>
          </a:solidFill>
          <a:ln/>
        </p:spPr>
        <p:txBody>
          <a:bodyPr/>
          <a:p/>
        </p:txBody>
      </p:sp>
      <p:sp>
        <p:nvSpPr>
          <p:cNvPr id="27" name="Shape 35">
            <a:extLst>
              <a:ext uri="{FF2B5EF4-FFF2-40B4-BE49-F238E27FC236}">
                <a16:creationId xmlns:a16="http://schemas.microsoft.com/office/drawing/2014/main" id="{22C42051-D2F3-1D74-7229-6976F2B3727D}"/>
              </a:ext>
            </a:extLst>
          </p:cNvPr>
          <p:cNvSpPr/>
          <p:nvPr/>
        </p:nvSpPr>
        <p:spPr>
          <a:xfrm>
            <a:off x="9985375" y="6117900"/>
            <a:ext cx="114300" cy="114300"/>
          </a:xfrm>
          <a:prstGeom prst="ellipse">
            <a:avLst/>
          </a:prstGeom>
          <a:solidFill>
            <a:srgbClr val="3A4357"/>
          </a:solidFill>
          <a:ln/>
        </p:spPr>
        <p:txBody>
          <a:bodyPr/>
          <a:p/>
        </p:txBody>
      </p:sp>
      <p:sp>
        <p:nvSpPr>
          <p:cNvPr id="29" name="Shape 36">
            <a:extLst>
              <a:ext uri="{FF2B5EF4-FFF2-40B4-BE49-F238E27FC236}">
                <a16:creationId xmlns:a16="http://schemas.microsoft.com/office/drawing/2014/main" id="{0E7BF0F9-6870-0B6D-054F-5C8A0A97578A}"/>
              </a:ext>
            </a:extLst>
          </p:cNvPr>
          <p:cNvSpPr/>
          <p:nvPr/>
        </p:nvSpPr>
        <p:spPr>
          <a:xfrm>
            <a:off x="10175875" y="6117900"/>
            <a:ext cx="114300" cy="114300"/>
          </a:xfrm>
          <a:prstGeom prst="ellipse">
            <a:avLst/>
          </a:prstGeom>
          <a:solidFill>
            <a:srgbClr val="3A4357"/>
          </a:solidFill>
          <a:ln/>
        </p:spPr>
        <p:txBody>
          <a:bodyPr/>
          <a:p/>
        </p:txBody>
      </p:sp>
      <p:sp>
        <p:nvSpPr>
          <p:cNvPr id="31" name="Text 37">
            <a:extLst>
              <a:ext uri="{FF2B5EF4-FFF2-40B4-BE49-F238E27FC236}">
                <a16:creationId xmlns:a16="http://schemas.microsoft.com/office/drawing/2014/main" id="{E337B5ED-9191-4C72-B6D1-5E91545CE2AC}"/>
              </a:ext>
            </a:extLst>
          </p:cNvPr>
          <p:cNvSpPr/>
          <p:nvPr/>
        </p:nvSpPr>
        <p:spPr>
          <a:xfrm>
            <a:off x="10423525" y="6016300"/>
            <a:ext cx="1722239" cy="355600"/>
          </a:xfrm>
          <a:prstGeom prst="rect">
            <a:avLst/>
          </a:prstGeom>
          <a:noFill/>
          <a:ln/>
        </p:spPr>
        <p:txBody>
          <a:bodyPr wrap="square" lIns="25400" tIns="25400" rIns="25400" bIns="25400" rtlCol="0" anchor="t">
            <a:no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~/work — zsh</a:t>
            </a:r>
            <a:endParaRPr lang="en-US" sz="1950" dirty="0"/>
          </a:p>
        </p:txBody>
      </p:sp>
      <p:sp>
        <p:nvSpPr>
          <p:cNvPr id="33" name="Text 38">
            <a:extLst>
              <a:ext uri="{FF2B5EF4-FFF2-40B4-BE49-F238E27FC236}">
                <a16:creationId xmlns:a16="http://schemas.microsoft.com/office/drawing/2014/main" id="{E06BB5CA-C1D1-4D4B-5D45-45372B9C61B5}"/>
              </a:ext>
            </a:extLst>
          </p:cNvPr>
          <p:cNvSpPr/>
          <p:nvPr/>
        </p:nvSpPr>
        <p:spPr>
          <a:xfrm>
            <a:off x="9852025" y="6746550"/>
            <a:ext cx="7420198" cy="457200"/>
          </a:xfrm>
          <a:prstGeom prst="rect">
            <a:avLst/>
          </a:prstGeom>
          <a:noFill/>
          <a:ln/>
        </p:spPr>
        <p:txBody>
          <a:bodyPr wrap="square" lIns="25400" tIns="25400" rIns="25400" bIns="25400" rtlCol="0" anchor="t">
            <a:noAutofit/>
          </a:bodyPr>
          <a:lstStyle/>
          <a:p>
            <a:pPr marL="0" indent="0" algn="l">
              <a:lnSpc>
                <a:spcPct val="170000"/>
              </a:lnSpc>
              <a:buNone/>
            </a:pPr>
            <a:r>
              <a:rPr lang="en-US" sz="1950" baseline="0" dirty="0">
                <a:solidFill>
                  <a:srgbClr val="7A8294"/>
                </a:solidFill>
                <a:latin typeface="Consolas"/>
              </a:rPr>
              <a:t># installs the </a:t>
            </a:r>
            <a:r>
              <a:rPr lang="en-US" sz="1950" baseline="0" dirty="0" err="1">
                <a:solidFill>
                  <a:srgbClr val="7A8294"/>
                </a:solidFill>
                <a:latin typeface="Consolas"/>
              </a:rPr>
              <a:t>gh</a:t>
            </a:r>
            <a:r>
              <a:rPr lang="en-US" sz="1950" baseline="0" dirty="0">
                <a:solidFill>
                  <a:srgbClr val="7A8294"/>
                </a:solidFill>
                <a:latin typeface="Consolas"/>
              </a:rPr>
              <a:t>-aw CLI extension</a:t>
            </a:r>
            <a:endParaRPr lang="en-US" sz="1950" dirty="0">
              <a:solidFill>
                <a:srgbClr val="C6C4BC"/>
              </a:solidFill>
              <a:latin typeface="Consolas"/>
            </a:endParaRPr>
          </a:p>
        </p:txBody>
      </p:sp>
      <p:sp>
        <p:nvSpPr>
          <p:cNvPr id="35" name="Text 39">
            <a:extLst>
              <a:ext uri="{FF2B5EF4-FFF2-40B4-BE49-F238E27FC236}">
                <a16:creationId xmlns:a16="http://schemas.microsoft.com/office/drawing/2014/main" id="{7233C66A-04AF-051B-F79C-9CA36E641287}"/>
              </a:ext>
            </a:extLst>
          </p:cNvPr>
          <p:cNvSpPr/>
          <p:nvPr/>
        </p:nvSpPr>
        <p:spPr>
          <a:xfrm>
            <a:off x="9852025" y="7299000"/>
            <a:ext cx="7420198" cy="457200"/>
          </a:xfrm>
          <a:prstGeom prst="rect">
            <a:avLst/>
          </a:prstGeom>
          <a:noFill/>
          <a:ln/>
        </p:spPr>
        <p:txBody>
          <a:bodyPr wrap="square" lIns="25400" tIns="25400" rIns="25400" bIns="25400" rtlCol="0" anchor="t">
            <a:noAutofit/>
          </a:bodyPr>
          <a:lstStyle/>
          <a:p>
            <a:pPr>
              <a:lnSpc>
                <a:spcPct val="170000"/>
              </a:lnSpc>
            </a:pPr>
            <a:r>
              <a:rPr lang="en-US" sz="1950" dirty="0">
                <a:solidFill>
                  <a:srgbClr val="B89CFF"/>
                </a:solidFill>
                <a:latin typeface="Consolas"/>
                <a:ea typeface="Consolas" pitchFamily="34" charset="-122"/>
                <a:cs typeface="Consolas" pitchFamily="34" charset="-120"/>
              </a:rPr>
              <a:t>$ </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 extension install </a:t>
            </a:r>
            <a:r>
              <a:rPr lang="en-US" sz="1950" dirty="0" err="1">
                <a:solidFill>
                  <a:srgbClr val="C6C4BC"/>
                </a:solidFill>
                <a:latin typeface="Consolas"/>
                <a:ea typeface="Consolas" pitchFamily="34" charset="-122"/>
                <a:cs typeface="Consolas" pitchFamily="34" charset="-120"/>
              </a:rPr>
              <a:t>github</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-aw</a:t>
            </a:r>
            <a:endParaRPr lang="en-US" sz="1950" dirty="0"/>
          </a:p>
        </p:txBody>
      </p:sp>
      <p:sp>
        <p:nvSpPr>
          <p:cNvPr id="37" name="Text 40">
            <a:extLst>
              <a:ext uri="{FF2B5EF4-FFF2-40B4-BE49-F238E27FC236}">
                <a16:creationId xmlns:a16="http://schemas.microsoft.com/office/drawing/2014/main" id="{03F411B2-C2EC-0CFC-B0D2-872FA622370D}"/>
              </a:ext>
            </a:extLst>
          </p:cNvPr>
          <p:cNvSpPr/>
          <p:nvPr/>
        </p:nvSpPr>
        <p:spPr>
          <a:xfrm>
            <a:off x="9852025" y="7718100"/>
            <a:ext cx="7420198" cy="457200"/>
          </a:xfrm>
          <a:prstGeom prst="rect">
            <a:avLst/>
          </a:prstGeom>
          <a:noFill/>
          <a:ln/>
        </p:spPr>
        <p:txBody>
          <a:bodyPr wrap="square" lIns="25400" tIns="25400" rIns="25400" bIns="25400" rtlCol="0" anchor="t">
            <a:noAutofit/>
          </a:bodyPr>
          <a:lstStyle/>
          <a:p>
            <a:pPr>
              <a:lnSpc>
                <a:spcPct val="170000"/>
              </a:lnSpc>
            </a:pPr>
            <a:r>
              <a:rPr lang="en-US" sz="1950">
                <a:solidFill>
                  <a:srgbClr val="7A8294"/>
                </a:solidFill>
                <a:latin typeface="Consolas"/>
                <a:ea typeface="Calibri"/>
                <a:cs typeface="Calibri"/>
              </a:rPr>
              <a:t># add the agentic workflow to your repository</a:t>
            </a:r>
          </a:p>
        </p:txBody>
      </p:sp>
      <p:sp>
        <p:nvSpPr>
          <p:cNvPr id="39" name="Text 41">
            <a:extLst>
              <a:ext uri="{FF2B5EF4-FFF2-40B4-BE49-F238E27FC236}">
                <a16:creationId xmlns:a16="http://schemas.microsoft.com/office/drawing/2014/main" id="{D4E423FE-263F-B8D1-35C3-157374FE09DA}"/>
              </a:ext>
            </a:extLst>
          </p:cNvPr>
          <p:cNvSpPr/>
          <p:nvPr/>
        </p:nvSpPr>
        <p:spPr>
          <a:xfrm>
            <a:off x="9852025" y="8270550"/>
            <a:ext cx="7420198" cy="457200"/>
          </a:xfrm>
          <a:prstGeom prst="rect">
            <a:avLst/>
          </a:prstGeom>
          <a:noFill/>
          <a:ln/>
        </p:spPr>
        <p:txBody>
          <a:bodyPr wrap="square" lIns="25400" tIns="25400" rIns="25400" bIns="25400" rtlCol="0" anchor="t">
            <a:normAutofit fontScale="85000" lnSpcReduction="10000"/>
          </a:bodyPr>
          <a:lstStyle/>
          <a:p>
            <a:pPr>
              <a:lnSpc>
                <a:spcPct val="170000"/>
              </a:lnSpc>
            </a:pPr>
            <a:r>
              <a:rPr lang="en-US" sz="1950" dirty="0">
                <a:solidFill>
                  <a:srgbClr val="B89CFF"/>
                </a:solidFill>
                <a:latin typeface="Consolas"/>
                <a:ea typeface="Consolas" pitchFamily="34" charset="-122"/>
                <a:cs typeface="Consolas" pitchFamily="34" charset="-120"/>
              </a:rPr>
              <a:t>$ </a:t>
            </a:r>
            <a:r>
              <a:rPr lang="en-US" sz="1950" dirty="0">
                <a:solidFill>
                  <a:srgbClr val="C6C4BC"/>
                </a:solidFill>
                <a:latin typeface="Consolas"/>
                <a:ea typeface="Consolas" pitchFamily="34" charset="-122"/>
                <a:cs typeface="Consolas" pitchFamily="34" charset="-120"/>
              </a:rPr>
              <a:t> </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 aw add-wizard </a:t>
            </a:r>
            <a:r>
              <a:rPr lang="en-US" sz="1950" dirty="0" err="1">
                <a:solidFill>
                  <a:srgbClr val="C6C4BC"/>
                </a:solidFill>
                <a:latin typeface="Consolas"/>
                <a:ea typeface="Consolas" pitchFamily="34" charset="-122"/>
                <a:cs typeface="Consolas" pitchFamily="34" charset="-120"/>
              </a:rPr>
              <a:t>githubnext</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agentics</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efficiency</a:t>
            </a:r>
            <a:r>
              <a:rPr lang="en-US" sz="1950" dirty="0">
                <a:solidFill>
                  <a:srgbClr val="C6C4BC"/>
                </a:solidFill>
                <a:latin typeface="Consolas"/>
                <a:ea typeface="Consolas" pitchFamily="34" charset="-122"/>
                <a:cs typeface="Consolas" pitchFamily="34" charset="-120"/>
              </a:rPr>
              <a:t>-improver</a:t>
            </a:r>
            <a:endParaRPr lang="en-US" sz="1950" dirty="0">
              <a:solidFill>
                <a:srgbClr val="E8E6DF"/>
              </a:solidFill>
              <a:latin typeface="Consolas"/>
            </a:endParaRPr>
          </a:p>
        </p:txBody>
      </p:sp>
      <p:sp>
        <p:nvSpPr>
          <p:cNvPr id="41" name="Text 42">
            <a:extLst>
              <a:ext uri="{FF2B5EF4-FFF2-40B4-BE49-F238E27FC236}">
                <a16:creationId xmlns:a16="http://schemas.microsoft.com/office/drawing/2014/main" id="{274469DA-78A5-9FF0-E56F-AF7761782239}"/>
              </a:ext>
            </a:extLst>
          </p:cNvPr>
          <p:cNvSpPr/>
          <p:nvPr/>
        </p:nvSpPr>
        <p:spPr>
          <a:xfrm>
            <a:off x="9852025" y="8823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6DC287"/>
                </a:solidFill>
                <a:latin typeface="Consolas" pitchFamily="34" charset="0"/>
                <a:ea typeface="Consolas" pitchFamily="34" charset="-122"/>
                <a:cs typeface="Consolas" pitchFamily="34" charset="-120"/>
              </a:rPr>
              <a:t>✓ ready</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txBody>
          <a:bodyPr/>
          <a:p/>
        </p:txBody>
      </p:sp>
      <p:sp>
        <p:nvSpPr>
          <p:cNvPr id="3" name="Shape 1"/>
          <p:cNvSpPr/>
          <p:nvPr/>
        </p:nvSpPr>
        <p:spPr>
          <a:xfrm>
            <a:off x="0" y="533400"/>
            <a:ext cx="18288000" cy="12700"/>
          </a:xfrm>
          <a:prstGeom prst="rect">
            <a:avLst/>
          </a:prstGeom>
          <a:solidFill>
            <a:srgbClr val="2A3142"/>
          </a:solidFill>
          <a:ln/>
        </p:spPr>
        <p:txBody>
          <a:bodyPr/>
          <a:p/>
        </p:txBody>
      </p:sp>
      <p:sp>
        <p:nvSpPr>
          <p:cNvPr id="4" name="Shape 2"/>
          <p:cNvSpPr/>
          <p:nvPr/>
        </p:nvSpPr>
        <p:spPr>
          <a:xfrm>
            <a:off x="304800" y="200025"/>
            <a:ext cx="133350" cy="133350"/>
          </a:xfrm>
          <a:prstGeom prst="ellipse">
            <a:avLst/>
          </a:prstGeom>
          <a:solidFill>
            <a:srgbClr val="B6644A"/>
          </a:solidFill>
          <a:ln/>
        </p:spPr>
        <p:txBody>
          <a:bodyPr/>
          <a:p/>
        </p:txBody>
      </p:sp>
      <p:sp>
        <p:nvSpPr>
          <p:cNvPr id="5" name="Shape 3"/>
          <p:cNvSpPr/>
          <p:nvPr/>
        </p:nvSpPr>
        <p:spPr>
          <a:xfrm>
            <a:off x="533400" y="200025"/>
            <a:ext cx="133350" cy="133350"/>
          </a:xfrm>
          <a:prstGeom prst="ellipse">
            <a:avLst/>
          </a:prstGeom>
          <a:solidFill>
            <a:srgbClr val="B69A4A"/>
          </a:solidFill>
          <a:ln/>
        </p:spPr>
        <p:txBody>
          <a:bodyPr/>
          <a:p/>
        </p:txBody>
      </p:sp>
      <p:sp>
        <p:nvSpPr>
          <p:cNvPr id="6" name="Shape 4"/>
          <p:cNvSpPr/>
          <p:nvPr/>
        </p:nvSpPr>
        <p:spPr>
          <a:xfrm>
            <a:off x="762000" y="200025"/>
            <a:ext cx="133350" cy="133350"/>
          </a:xfrm>
          <a:prstGeom prst="ellipse">
            <a:avLst/>
          </a:prstGeom>
          <a:solidFill>
            <a:srgbClr val="6B9A6A"/>
          </a:solidFill>
          <a:ln/>
        </p:spPr>
        <p:txBody>
          <a:bodyPr/>
          <a:p/>
        </p:txBody>
      </p:sp>
      <p:sp>
        <p:nvSpPr>
          <p:cNvPr id="7" name="Text 5"/>
          <p:cNvSpPr/>
          <p:nvPr/>
        </p:nvSpPr>
        <p:spPr>
          <a:xfrm>
            <a:off x="1066800" y="107950"/>
            <a:ext cx="482852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11-thanks.md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generally available</a:t>
            </a:r>
            <a:endParaRPr lang="en-US" sz="1800" dirty="0"/>
          </a:p>
        </p:txBody>
      </p:sp>
      <p:sp>
        <p:nvSpPr>
          <p:cNvPr id="10" name="Text 8"/>
          <p:cNvSpPr/>
          <p:nvPr/>
        </p:nvSpPr>
        <p:spPr>
          <a:xfrm>
            <a:off x="952500" y="1793875"/>
            <a:ext cx="16874490" cy="4483100"/>
          </a:xfrm>
          <a:prstGeom prst="rect">
            <a:avLst/>
          </a:prstGeom>
          <a:noFill/>
          <a:ln/>
        </p:spPr>
        <p:txBody>
          <a:bodyPr wrap="square" lIns="25400" tIns="25400" rIns="25400" bIns="25400" rtlCol="0" anchor="t">
            <a:normAutofit/>
          </a:bodyPr>
          <a:lstStyle/>
          <a:p>
            <a:pPr marL="0" indent="0" algn="l">
              <a:lnSpc>
                <a:spcPct val="100000"/>
              </a:lnSpc>
              <a:buNone/>
            </a:pPr>
            <a:r>
              <a:rPr lang="en-US" sz="16500" kern="0" spc="-660" dirty="0">
                <a:solidFill>
                  <a:srgbClr val="E8E6DF"/>
                </a:solidFill>
                <a:latin typeface="Arial" pitchFamily="34" charset="0"/>
                <a:ea typeface="Arial" pitchFamily="34" charset="-122"/>
                <a:cs typeface="Arial" pitchFamily="34" charset="-120"/>
              </a:rPr>
              <a:t>Thank </a:t>
            </a:r>
            <a:r>
              <a:rPr lang="en-US" sz="16500" i="1" kern="0" spc="-660" dirty="0">
                <a:solidFill>
                  <a:srgbClr val="B89CFF"/>
                </a:solidFill>
                <a:latin typeface="Georgia" pitchFamily="34" charset="0"/>
                <a:ea typeface="Georgia" pitchFamily="34" charset="-122"/>
                <a:cs typeface="Georgia" pitchFamily="34" charset="-120"/>
              </a:rPr>
              <a:t>you.</a:t>
            </a:r>
            <a:endParaRPr lang="en-US" sz="16500" dirty="0"/>
          </a:p>
        </p:txBody>
      </p:sp>
      <p:sp>
        <p:nvSpPr>
          <p:cNvPr id="11" name="Text 9"/>
          <p:cNvSpPr/>
          <p:nvPr/>
        </p:nvSpPr>
        <p:spPr>
          <a:xfrm>
            <a:off x="952500" y="7096125"/>
            <a:ext cx="16874490" cy="4064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kern="0" spc="336">
                <a:solidFill>
                  <a:srgbClr val="7A8294"/>
                </a:solidFill>
                <a:latin typeface="Consolas"/>
                <a:ea typeface="Consolas" pitchFamily="34" charset="-122"/>
                <a:cs typeface="Consolas" pitchFamily="34" charset="-120"/>
              </a:rPr>
              <a:t>// QUESTIONS?</a:t>
            </a:r>
            <a:endParaRPr lang="en-US" sz="2100">
              <a:latin typeface="Consolas"/>
            </a:endParaRPr>
          </a:p>
        </p:txBody>
      </p:sp>
      <p:sp>
        <p:nvSpPr>
          <p:cNvPr id="12" name="Shape 10"/>
          <p:cNvSpPr/>
          <p:nvPr/>
        </p:nvSpPr>
        <p:spPr>
          <a:xfrm>
            <a:off x="0" y="9779001"/>
            <a:ext cx="18288000" cy="508000"/>
          </a:xfrm>
          <a:prstGeom prst="rect">
            <a:avLst/>
          </a:prstGeom>
          <a:solidFill>
            <a:srgbClr val="11141B"/>
          </a:solidFill>
          <a:ln/>
        </p:spPr>
        <p:txBody>
          <a:bodyPr/>
          <a:p/>
        </p:txBody>
      </p:sp>
      <p:sp>
        <p:nvSpPr>
          <p:cNvPr id="13" name="Shape 11"/>
          <p:cNvSpPr/>
          <p:nvPr/>
        </p:nvSpPr>
        <p:spPr>
          <a:xfrm>
            <a:off x="0" y="9779001"/>
            <a:ext cx="18288000" cy="12700"/>
          </a:xfrm>
          <a:prstGeom prst="rect">
            <a:avLst/>
          </a:prstGeom>
          <a:solidFill>
            <a:srgbClr val="2A3142"/>
          </a:solidFill>
          <a:ln/>
        </p:spPr>
        <p:txBody>
          <a:bodyPr/>
          <a:p/>
        </p:txBody>
      </p:sp>
      <p:sp>
        <p:nvSpPr>
          <p:cNvPr id="14" name="Text 12"/>
          <p:cNvSpPr/>
          <p:nvPr/>
        </p:nvSpPr>
        <p:spPr>
          <a:xfrm>
            <a:off x="304800" y="9880600"/>
            <a:ext cx="927100"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q&amp;a</a:t>
            </a:r>
            <a:endParaRPr lang="en-US" sz="1800" dirty="0"/>
          </a:p>
        </p:txBody>
      </p:sp>
      <p:sp>
        <p:nvSpPr>
          <p:cNvPr id="15" name="Text 13"/>
          <p:cNvSpPr/>
          <p:nvPr/>
        </p:nvSpPr>
        <p:spPr>
          <a:xfrm>
            <a:off x="1460500" y="9880600"/>
            <a:ext cx="4817487"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gh extension install github/gh-aw</a:t>
            </a:r>
            <a:endParaRPr lang="en-US" sz="1800" dirty="0"/>
          </a:p>
        </p:txBody>
      </p:sp>
      <p:sp>
        <p:nvSpPr>
          <p:cNvPr id="16" name="Text 14"/>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12 / 12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83</cp:revision>
  <dcterms:created xsi:type="dcterms:W3CDTF">2026-05-26T21:25:37Z</dcterms:created>
  <dcterms:modified xsi:type="dcterms:W3CDTF">2026-05-26T22:11:07Z</dcterms:modified>
</cp:coreProperties>
</file>