
<file path=[Content_Types].xml><?xml version="1.0" encoding="utf-8"?>
<Types xmlns="http://schemas.openxmlformats.org/package/2006/content-types">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43746F-B389-1DF3-CDC3-CB32A4F05BED}" v="209" dt="2026-05-26T22:09:12.534"/>
    <p1510:client id="{FC2D189A-6FEC-C6EE-FD07-62817EC11889}" v="45" dt="2026-05-26T21:36:52.2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457700" cy="917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827713" y="0"/>
            <a:ext cx="4457700" cy="917575"/>
          </a:xfrm>
          <a:prstGeom prst="rect">
            <a:avLst/>
          </a:prstGeom>
        </p:spPr>
        <p:txBody>
          <a:bodyPr vert="horz" lIns="91440" tIns="45720" rIns="91440" bIns="45720" rtlCol="0"/>
          <a:lstStyle>
            <a:lvl1pPr algn="r">
              <a:defRPr sz="1200"/>
            </a:lvl1pPr>
          </a:lstStyle>
          <a:p>
            <a:fld id="{33548A3E-2E33-48B3-98A6-606A797F5B4E}" type="datetimeFigureOut">
              <a:t>5/26/2026</a:t>
            </a:fld>
            <a:endParaRPr lang="en-US"/>
          </a:p>
        </p:txBody>
      </p:sp>
      <p:sp>
        <p:nvSpPr>
          <p:cNvPr id="4" name="Slide Image Placeholder 3"/>
          <p:cNvSpPr>
            <a:spLocks noGrp="1" noRot="1" noChangeAspect="1"/>
          </p:cNvSpPr>
          <p:nvPr>
            <p:ph type="sldImg" idx="2"/>
          </p:nvPr>
        </p:nvSpPr>
        <p:spPr>
          <a:xfrm>
            <a:off x="-342900" y="2286000"/>
            <a:ext cx="10972800" cy="61722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028700" y="8801100"/>
            <a:ext cx="8229600" cy="72009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7372013"/>
            <a:ext cx="4457700" cy="9159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827713" y="17372013"/>
            <a:ext cx="4457700" cy="915987"/>
          </a:xfrm>
          <a:prstGeom prst="rect">
            <a:avLst/>
          </a:prstGeom>
        </p:spPr>
        <p:txBody>
          <a:bodyPr vert="horz" lIns="91440" tIns="45720" rIns="91440" bIns="45720" rtlCol="0" anchor="b"/>
          <a:lstStyle>
            <a:lvl1pPr algn="r">
              <a:defRPr sz="1200"/>
            </a:lvl1pPr>
          </a:lstStyle>
          <a:p>
            <a:fld id="{781AFF1D-6B48-460F-83A2-6A6AC4862352}" type="slidenum">
              <a:t>‹#›</a:t>
            </a:fld>
            <a:endParaRPr lang="en-US"/>
          </a:p>
        </p:txBody>
      </p:sp>
    </p:spTree>
    <p:extLst>
      <p:ext uri="{BB962C8B-B14F-4D97-AF65-F5344CB8AC3E}">
        <p14:creationId xmlns:p14="http://schemas.microsoft.com/office/powerpoint/2010/main" val="4236704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github.com/v-thlewis/agentic-efficiency-improver-fieldguide"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I want to share something GitHub has been working on — a project we're calling Agentic Workflows. It's now generally available, so think of this as a look at where we believe CI/CD is heading. I'll walk through the idea, show you how it works, and then we'll do a live demo.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plan for the next twenty minutes. I'll start with a bit of context — how we got from automation to intelligence. Then I'll dig into what Agentic Workflows actually are and how you'd use them. We'll do a demo, and then leave plenty of time for questions at the end.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set the stage. Eight years ago GitHub Actions launched, and that gave teams a way to automate everything around the code. Then Copilot brought intelligence into the editor. Last year the Coding Agent shipped — software engineering agents that can take on whole tasks. What we're discussing today is the next step on that line: intelligence baked directly into the workflows themselves. Not just automation that runs, but automation that thinks.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it? Agentic Workflows is a way to safely combine GitHub Actions with software-engineering agents, driven from a small CLI extension. If you have a repo, Actions enabled, and the GitHub CLI, you install one extension and you're set up. We default to Copilot for the AI backend, but the design is engine-agnostic.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Configuration lives in frontmatter — the same YAML header pattern people already know. The only required field is the trigger. Everything else — which engine, what tools the agent can use, what permissions it has, what it's allowed to output — is optional and explicit. The goal was to make the common case one line and the careful case fully auditable.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itself is just markdown. You write what you want the agent to do in plain natural language, then you compile that markdown into a standard Actions YAML file. The compile step is important — it validates the workflow and produces a lock file you can review, diff, and commit. Nothing runs that hasn't been compiled.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once it's running, three things change compared to traditional CI. The workflow can read the repo, the issues, the pull requests, and use that context. It can make decisions based on what it sees, not just match preset conditions. And it stays on course — it understands the concepts you're working in, not just the primitives it has access to.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was the first design constraint, not the last. The agent itself runs read-only — it can look, but it can't act. Anything it produces goes through threat detection that scans for prompt injection and other issues. And the actions it proposes — opening a PR, posting a comment — run in isolated containers as safe outputs. Three layers, each one independent.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you have this primitive, patterns emerge. Reactive workflows that respond to issues and PRs. Scheduled workflows that do daily analysis. Workflows that read project data and update state. And orchestration workflows that coordinate across repos. We've started calling this whole space Continuous AI — and we've documented design patterns for each of these.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also published a collection of ready-made workflows called </a:t>
            </a:r>
            <a:r>
              <a:rPr lang="en-US" dirty="0" err="1"/>
              <a:t>Agentics</a:t>
            </a:r>
            <a:r>
              <a:rPr lang="en-US" dirty="0"/>
              <a:t>. It's a good place to start if you want to see real examples and copy something working into your repo. Link is on the slide at the bottom.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 let's stop talking about it and look at one running. I'll switch to my terminal...</a:t>
            </a:r>
            <a:endParaRPr lang="en-US" dirty="0">
              <a:ea typeface="Calibri" panose="020F0502020204030204"/>
              <a:cs typeface="Calibri" panose="020F0502020204030204"/>
            </a:endParaRPr>
          </a:p>
          <a:p>
            <a:endParaRPr lang="en-US" dirty="0">
              <a:ea typeface="Calibri" panose="020F0502020204030204"/>
              <a:cs typeface="Calibri" panose="020F0502020204030204"/>
            </a:endParaRPr>
          </a:p>
          <a:p>
            <a:r>
              <a:rPr lang="en-US" dirty="0">
                <a:ea typeface="Calibri" panose="020F0502020204030204"/>
                <a:cs typeface="Calibri" panose="020F0502020204030204"/>
              </a:rPr>
              <a:t>You can use the demo walkthrough within the agentic-efficiency-improver-</a:t>
            </a:r>
            <a:r>
              <a:rPr lang="en-US" dirty="0" err="1">
                <a:ea typeface="Calibri" panose="020F0502020204030204"/>
                <a:cs typeface="Calibri" panose="020F0502020204030204"/>
              </a:rPr>
              <a:t>fieldguide</a:t>
            </a:r>
            <a:r>
              <a:rPr lang="en-US" dirty="0">
                <a:ea typeface="Calibri" panose="020F0502020204030204"/>
                <a:cs typeface="Calibri" panose="020F0502020204030204"/>
              </a:rPr>
              <a:t> repo at </a:t>
            </a:r>
            <a:r>
              <a:rPr lang="en-US" dirty="0">
                <a:hlinkClick r:id="rId3"/>
              </a:rPr>
              <a:t>https://github.com/v-thlewis/agentic-efficiency-improver-fieldguide</a:t>
            </a:r>
            <a:r>
              <a:rPr lang="en-US" dirty="0"/>
              <a:t>.</a:t>
            </a:r>
            <a:endParaRPr lang="en-US" dirty="0">
              <a:ea typeface="Calibri" panose="020F0502020204030204"/>
              <a:cs typeface="Calibri" panose="020F0502020204030204"/>
            </a:endParaRP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everything from me. Happy to take questions — about the CLI, the security model, the engines we support, or anything else.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D12"/>
        </a:solidFill>
        <a:effectLst/>
      </p:bgPr>
    </p:bg>
    <p:spTree>
      <p:nvGrpSpPr>
        <p:cNvPr id="1" name=""/>
        <p:cNvGrpSpPr/>
        <p:nvPr/>
      </p:nvGrpSpPr>
      <p:grpSpPr>
        <a:xfrm>
          <a:off x="0" y="0"/>
          <a:ext cx="0" cy="0"/>
          <a:chOff x="0" y="0"/>
          <a:chExt cx="0" cy="0"/>
        </a:xfrm>
      </p:grpSpPr>
      <p:sp>
        <p:nvSpPr>
          <p:cNvPr id="2" name="Shape 0"/>
          <p:cNvSpPr/>
          <p:nvPr/>
        </p:nvSpPr>
        <p:spPr>
          <a:xfrm>
            <a:off x="0" y="0"/>
            <a:ext cx="18288000" cy="546100"/>
          </a:xfrm>
          <a:prstGeom prst="rect">
            <a:avLst/>
          </a:prstGeom>
          <a:solidFill>
            <a:srgbClr val="11141B"/>
          </a:solidFill>
          <a:ln/>
        </p:spPr>
        <p:txBody>
          <a:bodyPr/>
          <a:p/>
        </p:txBody>
      </p:sp>
      <p:sp>
        <p:nvSpPr>
          <p:cNvPr id="3" name="Shape 1"/>
          <p:cNvSpPr/>
          <p:nvPr/>
        </p:nvSpPr>
        <p:spPr>
          <a:xfrm>
            <a:off x="0" y="533400"/>
            <a:ext cx="18288000" cy="12700"/>
          </a:xfrm>
          <a:prstGeom prst="rect">
            <a:avLst/>
          </a:prstGeom>
          <a:solidFill>
            <a:srgbClr val="2A3142"/>
          </a:solidFill>
          <a:ln/>
        </p:spPr>
        <p:txBody>
          <a:bodyPr/>
          <a:p/>
        </p:txBody>
      </p:sp>
      <p:sp>
        <p:nvSpPr>
          <p:cNvPr id="4" name="Shape 2"/>
          <p:cNvSpPr/>
          <p:nvPr/>
        </p:nvSpPr>
        <p:spPr>
          <a:xfrm>
            <a:off x="304800" y="200025"/>
            <a:ext cx="133350" cy="133350"/>
          </a:xfrm>
          <a:prstGeom prst="ellipse">
            <a:avLst/>
          </a:prstGeom>
          <a:solidFill>
            <a:srgbClr val="B6644A"/>
          </a:solidFill>
          <a:ln/>
        </p:spPr>
        <p:txBody>
          <a:bodyPr/>
          <a:p/>
        </p:txBody>
      </p:sp>
      <p:sp>
        <p:nvSpPr>
          <p:cNvPr id="5" name="Shape 3"/>
          <p:cNvSpPr/>
          <p:nvPr/>
        </p:nvSpPr>
        <p:spPr>
          <a:xfrm>
            <a:off x="533400" y="200025"/>
            <a:ext cx="133350" cy="133350"/>
          </a:xfrm>
          <a:prstGeom prst="ellipse">
            <a:avLst/>
          </a:prstGeom>
          <a:solidFill>
            <a:srgbClr val="B69A4A"/>
          </a:solidFill>
          <a:ln/>
        </p:spPr>
        <p:txBody>
          <a:bodyPr/>
          <a:p/>
        </p:txBody>
      </p:sp>
      <p:sp>
        <p:nvSpPr>
          <p:cNvPr id="6" name="Shape 4"/>
          <p:cNvSpPr/>
          <p:nvPr/>
        </p:nvSpPr>
        <p:spPr>
          <a:xfrm>
            <a:off x="762000" y="200025"/>
            <a:ext cx="133350" cy="133350"/>
          </a:xfrm>
          <a:prstGeom prst="ellipse">
            <a:avLst/>
          </a:prstGeom>
          <a:solidFill>
            <a:srgbClr val="6B9A6A"/>
          </a:solidFill>
          <a:ln/>
        </p:spPr>
        <p:txBody>
          <a:bodyPr/>
          <a:p/>
        </p:txBody>
      </p:sp>
      <p:sp>
        <p:nvSpPr>
          <p:cNvPr id="7" name="Text 5"/>
          <p:cNvSpPr/>
          <p:nvPr/>
        </p:nvSpPr>
        <p:spPr>
          <a:xfrm>
            <a:off x="1066800" y="107950"/>
            <a:ext cx="4682589"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C6C4BC"/>
                </a:solidFill>
                <a:latin typeface="Consolas" pitchFamily="34" charset="0"/>
                <a:ea typeface="Consolas" pitchFamily="34" charset="-122"/>
                <a:cs typeface="Consolas" pitchFamily="34" charset="-120"/>
              </a:rPr>
              <a:t>~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C6C4BC"/>
                </a:solidFill>
                <a:latin typeface="Consolas" pitchFamily="34" charset="0"/>
                <a:ea typeface="Consolas" pitchFamily="34" charset="-122"/>
                <a:cs typeface="Consolas" pitchFamily="34" charset="-120"/>
              </a:rPr>
              <a:t>agentic-workflows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B89CFF"/>
                </a:solidFill>
                <a:latin typeface="Consolas" pitchFamily="34" charset="0"/>
                <a:ea typeface="Consolas" pitchFamily="34" charset="-122"/>
                <a:cs typeface="Consolas" pitchFamily="34" charset="-120"/>
              </a:rPr>
              <a:t>00-cover.md</a:t>
            </a:r>
            <a:endParaRPr lang="en-US" sz="1800" dirty="0"/>
          </a:p>
        </p:txBody>
      </p:sp>
      <p:sp>
        <p:nvSpPr>
          <p:cNvPr id="8" name="Text 6"/>
          <p:cNvSpPr/>
          <p:nvPr/>
        </p:nvSpPr>
        <p:spPr>
          <a:xfrm>
            <a:off x="14549438" y="107950"/>
            <a:ext cx="643136"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545B6C"/>
                </a:solidFill>
                <a:latin typeface="Consolas" pitchFamily="34" charset="0"/>
                <a:ea typeface="Consolas" pitchFamily="34" charset="-122"/>
                <a:cs typeface="Consolas" pitchFamily="34" charset="-120"/>
              </a:rPr>
              <a:t>main</a:t>
            </a:r>
            <a:endParaRPr lang="en-US" sz="1800" dirty="0"/>
          </a:p>
        </p:txBody>
      </p:sp>
      <p:sp>
        <p:nvSpPr>
          <p:cNvPr id="9" name="Text 7"/>
          <p:cNvSpPr/>
          <p:nvPr/>
        </p:nvSpPr>
        <p:spPr>
          <a:xfrm>
            <a:off x="15383074" y="107950"/>
            <a:ext cx="2678131"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6DC287"/>
                </a:solidFill>
                <a:latin typeface="Consolas" pitchFamily="34" charset="0"/>
                <a:ea typeface="Consolas" pitchFamily="34" charset="-122"/>
                <a:cs typeface="Consolas" pitchFamily="34" charset="-120"/>
              </a:rPr>
              <a:t>generally available</a:t>
            </a:r>
            <a:endParaRPr lang="en-US" sz="1800" dirty="0"/>
          </a:p>
        </p:txBody>
      </p:sp>
      <p:sp>
        <p:nvSpPr>
          <p:cNvPr id="10" name="Text 8"/>
          <p:cNvSpPr/>
          <p:nvPr/>
        </p:nvSpPr>
        <p:spPr>
          <a:xfrm>
            <a:off x="952500" y="1562100"/>
            <a:ext cx="16874490"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351" dirty="0">
                <a:solidFill>
                  <a:srgbClr val="7A8294"/>
                </a:solidFill>
                <a:latin typeface="Consolas" pitchFamily="34" charset="0"/>
                <a:ea typeface="Consolas" pitchFamily="34" charset="-122"/>
                <a:cs typeface="Consolas" pitchFamily="34" charset="-120"/>
              </a:rPr>
              <a:t># AN INTRODUCTION · 2026</a:t>
            </a:r>
            <a:endParaRPr lang="en-US" sz="1950" dirty="0"/>
          </a:p>
        </p:txBody>
      </p:sp>
      <p:sp>
        <p:nvSpPr>
          <p:cNvPr id="11" name="Text 9"/>
          <p:cNvSpPr/>
          <p:nvPr/>
        </p:nvSpPr>
        <p:spPr>
          <a:xfrm>
            <a:off x="952500" y="4203700"/>
            <a:ext cx="10178653" cy="3149600"/>
          </a:xfrm>
          <a:prstGeom prst="rect">
            <a:avLst/>
          </a:prstGeom>
          <a:noFill/>
          <a:ln/>
        </p:spPr>
        <p:txBody>
          <a:bodyPr wrap="square" lIns="25400" tIns="25400" rIns="25400" bIns="25400" rtlCol="0" anchor="t">
            <a:normAutofit/>
          </a:bodyPr>
          <a:lstStyle/>
          <a:p>
            <a:pPr marL="0" indent="0" algn="l">
              <a:lnSpc>
                <a:spcPct val="92000"/>
              </a:lnSpc>
              <a:buNone/>
            </a:pPr>
            <a:r>
              <a:rPr lang="en-US" sz="12600" kern="0" spc="-504" dirty="0">
                <a:solidFill>
                  <a:srgbClr val="E8E6DF"/>
                </a:solidFill>
                <a:latin typeface="Arial" pitchFamily="34" charset="0"/>
                <a:ea typeface="Arial" pitchFamily="34" charset="-122"/>
                <a:cs typeface="Arial" pitchFamily="34" charset="-120"/>
              </a:rPr>
              <a:t>Agentic </a:t>
            </a:r>
            <a:r>
              <a:rPr lang="en-US" sz="12600" i="1" kern="0" spc="-504" dirty="0">
                <a:solidFill>
                  <a:srgbClr val="B89CFF"/>
                </a:solidFill>
                <a:latin typeface="Georgia" pitchFamily="34" charset="0"/>
                <a:ea typeface="Georgia" pitchFamily="34" charset="-122"/>
                <a:cs typeface="Georgia" pitchFamily="34" charset="-120"/>
              </a:rPr>
              <a:t>Workflows.</a:t>
            </a:r>
            <a:endParaRPr lang="en-US" sz="12600" dirty="0"/>
          </a:p>
        </p:txBody>
      </p:sp>
      <p:sp>
        <p:nvSpPr>
          <p:cNvPr id="12" name="Shape 10"/>
          <p:cNvSpPr/>
          <p:nvPr/>
        </p:nvSpPr>
        <p:spPr>
          <a:xfrm>
            <a:off x="11406188" y="3987800"/>
            <a:ext cx="5929313" cy="3327400"/>
          </a:xfrm>
          <a:prstGeom prst="roundRect">
            <a:avLst>
              <a:gd name="adj" fmla="val 2290"/>
            </a:avLst>
          </a:prstGeom>
          <a:solidFill>
            <a:srgbClr val="161A23"/>
          </a:solidFill>
          <a:ln w="12700">
            <a:solidFill>
              <a:srgbClr val="2A3142"/>
            </a:solidFill>
            <a:prstDash val="solid"/>
          </a:ln>
        </p:spPr>
        <p:txBody>
          <a:bodyPr/>
          <a:p/>
        </p:txBody>
      </p:sp>
      <p:sp>
        <p:nvSpPr>
          <p:cNvPr id="13" name="Shape 11"/>
          <p:cNvSpPr/>
          <p:nvPr/>
        </p:nvSpPr>
        <p:spPr>
          <a:xfrm>
            <a:off x="11418888" y="4000500"/>
            <a:ext cx="5903913" cy="596900"/>
          </a:xfrm>
          <a:prstGeom prst="rect">
            <a:avLst/>
          </a:prstGeom>
          <a:solidFill>
            <a:srgbClr val="1C2230"/>
          </a:solidFill>
          <a:ln/>
        </p:spPr>
        <p:txBody>
          <a:bodyPr/>
          <a:p/>
        </p:txBody>
      </p:sp>
      <p:sp>
        <p:nvSpPr>
          <p:cNvPr id="14" name="Shape 12"/>
          <p:cNvSpPr/>
          <p:nvPr/>
        </p:nvSpPr>
        <p:spPr>
          <a:xfrm>
            <a:off x="11418888" y="4584700"/>
            <a:ext cx="5903913" cy="12700"/>
          </a:xfrm>
          <a:prstGeom prst="rect">
            <a:avLst/>
          </a:prstGeom>
          <a:solidFill>
            <a:srgbClr val="2A3142"/>
          </a:solidFill>
          <a:ln/>
        </p:spPr>
        <p:txBody>
          <a:bodyPr/>
          <a:p/>
        </p:txBody>
      </p:sp>
      <p:sp>
        <p:nvSpPr>
          <p:cNvPr id="15" name="Shape 13"/>
          <p:cNvSpPr/>
          <p:nvPr/>
        </p:nvSpPr>
        <p:spPr>
          <a:xfrm>
            <a:off x="11628438" y="4235450"/>
            <a:ext cx="114300" cy="114300"/>
          </a:xfrm>
          <a:prstGeom prst="ellipse">
            <a:avLst/>
          </a:prstGeom>
          <a:solidFill>
            <a:srgbClr val="3A4357"/>
          </a:solidFill>
          <a:ln/>
        </p:spPr>
        <p:txBody>
          <a:bodyPr/>
          <a:p/>
        </p:txBody>
      </p:sp>
      <p:sp>
        <p:nvSpPr>
          <p:cNvPr id="16" name="Shape 14"/>
          <p:cNvSpPr/>
          <p:nvPr/>
        </p:nvSpPr>
        <p:spPr>
          <a:xfrm>
            <a:off x="11818938" y="4235450"/>
            <a:ext cx="114300" cy="114300"/>
          </a:xfrm>
          <a:prstGeom prst="ellipse">
            <a:avLst/>
          </a:prstGeom>
          <a:solidFill>
            <a:srgbClr val="3A4357"/>
          </a:solidFill>
          <a:ln/>
        </p:spPr>
        <p:txBody>
          <a:bodyPr/>
          <a:p/>
        </p:txBody>
      </p:sp>
      <p:sp>
        <p:nvSpPr>
          <p:cNvPr id="17" name="Shape 15"/>
          <p:cNvSpPr/>
          <p:nvPr/>
        </p:nvSpPr>
        <p:spPr>
          <a:xfrm>
            <a:off x="12009438" y="4235450"/>
            <a:ext cx="114300" cy="114300"/>
          </a:xfrm>
          <a:prstGeom prst="ellipse">
            <a:avLst/>
          </a:prstGeom>
          <a:solidFill>
            <a:srgbClr val="3A4357"/>
          </a:solidFill>
          <a:ln/>
        </p:spPr>
        <p:txBody>
          <a:bodyPr/>
          <a:p/>
        </p:txBody>
      </p:sp>
      <p:sp>
        <p:nvSpPr>
          <p:cNvPr id="18" name="Text 16"/>
          <p:cNvSpPr/>
          <p:nvPr/>
        </p:nvSpPr>
        <p:spPr>
          <a:xfrm>
            <a:off x="12257088" y="4133850"/>
            <a:ext cx="899319"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7A8294"/>
                </a:solidFill>
                <a:latin typeface="Consolas" pitchFamily="34" charset="0"/>
                <a:ea typeface="Consolas" pitchFamily="34" charset="-122"/>
                <a:cs typeface="Consolas" pitchFamily="34" charset="-120"/>
              </a:rPr>
              <a:t>~/work</a:t>
            </a:r>
            <a:endParaRPr lang="en-US" sz="1800" dirty="0"/>
          </a:p>
        </p:txBody>
      </p:sp>
      <p:sp>
        <p:nvSpPr>
          <p:cNvPr id="19" name="Text 17"/>
          <p:cNvSpPr/>
          <p:nvPr/>
        </p:nvSpPr>
        <p:spPr>
          <a:xfrm>
            <a:off x="11666538" y="4845050"/>
            <a:ext cx="5570871" cy="419100"/>
          </a:xfrm>
          <a:prstGeom prst="rect">
            <a:avLst/>
          </a:prstGeom>
          <a:noFill/>
          <a:ln/>
        </p:spPr>
        <p:txBody>
          <a:bodyPr wrap="square" lIns="25400" tIns="25400" rIns="25400" bIns="25400" rtlCol="0" anchor="t">
            <a:normAutofit/>
          </a:bodyPr>
          <a:lstStyle/>
          <a:p>
            <a:pPr marL="0" indent="0" algn="l">
              <a:lnSpc>
                <a:spcPct val="170000"/>
              </a:lnSpc>
              <a:buNone/>
            </a:pPr>
            <a:r>
              <a:rPr lang="en-US" sz="1800" dirty="0">
                <a:solidFill>
                  <a:srgbClr val="B89CFF"/>
                </a:solidFill>
                <a:latin typeface="Consolas" pitchFamily="34" charset="0"/>
                <a:ea typeface="Consolas" pitchFamily="34" charset="-122"/>
                <a:cs typeface="Consolas" pitchFamily="34" charset="-120"/>
              </a:rPr>
              <a:t>$ </a:t>
            </a:r>
            <a:r>
              <a:rPr lang="en-US" sz="1800" dirty="0">
                <a:solidFill>
                  <a:srgbClr val="C6C4BC"/>
                </a:solidFill>
                <a:latin typeface="Consolas" pitchFamily="34" charset="0"/>
                <a:ea typeface="Consolas" pitchFamily="34" charset="-122"/>
                <a:cs typeface="Consolas" pitchFamily="34" charset="-120"/>
              </a:rPr>
              <a:t>gh extension install \</a:t>
            </a:r>
            <a:endParaRPr lang="en-US" sz="1800" dirty="0"/>
          </a:p>
        </p:txBody>
      </p:sp>
      <p:sp>
        <p:nvSpPr>
          <p:cNvPr id="20" name="Text 18"/>
          <p:cNvSpPr/>
          <p:nvPr/>
        </p:nvSpPr>
        <p:spPr>
          <a:xfrm>
            <a:off x="11666538" y="5226050"/>
            <a:ext cx="5570871" cy="419100"/>
          </a:xfrm>
          <a:prstGeom prst="rect">
            <a:avLst/>
          </a:prstGeom>
          <a:noFill/>
          <a:ln/>
        </p:spPr>
        <p:txBody>
          <a:bodyPr wrap="square" lIns="25400" tIns="25400" rIns="25400" bIns="25400" rtlCol="0" anchor="t">
            <a:normAutofit/>
          </a:bodyPr>
          <a:lstStyle/>
          <a:p>
            <a:pPr marL="0" indent="0" algn="l">
              <a:lnSpc>
                <a:spcPct val="170000"/>
              </a:lnSpc>
              <a:buNone/>
            </a:pPr>
            <a:r>
              <a:rPr lang="en-US" sz="1800" dirty="0">
                <a:solidFill>
                  <a:srgbClr val="C6C4BC"/>
                </a:solidFill>
                <a:latin typeface="Consolas" pitchFamily="34" charset="0"/>
                <a:ea typeface="Consolas" pitchFamily="34" charset="-122"/>
                <a:cs typeface="Consolas" pitchFamily="34" charset="-120"/>
              </a:rPr>
              <a:t>github/gh-aw</a:t>
            </a:r>
            <a:endParaRPr lang="en-US" sz="1800" dirty="0"/>
          </a:p>
        </p:txBody>
      </p:sp>
      <p:sp>
        <p:nvSpPr>
          <p:cNvPr id="21" name="Text 19"/>
          <p:cNvSpPr/>
          <p:nvPr/>
        </p:nvSpPr>
        <p:spPr>
          <a:xfrm>
            <a:off x="11666538" y="5740400"/>
            <a:ext cx="5570871" cy="419100"/>
          </a:xfrm>
          <a:prstGeom prst="rect">
            <a:avLst/>
          </a:prstGeom>
          <a:noFill/>
          <a:ln/>
        </p:spPr>
        <p:txBody>
          <a:bodyPr wrap="square" lIns="25400" tIns="25400" rIns="25400" bIns="25400" rtlCol="0" anchor="t">
            <a:normAutofit/>
          </a:bodyPr>
          <a:lstStyle/>
          <a:p>
            <a:pPr marL="0" indent="0" algn="l">
              <a:lnSpc>
                <a:spcPct val="170000"/>
              </a:lnSpc>
              <a:buNone/>
            </a:pPr>
            <a:r>
              <a:rPr lang="en-US" sz="1800" dirty="0">
                <a:solidFill>
                  <a:srgbClr val="7A8294"/>
                </a:solidFill>
                <a:latin typeface="Consolas" pitchFamily="34" charset="0"/>
                <a:ea typeface="Consolas" pitchFamily="34" charset="-122"/>
                <a:cs typeface="Consolas" pitchFamily="34" charset="-120"/>
              </a:rPr>
              <a:t># 1 extension. 0 services.</a:t>
            </a:r>
            <a:endParaRPr lang="en-US" sz="1800" dirty="0"/>
          </a:p>
        </p:txBody>
      </p:sp>
      <p:sp>
        <p:nvSpPr>
          <p:cNvPr id="22" name="Text 20"/>
          <p:cNvSpPr/>
          <p:nvPr/>
        </p:nvSpPr>
        <p:spPr>
          <a:xfrm>
            <a:off x="11666538" y="6121400"/>
            <a:ext cx="5570871" cy="419100"/>
          </a:xfrm>
          <a:prstGeom prst="rect">
            <a:avLst/>
          </a:prstGeom>
          <a:noFill/>
          <a:ln/>
        </p:spPr>
        <p:txBody>
          <a:bodyPr wrap="square" lIns="25400" tIns="25400" rIns="25400" bIns="25400" rtlCol="0" anchor="t">
            <a:normAutofit/>
          </a:bodyPr>
          <a:lstStyle/>
          <a:p>
            <a:pPr marL="0" indent="0" algn="l">
              <a:lnSpc>
                <a:spcPct val="170000"/>
              </a:lnSpc>
              <a:buNone/>
            </a:pPr>
            <a:r>
              <a:rPr lang="en-US" sz="1800" dirty="0">
                <a:solidFill>
                  <a:srgbClr val="7A8294"/>
                </a:solidFill>
                <a:latin typeface="Consolas" pitchFamily="34" charset="0"/>
                <a:ea typeface="Consolas" pitchFamily="34" charset="-122"/>
                <a:cs typeface="Consolas" pitchFamily="34" charset="-120"/>
              </a:rPr>
              <a:t># write markdown, ship a workflow.</a:t>
            </a:r>
            <a:endParaRPr lang="en-US" sz="1800" dirty="0"/>
          </a:p>
        </p:txBody>
      </p:sp>
      <p:sp>
        <p:nvSpPr>
          <p:cNvPr id="23" name="Text 21"/>
          <p:cNvSpPr/>
          <p:nvPr/>
        </p:nvSpPr>
        <p:spPr>
          <a:xfrm>
            <a:off x="11666538" y="6635750"/>
            <a:ext cx="5570871" cy="419100"/>
          </a:xfrm>
          <a:prstGeom prst="rect">
            <a:avLst/>
          </a:prstGeom>
          <a:noFill/>
          <a:ln/>
        </p:spPr>
        <p:txBody>
          <a:bodyPr wrap="square" lIns="25400" tIns="25400" rIns="25400" bIns="25400" rtlCol="0" anchor="t">
            <a:normAutofit/>
          </a:bodyPr>
          <a:lstStyle/>
          <a:p>
            <a:pPr marL="0" indent="0" algn="l">
              <a:lnSpc>
                <a:spcPct val="170000"/>
              </a:lnSpc>
              <a:buNone/>
            </a:pPr>
            <a:r>
              <a:rPr lang="en-US" sz="1800" dirty="0">
                <a:solidFill>
                  <a:srgbClr val="B89CFF"/>
                </a:solidFill>
                <a:latin typeface="Consolas" pitchFamily="34" charset="0"/>
                <a:ea typeface="Consolas" pitchFamily="34" charset="-122"/>
                <a:cs typeface="Consolas" pitchFamily="34" charset="-120"/>
              </a:rPr>
              <a:t>$ </a:t>
            </a:r>
            <a:r>
              <a:rPr lang="en-US" sz="1800" dirty="0">
                <a:solidFill>
                  <a:srgbClr val="C6C4BC"/>
                </a:solidFill>
                <a:latin typeface="Consolas" pitchFamily="34" charset="0"/>
                <a:ea typeface="Consolas" pitchFamily="34" charset="-122"/>
                <a:cs typeface="Consolas" pitchFamily="34" charset="-120"/>
              </a:rPr>
              <a:t>gh aw </a:t>
            </a:r>
            <a:r>
              <a:rPr lang="en-US" sz="1800" dirty="0">
                <a:solidFill>
                  <a:srgbClr val="E8E6DF"/>
                </a:solidFill>
                <a:latin typeface="Consolas" pitchFamily="34" charset="0"/>
                <a:ea typeface="Consolas" pitchFamily="34" charset="-122"/>
                <a:cs typeface="Consolas" pitchFamily="34" charset="-120"/>
              </a:rPr>
              <a:t>--help </a:t>
            </a:r>
            <a:r>
              <a:rPr lang="en-US" sz="1800" dirty="0">
                <a:solidFill>
                  <a:srgbClr val="B89CFF"/>
                </a:solidFill>
                <a:latin typeface="Consolas" pitchFamily="34" charset="0"/>
                <a:ea typeface="Consolas" pitchFamily="34" charset="-122"/>
                <a:cs typeface="Consolas" pitchFamily="34" charset="-120"/>
              </a:rPr>
              <a:t>▍</a:t>
            </a:r>
            <a:endParaRPr lang="en-US" sz="1800" dirty="0"/>
          </a:p>
        </p:txBody>
      </p:sp>
      <p:sp>
        <p:nvSpPr>
          <p:cNvPr id="24" name="Shape 22"/>
          <p:cNvSpPr/>
          <p:nvPr/>
        </p:nvSpPr>
        <p:spPr>
          <a:xfrm>
            <a:off x="952500" y="7696200"/>
            <a:ext cx="16383000" cy="12700"/>
          </a:xfrm>
          <a:prstGeom prst="rect">
            <a:avLst/>
          </a:prstGeom>
          <a:solidFill>
            <a:srgbClr val="2A3142"/>
          </a:solidFill>
          <a:ln/>
        </p:spPr>
        <p:txBody>
          <a:bodyPr/>
          <a:p/>
        </p:txBody>
      </p:sp>
      <p:sp>
        <p:nvSpPr>
          <p:cNvPr id="25" name="Text 23"/>
          <p:cNvSpPr/>
          <p:nvPr/>
        </p:nvSpPr>
        <p:spPr>
          <a:xfrm>
            <a:off x="952500" y="8013700"/>
            <a:ext cx="11047722" cy="3556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kern="0" spc="324">
                <a:solidFill>
                  <a:srgbClr val="545B6C"/>
                </a:solidFill>
                <a:latin typeface="Consolas"/>
              </a:rPr>
              <a:t>PRESENTERS</a:t>
            </a:r>
            <a:endParaRPr lang="en-US" sz="1800" dirty="0"/>
          </a:p>
        </p:txBody>
      </p:sp>
      <p:sp>
        <p:nvSpPr>
          <p:cNvPr id="26" name="Text 24"/>
          <p:cNvSpPr/>
          <p:nvPr/>
        </p:nvSpPr>
        <p:spPr>
          <a:xfrm>
            <a:off x="952500" y="8420100"/>
            <a:ext cx="11047690" cy="330200"/>
          </a:xfrm>
          <a:prstGeom prst="rect">
            <a:avLst/>
          </a:prstGeom>
          <a:noFill/>
          <a:ln/>
        </p:spPr>
        <p:txBody>
          <a:bodyPr wrap="square" lIns="0" tIns="0" rIns="0" bIns="0" rtlCol="0" anchor="t">
            <a:normAutofit lnSpcReduction="10000"/>
          </a:bodyPr>
          <a:lstStyle/>
          <a:p>
            <a:pPr marL="0" indent="0" algn="l">
              <a:lnSpc>
                <a:spcPct val="140000"/>
              </a:lnSpc>
              <a:buNone/>
            </a:pPr>
            <a:r>
              <a:rPr lang="en-US" sz="1800" kern="0" spc="144">
                <a:solidFill>
                  <a:srgbClr val="C6C4BC"/>
                </a:solidFill>
                <a:latin typeface="Consolas"/>
                <a:ea typeface="Consolas" pitchFamily="34" charset="-122"/>
                <a:cs typeface="Consolas" pitchFamily="34" charset="-120"/>
              </a:rPr>
              <a:t>@</a:t>
            </a:r>
            <a:r>
              <a:rPr lang="en-US" kern="0" spc="144">
                <a:solidFill>
                  <a:srgbClr val="C6C4BC"/>
                </a:solidFill>
                <a:latin typeface="Consolas"/>
                <a:ea typeface="Consolas" pitchFamily="34" charset="-122"/>
                <a:cs typeface="Consolas" pitchFamily="34" charset="-120"/>
              </a:rPr>
              <a:t>presenter</a:t>
            </a:r>
            <a:r>
              <a:rPr lang="en-US" sz="1800" kern="0" spc="144">
                <a:solidFill>
                  <a:srgbClr val="C6C4BC"/>
                </a:solidFill>
                <a:latin typeface="Consolas"/>
                <a:ea typeface="Consolas" pitchFamily="34" charset="-122"/>
                <a:cs typeface="Consolas" pitchFamily="34" charset="-120"/>
              </a:rPr>
              <a:t> · @</a:t>
            </a:r>
            <a:r>
              <a:rPr lang="en-US" kern="0" spc="144">
                <a:solidFill>
                  <a:srgbClr val="C6C4BC"/>
                </a:solidFill>
                <a:latin typeface="Consolas"/>
                <a:ea typeface="Consolas" pitchFamily="34" charset="-122"/>
                <a:cs typeface="Consolas" pitchFamily="34" charset="-120"/>
              </a:rPr>
              <a:t>presenter</a:t>
            </a:r>
            <a:r>
              <a:rPr lang="en-US" sz="1800" kern="0" spc="144">
                <a:solidFill>
                  <a:srgbClr val="C6C4BC"/>
                </a:solidFill>
                <a:latin typeface="Consolas"/>
                <a:ea typeface="Consolas" pitchFamily="34" charset="-122"/>
                <a:cs typeface="Consolas" pitchFamily="34" charset="-120"/>
              </a:rPr>
              <a:t> · @</a:t>
            </a:r>
            <a:r>
              <a:rPr lang="en-US" kern="0" spc="144">
                <a:solidFill>
                  <a:srgbClr val="C6C4BC"/>
                </a:solidFill>
                <a:latin typeface="Consolas"/>
                <a:ea typeface="Consolas" pitchFamily="34" charset="-122"/>
                <a:cs typeface="Consolas" pitchFamily="34" charset="-120"/>
              </a:rPr>
              <a:t>demoer</a:t>
            </a:r>
            <a:endParaRPr lang="en-US" sz="1800">
              <a:latin typeface="Consolas"/>
            </a:endParaRPr>
          </a:p>
        </p:txBody>
      </p:sp>
      <p:sp>
        <p:nvSpPr>
          <p:cNvPr id="27" name="Text 25"/>
          <p:cNvSpPr/>
          <p:nvPr/>
        </p:nvSpPr>
        <p:spPr>
          <a:xfrm>
            <a:off x="15469989" y="8407400"/>
            <a:ext cx="1941711"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44" dirty="0">
                <a:solidFill>
                  <a:srgbClr val="7A8294"/>
                </a:solidFill>
                <a:latin typeface="Consolas" pitchFamily="34" charset="0"/>
                <a:ea typeface="Consolas" pitchFamily="34" charset="-122"/>
                <a:cs typeface="Consolas" pitchFamily="34" charset="-120"/>
              </a:rPr>
              <a:t>v0 · 01 / 12</a:t>
            </a:r>
            <a:endParaRPr lang="en-US" sz="1800" dirty="0"/>
          </a:p>
        </p:txBody>
      </p:sp>
      <p:sp>
        <p:nvSpPr>
          <p:cNvPr id="28" name="Shape 26"/>
          <p:cNvSpPr/>
          <p:nvPr/>
        </p:nvSpPr>
        <p:spPr>
          <a:xfrm>
            <a:off x="0" y="9779001"/>
            <a:ext cx="18288000" cy="508000"/>
          </a:xfrm>
          <a:prstGeom prst="rect">
            <a:avLst/>
          </a:prstGeom>
          <a:solidFill>
            <a:srgbClr val="11141B"/>
          </a:solidFill>
          <a:ln/>
        </p:spPr>
        <p:txBody>
          <a:bodyPr/>
          <a:p/>
        </p:txBody>
      </p:sp>
      <p:sp>
        <p:nvSpPr>
          <p:cNvPr id="29" name="Shape 27"/>
          <p:cNvSpPr/>
          <p:nvPr/>
        </p:nvSpPr>
        <p:spPr>
          <a:xfrm>
            <a:off x="0" y="9779001"/>
            <a:ext cx="18288000" cy="12700"/>
          </a:xfrm>
          <a:prstGeom prst="rect">
            <a:avLst/>
          </a:prstGeom>
          <a:solidFill>
            <a:srgbClr val="2A3142"/>
          </a:solidFill>
          <a:ln/>
        </p:spPr>
        <p:txBody>
          <a:bodyPr/>
          <a:p/>
        </p:txBody>
      </p:sp>
      <p:sp>
        <p:nvSpPr>
          <p:cNvPr id="30" name="Text 28"/>
          <p:cNvSpPr/>
          <p:nvPr/>
        </p:nvSpPr>
        <p:spPr>
          <a:xfrm>
            <a:off x="304800" y="9880600"/>
            <a:ext cx="1068983"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B89CFF"/>
                </a:solidFill>
                <a:latin typeface="Consolas" pitchFamily="34" charset="0"/>
                <a:ea typeface="Consolas" pitchFamily="34" charset="-122"/>
                <a:cs typeface="Consolas" pitchFamily="34" charset="-120"/>
              </a:rPr>
              <a:t>● main</a:t>
            </a:r>
            <a:endParaRPr lang="en-US" sz="1800" dirty="0"/>
          </a:p>
        </p:txBody>
      </p:sp>
      <p:sp>
        <p:nvSpPr>
          <p:cNvPr id="31" name="Text 29"/>
          <p:cNvSpPr/>
          <p:nvPr/>
        </p:nvSpPr>
        <p:spPr>
          <a:xfrm>
            <a:off x="1602383" y="9880600"/>
            <a:ext cx="1068388"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 0 ↓ 0</a:t>
            </a:r>
            <a:endParaRPr lang="en-US" sz="1800" dirty="0"/>
          </a:p>
        </p:txBody>
      </p:sp>
      <p:sp>
        <p:nvSpPr>
          <p:cNvPr id="32" name="Text 30"/>
          <p:cNvSpPr/>
          <p:nvPr/>
        </p:nvSpPr>
        <p:spPr>
          <a:xfrm>
            <a:off x="2899370" y="9880600"/>
            <a:ext cx="785019"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UTF-8</a:t>
            </a:r>
            <a:endParaRPr lang="en-US" sz="1800" dirty="0"/>
          </a:p>
        </p:txBody>
      </p:sp>
      <p:sp>
        <p:nvSpPr>
          <p:cNvPr id="33" name="Text 31"/>
          <p:cNvSpPr/>
          <p:nvPr/>
        </p:nvSpPr>
        <p:spPr>
          <a:xfrm>
            <a:off x="15023505" y="9880600"/>
            <a:ext cx="1210072"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markdown</a:t>
            </a:r>
            <a:endParaRPr lang="en-US" sz="1800" dirty="0"/>
          </a:p>
        </p:txBody>
      </p:sp>
      <p:sp>
        <p:nvSpPr>
          <p:cNvPr id="34" name="Text 32"/>
          <p:cNvSpPr/>
          <p:nvPr/>
        </p:nvSpPr>
        <p:spPr>
          <a:xfrm>
            <a:off x="16424077" y="9880600"/>
            <a:ext cx="1635323"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Ln 1, Col 1</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D12"/>
        </a:solidFill>
        <a:effectLst/>
      </p:bgPr>
    </p:bg>
    <p:spTree>
      <p:nvGrpSpPr>
        <p:cNvPr id="1" name=""/>
        <p:cNvGrpSpPr/>
        <p:nvPr/>
      </p:nvGrpSpPr>
      <p:grpSpPr>
        <a:xfrm>
          <a:off x="0" y="0"/>
          <a:ext cx="0" cy="0"/>
          <a:chOff x="0" y="0"/>
          <a:chExt cx="0" cy="0"/>
        </a:xfrm>
      </p:grpSpPr>
      <p:sp>
        <p:nvSpPr>
          <p:cNvPr id="2" name="Shape 0"/>
          <p:cNvSpPr/>
          <p:nvPr/>
        </p:nvSpPr>
        <p:spPr>
          <a:xfrm>
            <a:off x="0" y="0"/>
            <a:ext cx="18288000" cy="546100"/>
          </a:xfrm>
          <a:prstGeom prst="rect">
            <a:avLst/>
          </a:prstGeom>
          <a:solidFill>
            <a:srgbClr val="11141B"/>
          </a:solidFill>
          <a:ln/>
        </p:spPr>
        <p:txBody>
          <a:bodyPr/>
          <a:p/>
        </p:txBody>
      </p:sp>
      <p:sp>
        <p:nvSpPr>
          <p:cNvPr id="3" name="Shape 1"/>
          <p:cNvSpPr/>
          <p:nvPr/>
        </p:nvSpPr>
        <p:spPr>
          <a:xfrm>
            <a:off x="0" y="533400"/>
            <a:ext cx="18288000" cy="12700"/>
          </a:xfrm>
          <a:prstGeom prst="rect">
            <a:avLst/>
          </a:prstGeom>
          <a:solidFill>
            <a:srgbClr val="2A3142"/>
          </a:solidFill>
          <a:ln/>
        </p:spPr>
        <p:txBody>
          <a:bodyPr/>
          <a:p/>
        </p:txBody>
      </p:sp>
      <p:sp>
        <p:nvSpPr>
          <p:cNvPr id="4" name="Shape 2"/>
          <p:cNvSpPr/>
          <p:nvPr/>
        </p:nvSpPr>
        <p:spPr>
          <a:xfrm>
            <a:off x="304800" y="200025"/>
            <a:ext cx="133350" cy="133350"/>
          </a:xfrm>
          <a:prstGeom prst="ellipse">
            <a:avLst/>
          </a:prstGeom>
          <a:solidFill>
            <a:srgbClr val="B6644A"/>
          </a:solidFill>
          <a:ln/>
        </p:spPr>
        <p:txBody>
          <a:bodyPr/>
          <a:p/>
        </p:txBody>
      </p:sp>
      <p:sp>
        <p:nvSpPr>
          <p:cNvPr id="5" name="Shape 3"/>
          <p:cNvSpPr/>
          <p:nvPr/>
        </p:nvSpPr>
        <p:spPr>
          <a:xfrm>
            <a:off x="533400" y="200025"/>
            <a:ext cx="133350" cy="133350"/>
          </a:xfrm>
          <a:prstGeom prst="ellipse">
            <a:avLst/>
          </a:prstGeom>
          <a:solidFill>
            <a:srgbClr val="B69A4A"/>
          </a:solidFill>
          <a:ln/>
        </p:spPr>
        <p:txBody>
          <a:bodyPr/>
          <a:p/>
        </p:txBody>
      </p:sp>
      <p:sp>
        <p:nvSpPr>
          <p:cNvPr id="6" name="Shape 4"/>
          <p:cNvSpPr/>
          <p:nvPr/>
        </p:nvSpPr>
        <p:spPr>
          <a:xfrm>
            <a:off x="762000" y="200025"/>
            <a:ext cx="133350" cy="133350"/>
          </a:xfrm>
          <a:prstGeom prst="ellipse">
            <a:avLst/>
          </a:prstGeom>
          <a:solidFill>
            <a:srgbClr val="6B9A6A"/>
          </a:solidFill>
          <a:ln/>
        </p:spPr>
        <p:txBody>
          <a:bodyPr/>
          <a:p/>
        </p:txBody>
      </p:sp>
      <p:sp>
        <p:nvSpPr>
          <p:cNvPr id="7" name="Text 5"/>
          <p:cNvSpPr/>
          <p:nvPr/>
        </p:nvSpPr>
        <p:spPr>
          <a:xfrm>
            <a:off x="1066800" y="107950"/>
            <a:ext cx="4828524"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C6C4BC"/>
                </a:solidFill>
                <a:latin typeface="Consolas" pitchFamily="34" charset="0"/>
                <a:ea typeface="Consolas" pitchFamily="34" charset="-122"/>
                <a:cs typeface="Consolas" pitchFamily="34" charset="-120"/>
              </a:rPr>
              <a:t>~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C6C4BC"/>
                </a:solidFill>
                <a:latin typeface="Consolas" pitchFamily="34" charset="0"/>
                <a:ea typeface="Consolas" pitchFamily="34" charset="-122"/>
                <a:cs typeface="Consolas" pitchFamily="34" charset="-120"/>
              </a:rPr>
              <a:t>agentic-workflows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B89CFF"/>
                </a:solidFill>
                <a:latin typeface="Consolas" pitchFamily="34" charset="0"/>
                <a:ea typeface="Consolas" pitchFamily="34" charset="-122"/>
                <a:cs typeface="Consolas" pitchFamily="34" charset="-120"/>
              </a:rPr>
              <a:t>01-agenda.md</a:t>
            </a:r>
            <a:endParaRPr lang="en-US" sz="1800" dirty="0"/>
          </a:p>
        </p:txBody>
      </p:sp>
      <p:sp>
        <p:nvSpPr>
          <p:cNvPr id="8" name="Text 6"/>
          <p:cNvSpPr/>
          <p:nvPr/>
        </p:nvSpPr>
        <p:spPr>
          <a:xfrm>
            <a:off x="14549438" y="107950"/>
            <a:ext cx="643136"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545B6C"/>
                </a:solidFill>
                <a:latin typeface="Consolas" pitchFamily="34" charset="0"/>
                <a:ea typeface="Consolas" pitchFamily="34" charset="-122"/>
                <a:cs typeface="Consolas" pitchFamily="34" charset="-120"/>
              </a:rPr>
              <a:t>main</a:t>
            </a:r>
            <a:endParaRPr lang="en-US" sz="1800" dirty="0"/>
          </a:p>
        </p:txBody>
      </p:sp>
      <p:sp>
        <p:nvSpPr>
          <p:cNvPr id="9" name="Text 7"/>
          <p:cNvSpPr/>
          <p:nvPr/>
        </p:nvSpPr>
        <p:spPr>
          <a:xfrm>
            <a:off x="15383074" y="107950"/>
            <a:ext cx="2678131"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6DC287"/>
                </a:solidFill>
                <a:latin typeface="Consolas" pitchFamily="34" charset="0"/>
                <a:ea typeface="Consolas" pitchFamily="34" charset="-122"/>
                <a:cs typeface="Consolas" pitchFamily="34" charset="-120"/>
              </a:rPr>
              <a:t>generally available</a:t>
            </a:r>
            <a:endParaRPr lang="en-US" sz="1800" dirty="0"/>
          </a:p>
        </p:txBody>
      </p:sp>
      <p:sp>
        <p:nvSpPr>
          <p:cNvPr id="10" name="Text 8"/>
          <p:cNvSpPr/>
          <p:nvPr/>
        </p:nvSpPr>
        <p:spPr>
          <a:xfrm>
            <a:off x="952500" y="1047750"/>
            <a:ext cx="1687449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B89CFF"/>
                </a:solidFill>
                <a:latin typeface="Consolas" pitchFamily="34" charset="0"/>
                <a:ea typeface="Consolas" pitchFamily="34" charset="-122"/>
                <a:cs typeface="Consolas" pitchFamily="34" charset="-120"/>
              </a:rPr>
              <a:t>## </a:t>
            </a:r>
            <a:r>
              <a:rPr lang="en-US" sz="1800" kern="0" spc="288" dirty="0">
                <a:solidFill>
                  <a:srgbClr val="7A8294"/>
                </a:solidFill>
                <a:latin typeface="Consolas" pitchFamily="34" charset="0"/>
                <a:ea typeface="Consolas" pitchFamily="34" charset="-122"/>
                <a:cs typeface="Consolas" pitchFamily="34" charset="-120"/>
              </a:rPr>
              <a:t>WHAT WE'LL COVER</a:t>
            </a:r>
            <a:endParaRPr lang="en-US" sz="1800" dirty="0"/>
          </a:p>
        </p:txBody>
      </p:sp>
      <p:sp>
        <p:nvSpPr>
          <p:cNvPr id="11" name="Text 9"/>
          <p:cNvSpPr/>
          <p:nvPr/>
        </p:nvSpPr>
        <p:spPr>
          <a:xfrm>
            <a:off x="952500" y="1631950"/>
            <a:ext cx="14716125" cy="863600"/>
          </a:xfrm>
          <a:prstGeom prst="rect">
            <a:avLst/>
          </a:prstGeom>
          <a:noFill/>
          <a:ln/>
        </p:spPr>
        <p:txBody>
          <a:bodyPr wrap="square" lIns="25400" tIns="25400" rIns="25400" bIns="25400" rtlCol="0" anchor="t">
            <a:normAutofit/>
          </a:bodyPr>
          <a:lstStyle/>
          <a:p>
            <a:pPr marL="0" indent="0" algn="l">
              <a:lnSpc>
                <a:spcPct val="105000"/>
              </a:lnSpc>
              <a:buNone/>
            </a:pPr>
            <a:r>
              <a:rPr lang="en-US" sz="5700" kern="0" spc="-142" dirty="0">
                <a:solidFill>
                  <a:srgbClr val="E8E6DF"/>
                </a:solidFill>
                <a:latin typeface="Arial" pitchFamily="34" charset="0"/>
                <a:ea typeface="Arial" pitchFamily="34" charset="-122"/>
                <a:cs typeface="Arial" pitchFamily="34" charset="-120"/>
              </a:rPr>
              <a:t>Four parts, about </a:t>
            </a:r>
            <a:r>
              <a:rPr lang="en-US" sz="5700" i="1" kern="0" spc="-142" dirty="0">
                <a:solidFill>
                  <a:srgbClr val="B89CFF"/>
                </a:solidFill>
                <a:latin typeface="Georgia" pitchFamily="34" charset="0"/>
                <a:ea typeface="Georgia" pitchFamily="34" charset="-122"/>
                <a:cs typeface="Georgia" pitchFamily="34" charset="-120"/>
              </a:rPr>
              <a:t>twenty </a:t>
            </a:r>
            <a:r>
              <a:rPr lang="en-US" sz="5700" kern="0" spc="-142" dirty="0">
                <a:solidFill>
                  <a:srgbClr val="E8E6DF"/>
                </a:solidFill>
                <a:latin typeface="Arial" pitchFamily="34" charset="0"/>
                <a:ea typeface="Arial" pitchFamily="34" charset="-122"/>
                <a:cs typeface="Arial" pitchFamily="34" charset="-120"/>
              </a:rPr>
              <a:t>minutes.</a:t>
            </a:r>
            <a:endParaRPr lang="en-US" sz="5700" dirty="0"/>
          </a:p>
        </p:txBody>
      </p:sp>
      <p:sp>
        <p:nvSpPr>
          <p:cNvPr id="12" name="Shape 10"/>
          <p:cNvSpPr/>
          <p:nvPr/>
        </p:nvSpPr>
        <p:spPr>
          <a:xfrm>
            <a:off x="952500" y="2952750"/>
            <a:ext cx="16383000" cy="12700"/>
          </a:xfrm>
          <a:prstGeom prst="rect">
            <a:avLst/>
          </a:prstGeom>
          <a:solidFill>
            <a:srgbClr val="2A3142"/>
          </a:solidFill>
          <a:ln/>
        </p:spPr>
        <p:txBody>
          <a:bodyPr/>
          <a:p/>
        </p:txBody>
      </p:sp>
      <p:sp>
        <p:nvSpPr>
          <p:cNvPr id="13" name="Text 11"/>
          <p:cNvSpPr/>
          <p:nvPr/>
        </p:nvSpPr>
        <p:spPr>
          <a:xfrm>
            <a:off x="952500" y="3429000"/>
            <a:ext cx="1123950"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17" dirty="0">
                <a:solidFill>
                  <a:srgbClr val="B89CFF"/>
                </a:solidFill>
                <a:latin typeface="Consolas" pitchFamily="34" charset="0"/>
                <a:ea typeface="Consolas" pitchFamily="34" charset="-122"/>
                <a:cs typeface="Consolas" pitchFamily="34" charset="-120"/>
              </a:rPr>
              <a:t>01 ·</a:t>
            </a:r>
            <a:endParaRPr lang="en-US" sz="1950" dirty="0"/>
          </a:p>
        </p:txBody>
      </p:sp>
      <p:sp>
        <p:nvSpPr>
          <p:cNvPr id="14" name="Text 12"/>
          <p:cNvSpPr/>
          <p:nvPr/>
        </p:nvSpPr>
        <p:spPr>
          <a:xfrm>
            <a:off x="2305050" y="3232150"/>
            <a:ext cx="14096005" cy="774700"/>
          </a:xfrm>
          <a:prstGeom prst="rect">
            <a:avLst/>
          </a:prstGeom>
          <a:noFill/>
          <a:ln/>
        </p:spPr>
        <p:txBody>
          <a:bodyPr wrap="square" lIns="25400" tIns="25400" rIns="25400" bIns="25400" rtlCol="0" anchor="t">
            <a:normAutofit/>
          </a:bodyPr>
          <a:lstStyle/>
          <a:p>
            <a:pPr marL="0" indent="0" algn="l">
              <a:lnSpc>
                <a:spcPct val="140000"/>
              </a:lnSpc>
              <a:buNone/>
            </a:pPr>
            <a:r>
              <a:rPr lang="en-US" sz="4200" kern="0" spc="-84" dirty="0">
                <a:solidFill>
                  <a:srgbClr val="E8E6DF"/>
                </a:solidFill>
                <a:latin typeface="Arial" pitchFamily="34" charset="0"/>
                <a:ea typeface="Arial" pitchFamily="34" charset="-122"/>
                <a:cs typeface="Arial" pitchFamily="34" charset="-120"/>
              </a:rPr>
              <a:t>From automation to intelligence</a:t>
            </a:r>
            <a:endParaRPr lang="en-US" sz="4200" dirty="0"/>
          </a:p>
        </p:txBody>
      </p:sp>
      <p:sp>
        <p:nvSpPr>
          <p:cNvPr id="15" name="Text 13"/>
          <p:cNvSpPr/>
          <p:nvPr/>
        </p:nvSpPr>
        <p:spPr>
          <a:xfrm>
            <a:off x="16295291" y="3429000"/>
            <a:ext cx="1116409"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7A8294"/>
                </a:solidFill>
                <a:latin typeface="Consolas" pitchFamily="34" charset="0"/>
                <a:ea typeface="Consolas" pitchFamily="34" charset="-122"/>
                <a:cs typeface="Consolas" pitchFamily="34" charset="-120"/>
              </a:rPr>
              <a:t>~ 3 min</a:t>
            </a:r>
            <a:endParaRPr lang="en-US" sz="1950" dirty="0"/>
          </a:p>
        </p:txBody>
      </p:sp>
      <p:sp>
        <p:nvSpPr>
          <p:cNvPr id="16" name="Shape 14"/>
          <p:cNvSpPr/>
          <p:nvPr/>
        </p:nvSpPr>
        <p:spPr>
          <a:xfrm>
            <a:off x="952500" y="4235450"/>
            <a:ext cx="16383000" cy="12700"/>
          </a:xfrm>
          <a:prstGeom prst="rect">
            <a:avLst/>
          </a:prstGeom>
          <a:solidFill>
            <a:srgbClr val="2A3142"/>
          </a:solidFill>
          <a:ln/>
        </p:spPr>
        <p:txBody>
          <a:bodyPr/>
          <a:p/>
        </p:txBody>
      </p:sp>
      <p:sp>
        <p:nvSpPr>
          <p:cNvPr id="17" name="Text 15"/>
          <p:cNvSpPr/>
          <p:nvPr/>
        </p:nvSpPr>
        <p:spPr>
          <a:xfrm>
            <a:off x="952500" y="4711700"/>
            <a:ext cx="1123950"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17" dirty="0">
                <a:solidFill>
                  <a:srgbClr val="B89CFF"/>
                </a:solidFill>
                <a:latin typeface="Consolas" pitchFamily="34" charset="0"/>
                <a:ea typeface="Consolas" pitchFamily="34" charset="-122"/>
                <a:cs typeface="Consolas" pitchFamily="34" charset="-120"/>
              </a:rPr>
              <a:t>02 ·</a:t>
            </a:r>
            <a:endParaRPr lang="en-US" sz="1950" dirty="0"/>
          </a:p>
        </p:txBody>
      </p:sp>
      <p:sp>
        <p:nvSpPr>
          <p:cNvPr id="18" name="Text 16"/>
          <p:cNvSpPr/>
          <p:nvPr/>
        </p:nvSpPr>
        <p:spPr>
          <a:xfrm>
            <a:off x="2305050" y="4514850"/>
            <a:ext cx="14096005" cy="774700"/>
          </a:xfrm>
          <a:prstGeom prst="rect">
            <a:avLst/>
          </a:prstGeom>
          <a:noFill/>
          <a:ln/>
        </p:spPr>
        <p:txBody>
          <a:bodyPr wrap="square" lIns="25400" tIns="25400" rIns="25400" bIns="25400" rtlCol="0" anchor="t">
            <a:normAutofit/>
          </a:bodyPr>
          <a:lstStyle/>
          <a:p>
            <a:pPr marL="0" indent="0" algn="l">
              <a:lnSpc>
                <a:spcPct val="140000"/>
              </a:lnSpc>
              <a:buNone/>
            </a:pPr>
            <a:r>
              <a:rPr lang="en-US" sz="4200" kern="0" spc="-84" dirty="0">
                <a:solidFill>
                  <a:srgbClr val="E8E6DF"/>
                </a:solidFill>
                <a:latin typeface="Arial" pitchFamily="34" charset="0"/>
                <a:ea typeface="Arial" pitchFamily="34" charset="-122"/>
                <a:cs typeface="Arial" pitchFamily="34" charset="-120"/>
              </a:rPr>
              <a:t>GitHub Agentic Workflows</a:t>
            </a:r>
            <a:endParaRPr lang="en-US" sz="4200" dirty="0"/>
          </a:p>
        </p:txBody>
      </p:sp>
      <p:sp>
        <p:nvSpPr>
          <p:cNvPr id="19" name="Text 17"/>
          <p:cNvSpPr/>
          <p:nvPr/>
        </p:nvSpPr>
        <p:spPr>
          <a:xfrm>
            <a:off x="16295291" y="4711700"/>
            <a:ext cx="1116409"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7A8294"/>
                </a:solidFill>
                <a:latin typeface="Consolas" pitchFamily="34" charset="0"/>
                <a:ea typeface="Consolas" pitchFamily="34" charset="-122"/>
                <a:cs typeface="Consolas" pitchFamily="34" charset="-120"/>
              </a:rPr>
              <a:t>~ 8 min</a:t>
            </a:r>
            <a:endParaRPr lang="en-US" sz="1950" dirty="0"/>
          </a:p>
        </p:txBody>
      </p:sp>
      <p:sp>
        <p:nvSpPr>
          <p:cNvPr id="20" name="Shape 18"/>
          <p:cNvSpPr/>
          <p:nvPr/>
        </p:nvSpPr>
        <p:spPr>
          <a:xfrm>
            <a:off x="952500" y="5518150"/>
            <a:ext cx="16383000" cy="12700"/>
          </a:xfrm>
          <a:prstGeom prst="rect">
            <a:avLst/>
          </a:prstGeom>
          <a:solidFill>
            <a:srgbClr val="2A3142"/>
          </a:solidFill>
          <a:ln/>
        </p:spPr>
        <p:txBody>
          <a:bodyPr/>
          <a:p/>
        </p:txBody>
      </p:sp>
      <p:sp>
        <p:nvSpPr>
          <p:cNvPr id="21" name="Text 19"/>
          <p:cNvSpPr/>
          <p:nvPr/>
        </p:nvSpPr>
        <p:spPr>
          <a:xfrm>
            <a:off x="952500" y="5994400"/>
            <a:ext cx="1123950"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17" dirty="0">
                <a:solidFill>
                  <a:srgbClr val="B89CFF"/>
                </a:solidFill>
                <a:latin typeface="Consolas" pitchFamily="34" charset="0"/>
                <a:ea typeface="Consolas" pitchFamily="34" charset="-122"/>
                <a:cs typeface="Consolas" pitchFamily="34" charset="-120"/>
              </a:rPr>
              <a:t>03 ·</a:t>
            </a:r>
            <a:endParaRPr lang="en-US" sz="1950" dirty="0"/>
          </a:p>
        </p:txBody>
      </p:sp>
      <p:sp>
        <p:nvSpPr>
          <p:cNvPr id="22" name="Text 20"/>
          <p:cNvSpPr/>
          <p:nvPr/>
        </p:nvSpPr>
        <p:spPr>
          <a:xfrm>
            <a:off x="2305050" y="5797550"/>
            <a:ext cx="14096005" cy="774700"/>
          </a:xfrm>
          <a:prstGeom prst="rect">
            <a:avLst/>
          </a:prstGeom>
          <a:noFill/>
          <a:ln/>
        </p:spPr>
        <p:txBody>
          <a:bodyPr wrap="square" lIns="25400" tIns="25400" rIns="25400" bIns="25400" rtlCol="0" anchor="t">
            <a:normAutofit/>
          </a:bodyPr>
          <a:lstStyle/>
          <a:p>
            <a:pPr marL="0" indent="0" algn="l">
              <a:lnSpc>
                <a:spcPct val="140000"/>
              </a:lnSpc>
              <a:buNone/>
            </a:pPr>
            <a:r>
              <a:rPr lang="en-US" sz="4200" kern="0" spc="-84" dirty="0">
                <a:solidFill>
                  <a:srgbClr val="E8E6DF"/>
                </a:solidFill>
                <a:latin typeface="Arial" pitchFamily="34" charset="0"/>
                <a:ea typeface="Arial" pitchFamily="34" charset="-122"/>
                <a:cs typeface="Arial" pitchFamily="34" charset="-120"/>
              </a:rPr>
              <a:t>Live demo</a:t>
            </a:r>
            <a:endParaRPr lang="en-US" sz="4200" dirty="0"/>
          </a:p>
        </p:txBody>
      </p:sp>
      <p:sp>
        <p:nvSpPr>
          <p:cNvPr id="23" name="Text 21"/>
          <p:cNvSpPr/>
          <p:nvPr/>
        </p:nvSpPr>
        <p:spPr>
          <a:xfrm>
            <a:off x="16295291" y="5994400"/>
            <a:ext cx="1116409"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7A8294"/>
                </a:solidFill>
                <a:latin typeface="Consolas" pitchFamily="34" charset="0"/>
                <a:ea typeface="Consolas" pitchFamily="34" charset="-122"/>
                <a:cs typeface="Consolas" pitchFamily="34" charset="-120"/>
              </a:rPr>
              <a:t>~ 6 min</a:t>
            </a:r>
            <a:endParaRPr lang="en-US" sz="1950" dirty="0"/>
          </a:p>
        </p:txBody>
      </p:sp>
      <p:sp>
        <p:nvSpPr>
          <p:cNvPr id="24" name="Shape 22"/>
          <p:cNvSpPr/>
          <p:nvPr/>
        </p:nvSpPr>
        <p:spPr>
          <a:xfrm>
            <a:off x="952500" y="8083550"/>
            <a:ext cx="16383000" cy="12700"/>
          </a:xfrm>
          <a:prstGeom prst="rect">
            <a:avLst/>
          </a:prstGeom>
          <a:solidFill>
            <a:srgbClr val="2A3142"/>
          </a:solidFill>
          <a:ln/>
        </p:spPr>
        <p:txBody>
          <a:bodyPr/>
          <a:p/>
        </p:txBody>
      </p:sp>
      <p:sp>
        <p:nvSpPr>
          <p:cNvPr id="25" name="Shape 23"/>
          <p:cNvSpPr/>
          <p:nvPr/>
        </p:nvSpPr>
        <p:spPr>
          <a:xfrm>
            <a:off x="952500" y="6800850"/>
            <a:ext cx="16383000" cy="12700"/>
          </a:xfrm>
          <a:prstGeom prst="rect">
            <a:avLst/>
          </a:prstGeom>
          <a:solidFill>
            <a:srgbClr val="2A3142"/>
          </a:solidFill>
          <a:ln/>
        </p:spPr>
        <p:txBody>
          <a:bodyPr/>
          <a:p/>
        </p:txBody>
      </p:sp>
      <p:sp>
        <p:nvSpPr>
          <p:cNvPr id="26" name="Text 24"/>
          <p:cNvSpPr/>
          <p:nvPr/>
        </p:nvSpPr>
        <p:spPr>
          <a:xfrm>
            <a:off x="952500" y="7277100"/>
            <a:ext cx="1123950"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17" dirty="0">
                <a:solidFill>
                  <a:srgbClr val="B89CFF"/>
                </a:solidFill>
                <a:latin typeface="Consolas" pitchFamily="34" charset="0"/>
                <a:ea typeface="Consolas" pitchFamily="34" charset="-122"/>
                <a:cs typeface="Consolas" pitchFamily="34" charset="-120"/>
              </a:rPr>
              <a:t>04 ·</a:t>
            </a:r>
            <a:endParaRPr lang="en-US" sz="1950" dirty="0"/>
          </a:p>
        </p:txBody>
      </p:sp>
      <p:sp>
        <p:nvSpPr>
          <p:cNvPr id="27" name="Text 25"/>
          <p:cNvSpPr/>
          <p:nvPr/>
        </p:nvSpPr>
        <p:spPr>
          <a:xfrm>
            <a:off x="2305050" y="7080250"/>
            <a:ext cx="14096005" cy="774700"/>
          </a:xfrm>
          <a:prstGeom prst="rect">
            <a:avLst/>
          </a:prstGeom>
          <a:noFill/>
          <a:ln/>
        </p:spPr>
        <p:txBody>
          <a:bodyPr wrap="square" lIns="25400" tIns="25400" rIns="25400" bIns="25400" rtlCol="0" anchor="t">
            <a:normAutofit/>
          </a:bodyPr>
          <a:lstStyle/>
          <a:p>
            <a:pPr marL="0" indent="0" algn="l">
              <a:lnSpc>
                <a:spcPct val="140000"/>
              </a:lnSpc>
              <a:buNone/>
            </a:pPr>
            <a:r>
              <a:rPr lang="en-US" sz="4200" kern="0" spc="-84" dirty="0">
                <a:solidFill>
                  <a:srgbClr val="E8E6DF"/>
                </a:solidFill>
                <a:latin typeface="Arial" pitchFamily="34" charset="0"/>
                <a:ea typeface="Arial" pitchFamily="34" charset="-122"/>
                <a:cs typeface="Arial" pitchFamily="34" charset="-120"/>
              </a:rPr>
              <a:t>Q&amp;A</a:t>
            </a:r>
            <a:endParaRPr lang="en-US" sz="4200" dirty="0"/>
          </a:p>
        </p:txBody>
      </p:sp>
      <p:sp>
        <p:nvSpPr>
          <p:cNvPr id="28" name="Text 26"/>
          <p:cNvSpPr/>
          <p:nvPr/>
        </p:nvSpPr>
        <p:spPr>
          <a:xfrm>
            <a:off x="16295291" y="7277100"/>
            <a:ext cx="1116409"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7A8294"/>
                </a:solidFill>
                <a:latin typeface="Consolas" pitchFamily="34" charset="0"/>
                <a:ea typeface="Consolas" pitchFamily="34" charset="-122"/>
                <a:cs typeface="Consolas" pitchFamily="34" charset="-120"/>
              </a:rPr>
              <a:t>~ 3 min</a:t>
            </a:r>
            <a:endParaRPr lang="en-US" sz="1950" dirty="0"/>
          </a:p>
        </p:txBody>
      </p:sp>
      <p:sp>
        <p:nvSpPr>
          <p:cNvPr id="29" name="Shape 27"/>
          <p:cNvSpPr/>
          <p:nvPr/>
        </p:nvSpPr>
        <p:spPr>
          <a:xfrm>
            <a:off x="0" y="9779001"/>
            <a:ext cx="18288000" cy="508000"/>
          </a:xfrm>
          <a:prstGeom prst="rect">
            <a:avLst/>
          </a:prstGeom>
          <a:solidFill>
            <a:srgbClr val="11141B"/>
          </a:solidFill>
          <a:ln/>
        </p:spPr>
        <p:txBody>
          <a:bodyPr/>
          <a:p/>
        </p:txBody>
      </p:sp>
      <p:sp>
        <p:nvSpPr>
          <p:cNvPr id="30" name="Shape 28"/>
          <p:cNvSpPr/>
          <p:nvPr/>
        </p:nvSpPr>
        <p:spPr>
          <a:xfrm>
            <a:off x="0" y="9779001"/>
            <a:ext cx="18288000" cy="12700"/>
          </a:xfrm>
          <a:prstGeom prst="rect">
            <a:avLst/>
          </a:prstGeom>
          <a:solidFill>
            <a:srgbClr val="2A3142"/>
          </a:solidFill>
          <a:ln/>
        </p:spPr>
        <p:txBody>
          <a:bodyPr/>
          <a:p/>
        </p:txBody>
      </p:sp>
      <p:sp>
        <p:nvSpPr>
          <p:cNvPr id="31" name="Text 29"/>
          <p:cNvSpPr/>
          <p:nvPr/>
        </p:nvSpPr>
        <p:spPr>
          <a:xfrm>
            <a:off x="304800" y="9880600"/>
            <a:ext cx="1352352"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B89CFF"/>
                </a:solidFill>
                <a:latin typeface="Consolas" pitchFamily="34" charset="0"/>
                <a:ea typeface="Consolas" pitchFamily="34" charset="-122"/>
                <a:cs typeface="Consolas" pitchFamily="34" charset="-120"/>
              </a:rPr>
              <a:t>● agenda</a:t>
            </a:r>
            <a:endParaRPr lang="en-US" sz="1800" dirty="0"/>
          </a:p>
        </p:txBody>
      </p:sp>
      <p:sp>
        <p:nvSpPr>
          <p:cNvPr id="32" name="Text 30"/>
          <p:cNvSpPr/>
          <p:nvPr/>
        </p:nvSpPr>
        <p:spPr>
          <a:xfrm>
            <a:off x="1885752" y="9880600"/>
            <a:ext cx="1493639"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4 sections</a:t>
            </a:r>
            <a:endParaRPr lang="en-US" sz="1800" dirty="0"/>
          </a:p>
        </p:txBody>
      </p:sp>
      <p:sp>
        <p:nvSpPr>
          <p:cNvPr id="33" name="Text 31"/>
          <p:cNvSpPr/>
          <p:nvPr/>
        </p:nvSpPr>
        <p:spPr>
          <a:xfrm>
            <a:off x="16991013" y="9880600"/>
            <a:ext cx="1068388"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02 / 12</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D12"/>
        </a:solidFill>
        <a:effectLst/>
      </p:bgPr>
    </p:bg>
    <p:spTree>
      <p:nvGrpSpPr>
        <p:cNvPr id="1" name=""/>
        <p:cNvGrpSpPr/>
        <p:nvPr/>
      </p:nvGrpSpPr>
      <p:grpSpPr>
        <a:xfrm>
          <a:off x="0" y="0"/>
          <a:ext cx="0" cy="0"/>
          <a:chOff x="0" y="0"/>
          <a:chExt cx="0" cy="0"/>
        </a:xfrm>
      </p:grpSpPr>
      <p:sp>
        <p:nvSpPr>
          <p:cNvPr id="2" name="Shape 0"/>
          <p:cNvSpPr/>
          <p:nvPr/>
        </p:nvSpPr>
        <p:spPr>
          <a:xfrm>
            <a:off x="0" y="0"/>
            <a:ext cx="18288000" cy="546100"/>
          </a:xfrm>
          <a:prstGeom prst="rect">
            <a:avLst/>
          </a:prstGeom>
          <a:solidFill>
            <a:srgbClr val="11141B"/>
          </a:solidFill>
          <a:ln/>
        </p:spPr>
        <p:txBody>
          <a:bodyPr/>
          <a:p/>
        </p:txBody>
      </p:sp>
      <p:sp>
        <p:nvSpPr>
          <p:cNvPr id="3" name="Shape 1"/>
          <p:cNvSpPr/>
          <p:nvPr/>
        </p:nvSpPr>
        <p:spPr>
          <a:xfrm>
            <a:off x="0" y="533400"/>
            <a:ext cx="18288000" cy="12700"/>
          </a:xfrm>
          <a:prstGeom prst="rect">
            <a:avLst/>
          </a:prstGeom>
          <a:solidFill>
            <a:srgbClr val="2A3142"/>
          </a:solidFill>
          <a:ln/>
        </p:spPr>
        <p:txBody>
          <a:bodyPr/>
          <a:p/>
        </p:txBody>
      </p:sp>
      <p:sp>
        <p:nvSpPr>
          <p:cNvPr id="4" name="Shape 2"/>
          <p:cNvSpPr/>
          <p:nvPr/>
        </p:nvSpPr>
        <p:spPr>
          <a:xfrm>
            <a:off x="304800" y="200025"/>
            <a:ext cx="133350" cy="133350"/>
          </a:xfrm>
          <a:prstGeom prst="ellipse">
            <a:avLst/>
          </a:prstGeom>
          <a:solidFill>
            <a:srgbClr val="B6644A"/>
          </a:solidFill>
          <a:ln/>
        </p:spPr>
        <p:txBody>
          <a:bodyPr/>
          <a:p/>
        </p:txBody>
      </p:sp>
      <p:sp>
        <p:nvSpPr>
          <p:cNvPr id="5" name="Shape 3"/>
          <p:cNvSpPr/>
          <p:nvPr/>
        </p:nvSpPr>
        <p:spPr>
          <a:xfrm>
            <a:off x="533400" y="200025"/>
            <a:ext cx="133350" cy="133350"/>
          </a:xfrm>
          <a:prstGeom prst="ellipse">
            <a:avLst/>
          </a:prstGeom>
          <a:solidFill>
            <a:srgbClr val="B69A4A"/>
          </a:solidFill>
          <a:ln/>
        </p:spPr>
        <p:txBody>
          <a:bodyPr/>
          <a:p/>
        </p:txBody>
      </p:sp>
      <p:sp>
        <p:nvSpPr>
          <p:cNvPr id="6" name="Shape 4"/>
          <p:cNvSpPr/>
          <p:nvPr/>
        </p:nvSpPr>
        <p:spPr>
          <a:xfrm>
            <a:off x="762000" y="200025"/>
            <a:ext cx="133350" cy="133350"/>
          </a:xfrm>
          <a:prstGeom prst="ellipse">
            <a:avLst/>
          </a:prstGeom>
          <a:solidFill>
            <a:srgbClr val="6B9A6A"/>
          </a:solidFill>
          <a:ln/>
        </p:spPr>
        <p:txBody>
          <a:bodyPr/>
          <a:p/>
        </p:txBody>
      </p:sp>
      <p:sp>
        <p:nvSpPr>
          <p:cNvPr id="7" name="Text 5"/>
          <p:cNvSpPr/>
          <p:nvPr/>
        </p:nvSpPr>
        <p:spPr>
          <a:xfrm>
            <a:off x="1066800" y="107950"/>
            <a:ext cx="4974459"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C6C4BC"/>
                </a:solidFill>
                <a:latin typeface="Consolas" pitchFamily="34" charset="0"/>
                <a:ea typeface="Consolas" pitchFamily="34" charset="-122"/>
                <a:cs typeface="Consolas" pitchFamily="34" charset="-120"/>
              </a:rPr>
              <a:t>~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C6C4BC"/>
                </a:solidFill>
                <a:latin typeface="Consolas" pitchFamily="34" charset="0"/>
                <a:ea typeface="Consolas" pitchFamily="34" charset="-122"/>
                <a:cs typeface="Consolas" pitchFamily="34" charset="-120"/>
              </a:rPr>
              <a:t>agentic-workflows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B89CFF"/>
                </a:solidFill>
                <a:latin typeface="Consolas" pitchFamily="34" charset="0"/>
                <a:ea typeface="Consolas" pitchFamily="34" charset="-122"/>
                <a:cs typeface="Consolas" pitchFamily="34" charset="-120"/>
              </a:rPr>
              <a:t>02-context.md</a:t>
            </a:r>
            <a:endParaRPr lang="en-US" sz="1800" dirty="0"/>
          </a:p>
        </p:txBody>
      </p:sp>
      <p:sp>
        <p:nvSpPr>
          <p:cNvPr id="8" name="Text 6"/>
          <p:cNvSpPr/>
          <p:nvPr/>
        </p:nvSpPr>
        <p:spPr>
          <a:xfrm>
            <a:off x="14549438" y="107950"/>
            <a:ext cx="643136"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545B6C"/>
                </a:solidFill>
                <a:latin typeface="Consolas" pitchFamily="34" charset="0"/>
                <a:ea typeface="Consolas" pitchFamily="34" charset="-122"/>
                <a:cs typeface="Consolas" pitchFamily="34" charset="-120"/>
              </a:rPr>
              <a:t>main</a:t>
            </a:r>
            <a:endParaRPr lang="en-US" sz="1800" dirty="0"/>
          </a:p>
        </p:txBody>
      </p:sp>
      <p:sp>
        <p:nvSpPr>
          <p:cNvPr id="9" name="Text 7"/>
          <p:cNvSpPr/>
          <p:nvPr/>
        </p:nvSpPr>
        <p:spPr>
          <a:xfrm>
            <a:off x="15383074" y="107950"/>
            <a:ext cx="2678131"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6DC287"/>
                </a:solidFill>
                <a:latin typeface="Consolas" pitchFamily="34" charset="0"/>
                <a:ea typeface="Consolas" pitchFamily="34" charset="-122"/>
                <a:cs typeface="Consolas" pitchFamily="34" charset="-120"/>
              </a:rPr>
              <a:t>generally available</a:t>
            </a:r>
            <a:endParaRPr lang="en-US" sz="1800" dirty="0"/>
          </a:p>
        </p:txBody>
      </p:sp>
      <p:sp>
        <p:nvSpPr>
          <p:cNvPr id="10" name="Text 8"/>
          <p:cNvSpPr/>
          <p:nvPr/>
        </p:nvSpPr>
        <p:spPr>
          <a:xfrm>
            <a:off x="952500" y="1047750"/>
            <a:ext cx="1687449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B89CFF"/>
                </a:solidFill>
                <a:latin typeface="Consolas" pitchFamily="34" charset="0"/>
                <a:ea typeface="Consolas" pitchFamily="34" charset="-122"/>
                <a:cs typeface="Consolas" pitchFamily="34" charset="-120"/>
              </a:rPr>
              <a:t>## </a:t>
            </a:r>
            <a:r>
              <a:rPr lang="en-US" sz="1800" kern="0" spc="288" dirty="0">
                <a:solidFill>
                  <a:srgbClr val="7A8294"/>
                </a:solidFill>
                <a:latin typeface="Consolas" pitchFamily="34" charset="0"/>
                <a:ea typeface="Consolas" pitchFamily="34" charset="-122"/>
                <a:cs typeface="Consolas" pitchFamily="34" charset="-120"/>
              </a:rPr>
              <a:t>FROM AUTOMATION TO INTELLIGENCE</a:t>
            </a:r>
            <a:endParaRPr lang="en-US" sz="1800" dirty="0"/>
          </a:p>
        </p:txBody>
      </p:sp>
      <p:sp>
        <p:nvSpPr>
          <p:cNvPr id="11" name="Text 9"/>
          <p:cNvSpPr/>
          <p:nvPr/>
        </p:nvSpPr>
        <p:spPr>
          <a:xfrm>
            <a:off x="952500" y="1631950"/>
            <a:ext cx="14716125" cy="1612900"/>
          </a:xfrm>
          <a:prstGeom prst="rect">
            <a:avLst/>
          </a:prstGeom>
          <a:noFill/>
          <a:ln/>
        </p:spPr>
        <p:txBody>
          <a:bodyPr wrap="square" lIns="25400" tIns="25400" rIns="25400" bIns="25400" rtlCol="0" anchor="t">
            <a:normAutofit/>
          </a:bodyPr>
          <a:lstStyle/>
          <a:p>
            <a:pPr marL="0" indent="0" algn="l">
              <a:lnSpc>
                <a:spcPct val="105000"/>
              </a:lnSpc>
              <a:buNone/>
            </a:pPr>
            <a:r>
              <a:rPr lang="en-US" sz="5700" kern="0" spc="-142" dirty="0">
                <a:solidFill>
                  <a:srgbClr val="E8E6DF"/>
                </a:solidFill>
                <a:latin typeface="Arial" pitchFamily="34" charset="0"/>
                <a:ea typeface="Arial" pitchFamily="34" charset="-122"/>
                <a:cs typeface="Arial" pitchFamily="34" charset="-120"/>
              </a:rPr>
              <a:t>Eight years of embedding </a:t>
            </a:r>
            <a:r>
              <a:rPr lang="en-US" sz="5700" i="1" kern="0" spc="-142" dirty="0">
                <a:solidFill>
                  <a:srgbClr val="B89CFF"/>
                </a:solidFill>
                <a:latin typeface="Georgia" pitchFamily="34" charset="0"/>
                <a:ea typeface="Georgia" pitchFamily="34" charset="-122"/>
                <a:cs typeface="Georgia" pitchFamily="34" charset="-120"/>
              </a:rPr>
              <a:t>intelligence </a:t>
            </a:r>
            <a:r>
              <a:rPr lang="en-US" sz="5700" kern="0" spc="-142" dirty="0">
                <a:solidFill>
                  <a:srgbClr val="E8E6DF"/>
                </a:solidFill>
                <a:latin typeface="Arial" pitchFamily="34" charset="0"/>
                <a:ea typeface="Arial" pitchFamily="34" charset="-122"/>
                <a:cs typeface="Arial" pitchFamily="34" charset="-120"/>
              </a:rPr>
              <a:t>into the workflow.</a:t>
            </a:r>
            <a:endParaRPr lang="en-US" sz="5700" dirty="0"/>
          </a:p>
        </p:txBody>
      </p:sp>
      <p:sp>
        <p:nvSpPr>
          <p:cNvPr id="12" name="Shape 10"/>
          <p:cNvSpPr/>
          <p:nvPr/>
        </p:nvSpPr>
        <p:spPr>
          <a:xfrm>
            <a:off x="1238250" y="5016500"/>
            <a:ext cx="15811500" cy="9525"/>
          </a:xfrm>
          <a:prstGeom prst="rect">
            <a:avLst/>
          </a:prstGeom>
          <a:solidFill>
            <a:srgbClr val="2A3142"/>
          </a:solidFill>
          <a:ln/>
        </p:spPr>
        <p:txBody>
          <a:bodyPr/>
          <a:p/>
        </p:txBody>
      </p:sp>
      <p:sp>
        <p:nvSpPr>
          <p:cNvPr id="13" name="Shape 11"/>
          <p:cNvSpPr/>
          <p:nvPr/>
        </p:nvSpPr>
        <p:spPr>
          <a:xfrm>
            <a:off x="1238250" y="4959350"/>
            <a:ext cx="171450" cy="171450"/>
          </a:xfrm>
          <a:prstGeom prst="ellipse">
            <a:avLst/>
          </a:prstGeom>
          <a:solidFill>
            <a:srgbClr val="0B0D12"/>
          </a:solidFill>
          <a:ln w="19050">
            <a:solidFill>
              <a:srgbClr val="7A8294"/>
            </a:solidFill>
            <a:prstDash val="solid"/>
          </a:ln>
        </p:spPr>
        <p:txBody>
          <a:bodyPr/>
          <a:p/>
        </p:txBody>
      </p:sp>
      <p:sp>
        <p:nvSpPr>
          <p:cNvPr id="14" name="Text 12"/>
          <p:cNvSpPr/>
          <p:nvPr/>
        </p:nvSpPr>
        <p:spPr>
          <a:xfrm>
            <a:off x="1238250" y="5387975"/>
            <a:ext cx="3777139"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7A8294"/>
                </a:solidFill>
                <a:latin typeface="Consolas" pitchFamily="34" charset="0"/>
                <a:ea typeface="Consolas" pitchFamily="34" charset="-122"/>
                <a:cs typeface="Consolas" pitchFamily="34" charset="-120"/>
              </a:rPr>
              <a:t>2018</a:t>
            </a:r>
            <a:endParaRPr lang="en-US" sz="1950" dirty="0"/>
          </a:p>
        </p:txBody>
      </p:sp>
      <p:sp>
        <p:nvSpPr>
          <p:cNvPr id="15" name="Text 13"/>
          <p:cNvSpPr/>
          <p:nvPr/>
        </p:nvSpPr>
        <p:spPr>
          <a:xfrm>
            <a:off x="1238250" y="5864225"/>
            <a:ext cx="3777139" cy="393700"/>
          </a:xfrm>
          <a:prstGeom prst="rect">
            <a:avLst/>
          </a:prstGeom>
          <a:noFill/>
          <a:ln/>
        </p:spPr>
        <p:txBody>
          <a:bodyPr wrap="square" lIns="25400" tIns="25400" rIns="25400" bIns="25400" rtlCol="0" anchor="t">
            <a:normAutofit/>
          </a:bodyPr>
          <a:lstStyle/>
          <a:p>
            <a:pPr marL="0" indent="0" algn="l">
              <a:lnSpc>
                <a:spcPct val="110000"/>
              </a:lnSpc>
              <a:buNone/>
            </a:pPr>
            <a:r>
              <a:rPr lang="en-US" sz="2550" kern="0" spc="-25" dirty="0">
                <a:solidFill>
                  <a:srgbClr val="E8E6DF"/>
                </a:solidFill>
                <a:latin typeface="Arial" pitchFamily="34" charset="0"/>
                <a:ea typeface="Arial" pitchFamily="34" charset="-122"/>
                <a:cs typeface="Arial" pitchFamily="34" charset="-120"/>
              </a:rPr>
              <a:t>GitHub Actions</a:t>
            </a:r>
            <a:endParaRPr lang="en-US" sz="2550" dirty="0"/>
          </a:p>
        </p:txBody>
      </p:sp>
      <p:sp>
        <p:nvSpPr>
          <p:cNvPr id="16" name="Text 14"/>
          <p:cNvSpPr/>
          <p:nvPr/>
        </p:nvSpPr>
        <p:spPr>
          <a:xfrm>
            <a:off x="1238250" y="6315075"/>
            <a:ext cx="3777139"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7A8294"/>
                </a:solidFill>
                <a:latin typeface="Arial" pitchFamily="34" charset="0"/>
                <a:ea typeface="Arial" pitchFamily="34" charset="-122"/>
                <a:cs typeface="Arial" pitchFamily="34" charset="-120"/>
              </a:rPr>
              <a:t>Automation as the foundation.</a:t>
            </a:r>
            <a:endParaRPr lang="en-US" sz="1800" dirty="0"/>
          </a:p>
        </p:txBody>
      </p:sp>
      <p:sp>
        <p:nvSpPr>
          <p:cNvPr id="17" name="Shape 15"/>
          <p:cNvSpPr/>
          <p:nvPr/>
        </p:nvSpPr>
        <p:spPr>
          <a:xfrm>
            <a:off x="5191125" y="4959350"/>
            <a:ext cx="171450" cy="171450"/>
          </a:xfrm>
          <a:prstGeom prst="ellipse">
            <a:avLst/>
          </a:prstGeom>
          <a:solidFill>
            <a:srgbClr val="0B0D12"/>
          </a:solidFill>
          <a:ln w="19050">
            <a:solidFill>
              <a:srgbClr val="7A8294"/>
            </a:solidFill>
            <a:prstDash val="solid"/>
          </a:ln>
        </p:spPr>
        <p:txBody>
          <a:bodyPr/>
          <a:p/>
        </p:txBody>
      </p:sp>
      <p:sp>
        <p:nvSpPr>
          <p:cNvPr id="18" name="Text 16"/>
          <p:cNvSpPr/>
          <p:nvPr/>
        </p:nvSpPr>
        <p:spPr>
          <a:xfrm>
            <a:off x="5191125" y="5387975"/>
            <a:ext cx="3777139"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7A8294"/>
                </a:solidFill>
                <a:latin typeface="Consolas" pitchFamily="34" charset="0"/>
                <a:ea typeface="Consolas" pitchFamily="34" charset="-122"/>
                <a:cs typeface="Consolas" pitchFamily="34" charset="-120"/>
              </a:rPr>
              <a:t>2021</a:t>
            </a:r>
            <a:endParaRPr lang="en-US" sz="1950" dirty="0"/>
          </a:p>
        </p:txBody>
      </p:sp>
      <p:sp>
        <p:nvSpPr>
          <p:cNvPr id="19" name="Text 17"/>
          <p:cNvSpPr/>
          <p:nvPr/>
        </p:nvSpPr>
        <p:spPr>
          <a:xfrm>
            <a:off x="5191125" y="5864225"/>
            <a:ext cx="3777139" cy="393700"/>
          </a:xfrm>
          <a:prstGeom prst="rect">
            <a:avLst/>
          </a:prstGeom>
          <a:noFill/>
          <a:ln/>
        </p:spPr>
        <p:txBody>
          <a:bodyPr wrap="square" lIns="25400" tIns="25400" rIns="25400" bIns="25400" rtlCol="0" anchor="t">
            <a:normAutofit/>
          </a:bodyPr>
          <a:lstStyle/>
          <a:p>
            <a:pPr marL="0" indent="0" algn="l">
              <a:lnSpc>
                <a:spcPct val="110000"/>
              </a:lnSpc>
              <a:buNone/>
            </a:pPr>
            <a:r>
              <a:rPr lang="en-US" sz="2550" kern="0" spc="-25" dirty="0">
                <a:solidFill>
                  <a:srgbClr val="E8E6DF"/>
                </a:solidFill>
                <a:latin typeface="Arial" pitchFamily="34" charset="0"/>
                <a:ea typeface="Arial" pitchFamily="34" charset="-122"/>
                <a:cs typeface="Arial" pitchFamily="34" charset="-120"/>
              </a:rPr>
              <a:t>Copilot</a:t>
            </a:r>
            <a:endParaRPr lang="en-US" sz="2550" dirty="0"/>
          </a:p>
        </p:txBody>
      </p:sp>
      <p:sp>
        <p:nvSpPr>
          <p:cNvPr id="20" name="Text 18"/>
          <p:cNvSpPr/>
          <p:nvPr/>
        </p:nvSpPr>
        <p:spPr>
          <a:xfrm>
            <a:off x="5191125" y="6315075"/>
            <a:ext cx="3777139"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7A8294"/>
                </a:solidFill>
                <a:latin typeface="Arial" pitchFamily="34" charset="0"/>
                <a:ea typeface="Arial" pitchFamily="34" charset="-122"/>
                <a:cs typeface="Arial" pitchFamily="34" charset="-120"/>
              </a:rPr>
              <a:t>Assists you in the editor.</a:t>
            </a:r>
            <a:endParaRPr lang="en-US" sz="1800" dirty="0"/>
          </a:p>
        </p:txBody>
      </p:sp>
      <p:sp>
        <p:nvSpPr>
          <p:cNvPr id="21" name="Shape 19"/>
          <p:cNvSpPr/>
          <p:nvPr/>
        </p:nvSpPr>
        <p:spPr>
          <a:xfrm>
            <a:off x="9144000" y="4959350"/>
            <a:ext cx="171450" cy="171450"/>
          </a:xfrm>
          <a:prstGeom prst="ellipse">
            <a:avLst/>
          </a:prstGeom>
          <a:solidFill>
            <a:srgbClr val="0B0D12"/>
          </a:solidFill>
          <a:ln w="19050">
            <a:solidFill>
              <a:srgbClr val="7A8294"/>
            </a:solidFill>
            <a:prstDash val="solid"/>
          </a:ln>
        </p:spPr>
        <p:txBody>
          <a:bodyPr/>
          <a:p/>
        </p:txBody>
      </p:sp>
      <p:sp>
        <p:nvSpPr>
          <p:cNvPr id="22" name="Text 20"/>
          <p:cNvSpPr/>
          <p:nvPr/>
        </p:nvSpPr>
        <p:spPr>
          <a:xfrm>
            <a:off x="9144000" y="5387975"/>
            <a:ext cx="3777139"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7A8294"/>
                </a:solidFill>
                <a:latin typeface="Consolas" pitchFamily="34" charset="0"/>
                <a:ea typeface="Consolas" pitchFamily="34" charset="-122"/>
                <a:cs typeface="Consolas" pitchFamily="34" charset="-120"/>
              </a:rPr>
              <a:t>2025</a:t>
            </a:r>
            <a:endParaRPr lang="en-US" sz="1950" dirty="0"/>
          </a:p>
        </p:txBody>
      </p:sp>
      <p:sp>
        <p:nvSpPr>
          <p:cNvPr id="23" name="Text 21"/>
          <p:cNvSpPr/>
          <p:nvPr/>
        </p:nvSpPr>
        <p:spPr>
          <a:xfrm>
            <a:off x="9144000" y="5864225"/>
            <a:ext cx="3777139" cy="393700"/>
          </a:xfrm>
          <a:prstGeom prst="rect">
            <a:avLst/>
          </a:prstGeom>
          <a:noFill/>
          <a:ln/>
        </p:spPr>
        <p:txBody>
          <a:bodyPr wrap="square" lIns="25400" tIns="25400" rIns="25400" bIns="25400" rtlCol="0" anchor="t">
            <a:normAutofit/>
          </a:bodyPr>
          <a:lstStyle/>
          <a:p>
            <a:pPr marL="0" indent="0" algn="l">
              <a:lnSpc>
                <a:spcPct val="110000"/>
              </a:lnSpc>
              <a:buNone/>
            </a:pPr>
            <a:r>
              <a:rPr lang="en-US" sz="2550" kern="0" spc="-25" dirty="0">
                <a:solidFill>
                  <a:srgbClr val="E8E6DF"/>
                </a:solidFill>
                <a:latin typeface="Arial" pitchFamily="34" charset="0"/>
                <a:ea typeface="Arial" pitchFamily="34" charset="-122"/>
                <a:cs typeface="Arial" pitchFamily="34" charset="-120"/>
              </a:rPr>
              <a:t>Coding Agent</a:t>
            </a:r>
            <a:endParaRPr lang="en-US" sz="2550" dirty="0"/>
          </a:p>
        </p:txBody>
      </p:sp>
      <p:sp>
        <p:nvSpPr>
          <p:cNvPr id="24" name="Text 22"/>
          <p:cNvSpPr/>
          <p:nvPr/>
        </p:nvSpPr>
        <p:spPr>
          <a:xfrm>
            <a:off x="9144000" y="6315075"/>
            <a:ext cx="3777139"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7A8294"/>
                </a:solidFill>
                <a:latin typeface="Arial" pitchFamily="34" charset="0"/>
                <a:ea typeface="Arial" pitchFamily="34" charset="-122"/>
                <a:cs typeface="Arial" pitchFamily="34" charset="-120"/>
              </a:rPr>
              <a:t>SWE agents that act on tasks.</a:t>
            </a:r>
            <a:endParaRPr lang="en-US" sz="1800" dirty="0"/>
          </a:p>
        </p:txBody>
      </p:sp>
      <p:sp>
        <p:nvSpPr>
          <p:cNvPr id="25" name="Shape 23"/>
          <p:cNvSpPr/>
          <p:nvPr/>
        </p:nvSpPr>
        <p:spPr>
          <a:xfrm>
            <a:off x="13096875" y="4940300"/>
            <a:ext cx="209550" cy="209550"/>
          </a:xfrm>
          <a:prstGeom prst="ellipse">
            <a:avLst/>
          </a:prstGeom>
          <a:solidFill>
            <a:srgbClr val="B89CFF"/>
          </a:solidFill>
          <a:ln w="19050">
            <a:solidFill>
              <a:srgbClr val="B89CFF"/>
            </a:solidFill>
            <a:prstDash val="solid"/>
          </a:ln>
          <a:effectLst>
            <a:outerShdw blurRad="101600" dist="50800" dir="16200000" algn="bl" rotWithShape="0">
              <a:srgbClr val="B89CFF">
                <a:alpha val="18000"/>
              </a:srgbClr>
            </a:outerShdw>
          </a:effectLst>
        </p:spPr>
        <p:txBody>
          <a:bodyPr/>
          <a:p/>
        </p:txBody>
      </p:sp>
      <p:sp>
        <p:nvSpPr>
          <p:cNvPr id="26" name="Text 24"/>
          <p:cNvSpPr/>
          <p:nvPr/>
        </p:nvSpPr>
        <p:spPr>
          <a:xfrm>
            <a:off x="13096875" y="5387975"/>
            <a:ext cx="3777139"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7A8294"/>
                </a:solidFill>
                <a:latin typeface="Consolas" pitchFamily="34" charset="0"/>
                <a:ea typeface="Consolas" pitchFamily="34" charset="-122"/>
                <a:cs typeface="Consolas" pitchFamily="34" charset="-120"/>
              </a:rPr>
              <a:t>2026 · </a:t>
            </a:r>
            <a:r>
              <a:rPr lang="en-US" sz="1950" kern="0" spc="156" dirty="0">
                <a:solidFill>
                  <a:srgbClr val="B89CFF"/>
                </a:solidFill>
                <a:latin typeface="Consolas" pitchFamily="34" charset="0"/>
                <a:ea typeface="Consolas" pitchFamily="34" charset="-122"/>
                <a:cs typeface="Consolas" pitchFamily="34" charset="-120"/>
              </a:rPr>
              <a:t>now</a:t>
            </a:r>
            <a:endParaRPr lang="en-US" sz="1950" dirty="0"/>
          </a:p>
        </p:txBody>
      </p:sp>
      <p:sp>
        <p:nvSpPr>
          <p:cNvPr id="27" name="Text 25"/>
          <p:cNvSpPr/>
          <p:nvPr/>
        </p:nvSpPr>
        <p:spPr>
          <a:xfrm>
            <a:off x="13096875" y="5864225"/>
            <a:ext cx="3777139" cy="393700"/>
          </a:xfrm>
          <a:prstGeom prst="rect">
            <a:avLst/>
          </a:prstGeom>
          <a:noFill/>
          <a:ln/>
        </p:spPr>
        <p:txBody>
          <a:bodyPr wrap="square" lIns="25400" tIns="25400" rIns="25400" bIns="25400" rtlCol="0" anchor="t">
            <a:normAutofit/>
          </a:bodyPr>
          <a:lstStyle/>
          <a:p>
            <a:pPr marL="0" indent="0" algn="l">
              <a:lnSpc>
                <a:spcPct val="110000"/>
              </a:lnSpc>
              <a:buNone/>
            </a:pPr>
            <a:r>
              <a:rPr lang="en-US" sz="2550" kern="0" spc="-25" dirty="0">
                <a:solidFill>
                  <a:srgbClr val="B89CFF"/>
                </a:solidFill>
                <a:latin typeface="Arial" pitchFamily="34" charset="0"/>
                <a:ea typeface="Arial" pitchFamily="34" charset="-122"/>
                <a:cs typeface="Arial" pitchFamily="34" charset="-120"/>
              </a:rPr>
              <a:t>Agentic Workflows</a:t>
            </a:r>
            <a:endParaRPr lang="en-US" sz="2550" dirty="0"/>
          </a:p>
        </p:txBody>
      </p:sp>
      <p:sp>
        <p:nvSpPr>
          <p:cNvPr id="28" name="Text 26"/>
          <p:cNvSpPr/>
          <p:nvPr/>
        </p:nvSpPr>
        <p:spPr>
          <a:xfrm>
            <a:off x="13096875" y="6315075"/>
            <a:ext cx="3777139" cy="6731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7A8294"/>
                </a:solidFill>
                <a:latin typeface="Arial" pitchFamily="34" charset="0"/>
                <a:ea typeface="Arial" pitchFamily="34" charset="-122"/>
                <a:cs typeface="Arial" pitchFamily="34" charset="-120"/>
              </a:rPr>
              <a:t>Intelligence built into the workflow itself.</a:t>
            </a:r>
            <a:endParaRPr lang="en-US" sz="1800" dirty="0"/>
          </a:p>
        </p:txBody>
      </p:sp>
      <p:sp>
        <p:nvSpPr>
          <p:cNvPr id="29" name="Shape 27"/>
          <p:cNvSpPr/>
          <p:nvPr/>
        </p:nvSpPr>
        <p:spPr>
          <a:xfrm>
            <a:off x="0" y="9779001"/>
            <a:ext cx="18288000" cy="508000"/>
          </a:xfrm>
          <a:prstGeom prst="rect">
            <a:avLst/>
          </a:prstGeom>
          <a:solidFill>
            <a:srgbClr val="11141B"/>
          </a:solidFill>
          <a:ln/>
        </p:spPr>
        <p:txBody>
          <a:bodyPr/>
          <a:p/>
        </p:txBody>
      </p:sp>
      <p:sp>
        <p:nvSpPr>
          <p:cNvPr id="30" name="Shape 28"/>
          <p:cNvSpPr/>
          <p:nvPr/>
        </p:nvSpPr>
        <p:spPr>
          <a:xfrm>
            <a:off x="0" y="9779001"/>
            <a:ext cx="18288000" cy="12700"/>
          </a:xfrm>
          <a:prstGeom prst="rect">
            <a:avLst/>
          </a:prstGeom>
          <a:solidFill>
            <a:srgbClr val="2A3142"/>
          </a:solidFill>
          <a:ln/>
        </p:spPr>
        <p:txBody>
          <a:bodyPr/>
          <a:p/>
        </p:txBody>
      </p:sp>
      <p:sp>
        <p:nvSpPr>
          <p:cNvPr id="31" name="Text 29"/>
          <p:cNvSpPr/>
          <p:nvPr/>
        </p:nvSpPr>
        <p:spPr>
          <a:xfrm>
            <a:off x="304800" y="9880600"/>
            <a:ext cx="1494036"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B89CFF"/>
                </a:solidFill>
                <a:latin typeface="Consolas" pitchFamily="34" charset="0"/>
                <a:ea typeface="Consolas" pitchFamily="34" charset="-122"/>
                <a:cs typeface="Consolas" pitchFamily="34" charset="-120"/>
              </a:rPr>
              <a:t>● context</a:t>
            </a:r>
            <a:endParaRPr lang="en-US" sz="1800" dirty="0"/>
          </a:p>
        </p:txBody>
      </p:sp>
      <p:sp>
        <p:nvSpPr>
          <p:cNvPr id="32" name="Text 30"/>
          <p:cNvSpPr/>
          <p:nvPr/>
        </p:nvSpPr>
        <p:spPr>
          <a:xfrm>
            <a:off x="2027436" y="9880600"/>
            <a:ext cx="1635919"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2018 → 2026</a:t>
            </a:r>
            <a:endParaRPr lang="en-US" sz="1800" dirty="0"/>
          </a:p>
        </p:txBody>
      </p:sp>
      <p:sp>
        <p:nvSpPr>
          <p:cNvPr id="33" name="Text 31"/>
          <p:cNvSpPr/>
          <p:nvPr/>
        </p:nvSpPr>
        <p:spPr>
          <a:xfrm>
            <a:off x="16991013" y="9880600"/>
            <a:ext cx="1068388"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03 / 12</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D12"/>
        </a:solidFill>
        <a:effectLst/>
      </p:bgPr>
    </p:bg>
    <p:spTree>
      <p:nvGrpSpPr>
        <p:cNvPr id="1" name=""/>
        <p:cNvGrpSpPr/>
        <p:nvPr/>
      </p:nvGrpSpPr>
      <p:grpSpPr>
        <a:xfrm>
          <a:off x="0" y="0"/>
          <a:ext cx="0" cy="0"/>
          <a:chOff x="0" y="0"/>
          <a:chExt cx="0" cy="0"/>
        </a:xfrm>
      </p:grpSpPr>
      <p:sp>
        <p:nvSpPr>
          <p:cNvPr id="2" name="Shape 0"/>
          <p:cNvSpPr/>
          <p:nvPr/>
        </p:nvSpPr>
        <p:spPr>
          <a:xfrm>
            <a:off x="0" y="0"/>
            <a:ext cx="18288000" cy="546100"/>
          </a:xfrm>
          <a:prstGeom prst="rect">
            <a:avLst/>
          </a:prstGeom>
          <a:solidFill>
            <a:srgbClr val="11141B"/>
          </a:solidFill>
          <a:ln/>
        </p:spPr>
        <p:txBody>
          <a:bodyPr/>
          <a:p/>
        </p:txBody>
      </p:sp>
      <p:sp>
        <p:nvSpPr>
          <p:cNvPr id="3" name="Shape 1"/>
          <p:cNvSpPr/>
          <p:nvPr/>
        </p:nvSpPr>
        <p:spPr>
          <a:xfrm>
            <a:off x="0" y="533400"/>
            <a:ext cx="18288000" cy="12700"/>
          </a:xfrm>
          <a:prstGeom prst="rect">
            <a:avLst/>
          </a:prstGeom>
          <a:solidFill>
            <a:srgbClr val="2A3142"/>
          </a:solidFill>
          <a:ln/>
        </p:spPr>
        <p:txBody>
          <a:bodyPr/>
          <a:p/>
        </p:txBody>
      </p:sp>
      <p:sp>
        <p:nvSpPr>
          <p:cNvPr id="4" name="Shape 2"/>
          <p:cNvSpPr/>
          <p:nvPr/>
        </p:nvSpPr>
        <p:spPr>
          <a:xfrm>
            <a:off x="304800" y="200025"/>
            <a:ext cx="133350" cy="133350"/>
          </a:xfrm>
          <a:prstGeom prst="ellipse">
            <a:avLst/>
          </a:prstGeom>
          <a:solidFill>
            <a:srgbClr val="B6644A"/>
          </a:solidFill>
          <a:ln/>
        </p:spPr>
        <p:txBody>
          <a:bodyPr/>
          <a:p/>
        </p:txBody>
      </p:sp>
      <p:sp>
        <p:nvSpPr>
          <p:cNvPr id="5" name="Shape 3"/>
          <p:cNvSpPr/>
          <p:nvPr/>
        </p:nvSpPr>
        <p:spPr>
          <a:xfrm>
            <a:off x="533400" y="200025"/>
            <a:ext cx="133350" cy="133350"/>
          </a:xfrm>
          <a:prstGeom prst="ellipse">
            <a:avLst/>
          </a:prstGeom>
          <a:solidFill>
            <a:srgbClr val="B69A4A"/>
          </a:solidFill>
          <a:ln/>
        </p:spPr>
        <p:txBody>
          <a:bodyPr/>
          <a:p/>
        </p:txBody>
      </p:sp>
      <p:sp>
        <p:nvSpPr>
          <p:cNvPr id="6" name="Shape 4"/>
          <p:cNvSpPr/>
          <p:nvPr/>
        </p:nvSpPr>
        <p:spPr>
          <a:xfrm>
            <a:off x="762000" y="200025"/>
            <a:ext cx="133350" cy="133350"/>
          </a:xfrm>
          <a:prstGeom prst="ellipse">
            <a:avLst/>
          </a:prstGeom>
          <a:solidFill>
            <a:srgbClr val="6B9A6A"/>
          </a:solidFill>
          <a:ln/>
        </p:spPr>
        <p:txBody>
          <a:bodyPr/>
          <a:p/>
        </p:txBody>
      </p:sp>
      <p:sp>
        <p:nvSpPr>
          <p:cNvPr id="7" name="Text 5"/>
          <p:cNvSpPr/>
          <p:nvPr/>
        </p:nvSpPr>
        <p:spPr>
          <a:xfrm>
            <a:off x="1066800" y="107950"/>
            <a:ext cx="4974459"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C6C4BC"/>
                </a:solidFill>
                <a:latin typeface="Consolas" pitchFamily="34" charset="0"/>
                <a:ea typeface="Consolas" pitchFamily="34" charset="-122"/>
                <a:cs typeface="Consolas" pitchFamily="34" charset="-120"/>
              </a:rPr>
              <a:t>~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C6C4BC"/>
                </a:solidFill>
                <a:latin typeface="Consolas" pitchFamily="34" charset="0"/>
                <a:ea typeface="Consolas" pitchFamily="34" charset="-122"/>
                <a:cs typeface="Consolas" pitchFamily="34" charset="-120"/>
              </a:rPr>
              <a:t>agentic-workflows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B89CFF"/>
                </a:solidFill>
                <a:latin typeface="Consolas" pitchFamily="34" charset="0"/>
                <a:ea typeface="Consolas" pitchFamily="34" charset="-122"/>
                <a:cs typeface="Consolas" pitchFamily="34" charset="-120"/>
              </a:rPr>
              <a:t>03-install.md</a:t>
            </a:r>
            <a:endParaRPr lang="en-US" sz="1800" dirty="0"/>
          </a:p>
        </p:txBody>
      </p:sp>
      <p:sp>
        <p:nvSpPr>
          <p:cNvPr id="8" name="Text 6"/>
          <p:cNvSpPr/>
          <p:nvPr/>
        </p:nvSpPr>
        <p:spPr>
          <a:xfrm>
            <a:off x="14549438" y="107950"/>
            <a:ext cx="643136"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545B6C"/>
                </a:solidFill>
                <a:latin typeface="Consolas" pitchFamily="34" charset="0"/>
                <a:ea typeface="Consolas" pitchFamily="34" charset="-122"/>
                <a:cs typeface="Consolas" pitchFamily="34" charset="-120"/>
              </a:rPr>
              <a:t>main</a:t>
            </a:r>
            <a:endParaRPr lang="en-US" sz="1800" dirty="0"/>
          </a:p>
        </p:txBody>
      </p:sp>
      <p:sp>
        <p:nvSpPr>
          <p:cNvPr id="9" name="Text 7"/>
          <p:cNvSpPr/>
          <p:nvPr/>
        </p:nvSpPr>
        <p:spPr>
          <a:xfrm>
            <a:off x="15383074" y="107950"/>
            <a:ext cx="2678131"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6DC287"/>
                </a:solidFill>
                <a:latin typeface="Consolas" pitchFamily="34" charset="0"/>
                <a:ea typeface="Consolas" pitchFamily="34" charset="-122"/>
                <a:cs typeface="Consolas" pitchFamily="34" charset="-120"/>
              </a:rPr>
              <a:t>generally available</a:t>
            </a:r>
            <a:endParaRPr lang="en-US" sz="1800" dirty="0"/>
          </a:p>
        </p:txBody>
      </p:sp>
      <p:sp>
        <p:nvSpPr>
          <p:cNvPr id="10" name="Text 8"/>
          <p:cNvSpPr/>
          <p:nvPr/>
        </p:nvSpPr>
        <p:spPr>
          <a:xfrm>
            <a:off x="952500" y="1047750"/>
            <a:ext cx="1687449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B89CFF"/>
                </a:solidFill>
                <a:latin typeface="Consolas" pitchFamily="34" charset="0"/>
                <a:ea typeface="Consolas" pitchFamily="34" charset="-122"/>
                <a:cs typeface="Consolas" pitchFamily="34" charset="-120"/>
              </a:rPr>
              <a:t>## </a:t>
            </a:r>
            <a:r>
              <a:rPr lang="en-US" sz="1800" kern="0" spc="288" dirty="0">
                <a:solidFill>
                  <a:srgbClr val="7A8294"/>
                </a:solidFill>
                <a:latin typeface="Consolas" pitchFamily="34" charset="0"/>
                <a:ea typeface="Consolas" pitchFamily="34" charset="-122"/>
                <a:cs typeface="Consolas" pitchFamily="34" charset="-120"/>
              </a:rPr>
              <a:t>WHAT IS AGENTIC WORKFLOWS</a:t>
            </a:r>
            <a:endParaRPr lang="en-US" sz="1800" dirty="0"/>
          </a:p>
        </p:txBody>
      </p:sp>
      <p:sp>
        <p:nvSpPr>
          <p:cNvPr id="11" name="Text 9"/>
          <p:cNvSpPr/>
          <p:nvPr/>
        </p:nvSpPr>
        <p:spPr>
          <a:xfrm>
            <a:off x="952500" y="1631950"/>
            <a:ext cx="14716125" cy="1612900"/>
          </a:xfrm>
          <a:prstGeom prst="rect">
            <a:avLst/>
          </a:prstGeom>
          <a:noFill/>
          <a:ln/>
        </p:spPr>
        <p:txBody>
          <a:bodyPr wrap="square" lIns="25400" tIns="25400" rIns="25400" bIns="25400" rtlCol="0" anchor="t">
            <a:normAutofit/>
          </a:bodyPr>
          <a:lstStyle/>
          <a:p>
            <a:pPr marL="0" indent="0" algn="l">
              <a:lnSpc>
                <a:spcPct val="105000"/>
              </a:lnSpc>
              <a:buNone/>
            </a:pPr>
            <a:r>
              <a:rPr lang="en-US" sz="5700" kern="0" spc="-142" dirty="0">
                <a:solidFill>
                  <a:srgbClr val="E8E6DF"/>
                </a:solidFill>
                <a:latin typeface="Arial" pitchFamily="34" charset="0"/>
                <a:ea typeface="Arial" pitchFamily="34" charset="-122"/>
                <a:cs typeface="Arial" pitchFamily="34" charset="-120"/>
              </a:rPr>
              <a:t>Actions and SWE agents, safely </a:t>
            </a:r>
            <a:r>
              <a:rPr lang="en-US" sz="5700" i="1" kern="0" spc="-142" dirty="0">
                <a:solidFill>
                  <a:srgbClr val="B89CFF"/>
                </a:solidFill>
                <a:latin typeface="Georgia" pitchFamily="34" charset="0"/>
                <a:ea typeface="Georgia" pitchFamily="34" charset="-122"/>
                <a:cs typeface="Georgia" pitchFamily="34" charset="-120"/>
              </a:rPr>
              <a:t>combined </a:t>
            </a:r>
            <a:r>
              <a:rPr lang="en-US" sz="5700" kern="0" spc="-142" dirty="0">
                <a:solidFill>
                  <a:srgbClr val="E8E6DF"/>
                </a:solidFill>
                <a:latin typeface="Arial" pitchFamily="34" charset="0"/>
                <a:ea typeface="Arial" pitchFamily="34" charset="-122"/>
                <a:cs typeface="Arial" pitchFamily="34" charset="-120"/>
              </a:rPr>
              <a:t>from one CLI.</a:t>
            </a:r>
            <a:endParaRPr lang="en-US" sz="5700" dirty="0"/>
          </a:p>
        </p:txBody>
      </p:sp>
      <p:sp>
        <p:nvSpPr>
          <p:cNvPr id="12" name="Text 10"/>
          <p:cNvSpPr/>
          <p:nvPr/>
        </p:nvSpPr>
        <p:spPr>
          <a:xfrm>
            <a:off x="952500" y="3702050"/>
            <a:ext cx="7995761"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7A8294"/>
                </a:solidFill>
                <a:latin typeface="Consolas" pitchFamily="34" charset="0"/>
                <a:ea typeface="Consolas" pitchFamily="34" charset="-122"/>
                <a:cs typeface="Consolas" pitchFamily="34" charset="-120"/>
              </a:rPr>
              <a:t>// PREREQUISITES</a:t>
            </a:r>
            <a:endParaRPr lang="en-US" sz="1800" dirty="0"/>
          </a:p>
        </p:txBody>
      </p:sp>
      <p:sp>
        <p:nvSpPr>
          <p:cNvPr id="13" name="Shape 11"/>
          <p:cNvSpPr/>
          <p:nvPr/>
        </p:nvSpPr>
        <p:spPr>
          <a:xfrm>
            <a:off x="952500" y="5175250"/>
            <a:ext cx="7762875" cy="12700"/>
          </a:xfrm>
          <a:prstGeom prst="rect">
            <a:avLst/>
          </a:prstGeom>
          <a:solidFill>
            <a:srgbClr val="2A3142"/>
          </a:solidFill>
          <a:ln/>
        </p:spPr>
        <p:txBody>
          <a:bodyPr/>
          <a:p/>
        </p:txBody>
      </p:sp>
      <p:sp>
        <p:nvSpPr>
          <p:cNvPr id="14" name="Text 12"/>
          <p:cNvSpPr/>
          <p:nvPr/>
        </p:nvSpPr>
        <p:spPr>
          <a:xfrm>
            <a:off x="952500" y="4298950"/>
            <a:ext cx="609600" cy="36830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6DC287"/>
                </a:solidFill>
                <a:latin typeface="Consolas" pitchFamily="34" charset="0"/>
                <a:ea typeface="Consolas" pitchFamily="34" charset="-122"/>
                <a:cs typeface="Consolas" pitchFamily="34" charset="-120"/>
              </a:rPr>
              <a:t>[✓]</a:t>
            </a:r>
            <a:endParaRPr lang="en-US" sz="1950" dirty="0"/>
          </a:p>
        </p:txBody>
      </p:sp>
      <p:sp>
        <p:nvSpPr>
          <p:cNvPr id="15" name="Text 13"/>
          <p:cNvSpPr/>
          <p:nvPr/>
        </p:nvSpPr>
        <p:spPr>
          <a:xfrm>
            <a:off x="1657350" y="4311650"/>
            <a:ext cx="1336384" cy="330200"/>
          </a:xfrm>
          <a:prstGeom prst="rect">
            <a:avLst/>
          </a:prstGeom>
          <a:noFill/>
          <a:ln/>
        </p:spPr>
        <p:txBody>
          <a:bodyPr wrap="square" lIns="25400" tIns="25400" rIns="25400" bIns="25400" rtlCol="0" anchor="t">
            <a:normAutofit/>
          </a:bodyPr>
          <a:lstStyle/>
          <a:p>
            <a:pPr marL="0" indent="0" algn="l">
              <a:lnSpc>
                <a:spcPct val="135000"/>
              </a:lnSpc>
              <a:buNone/>
            </a:pPr>
            <a:r>
              <a:rPr lang="en-US" sz="2100" dirty="0">
                <a:solidFill>
                  <a:srgbClr val="E8E6DF"/>
                </a:solidFill>
                <a:latin typeface="Arial" pitchFamily="34" charset="0"/>
                <a:ea typeface="Arial" pitchFamily="34" charset="-122"/>
                <a:cs typeface="Arial" pitchFamily="34" charset="-120"/>
              </a:rPr>
              <a:t>AI account</a:t>
            </a:r>
            <a:endParaRPr lang="en-US" sz="2100" dirty="0"/>
          </a:p>
        </p:txBody>
      </p:sp>
      <p:sp>
        <p:nvSpPr>
          <p:cNvPr id="16" name="Text 14"/>
          <p:cNvSpPr/>
          <p:nvPr/>
        </p:nvSpPr>
        <p:spPr>
          <a:xfrm>
            <a:off x="1657350" y="4699000"/>
            <a:ext cx="7269766" cy="342900"/>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7A8294"/>
                </a:solidFill>
                <a:latin typeface="Consolas" pitchFamily="34" charset="0"/>
                <a:ea typeface="Consolas" pitchFamily="34" charset="-122"/>
                <a:cs typeface="Consolas" pitchFamily="34" charset="-120"/>
              </a:rPr>
              <a:t>defaults to GitHub Copilot</a:t>
            </a:r>
            <a:endParaRPr lang="en-US" sz="1800" dirty="0"/>
          </a:p>
        </p:txBody>
      </p:sp>
      <p:sp>
        <p:nvSpPr>
          <p:cNvPr id="17" name="Shape 15"/>
          <p:cNvSpPr/>
          <p:nvPr/>
        </p:nvSpPr>
        <p:spPr>
          <a:xfrm>
            <a:off x="952500" y="6286500"/>
            <a:ext cx="7762875" cy="12700"/>
          </a:xfrm>
          <a:prstGeom prst="rect">
            <a:avLst/>
          </a:prstGeom>
          <a:solidFill>
            <a:srgbClr val="2A3142"/>
          </a:solidFill>
          <a:ln/>
        </p:spPr>
        <p:txBody>
          <a:bodyPr/>
          <a:p/>
        </p:txBody>
      </p:sp>
      <p:sp>
        <p:nvSpPr>
          <p:cNvPr id="18" name="Text 16"/>
          <p:cNvSpPr/>
          <p:nvPr/>
        </p:nvSpPr>
        <p:spPr>
          <a:xfrm>
            <a:off x="952500" y="5410200"/>
            <a:ext cx="609600" cy="36830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6DC287"/>
                </a:solidFill>
                <a:latin typeface="Consolas" pitchFamily="34" charset="0"/>
                <a:ea typeface="Consolas" pitchFamily="34" charset="-122"/>
                <a:cs typeface="Consolas" pitchFamily="34" charset="-120"/>
              </a:rPr>
              <a:t>[✓]</a:t>
            </a:r>
            <a:endParaRPr lang="en-US" sz="1950" dirty="0"/>
          </a:p>
        </p:txBody>
      </p:sp>
      <p:sp>
        <p:nvSpPr>
          <p:cNvPr id="19" name="Text 17"/>
          <p:cNvSpPr/>
          <p:nvPr/>
        </p:nvSpPr>
        <p:spPr>
          <a:xfrm>
            <a:off x="1657350" y="5422900"/>
            <a:ext cx="2151329" cy="330200"/>
          </a:xfrm>
          <a:prstGeom prst="rect">
            <a:avLst/>
          </a:prstGeom>
          <a:noFill/>
          <a:ln/>
        </p:spPr>
        <p:txBody>
          <a:bodyPr wrap="square" lIns="25400" tIns="25400" rIns="25400" bIns="25400" rtlCol="0" anchor="t">
            <a:normAutofit/>
          </a:bodyPr>
          <a:lstStyle/>
          <a:p>
            <a:pPr marL="0" indent="0" algn="l">
              <a:lnSpc>
                <a:spcPct val="135000"/>
              </a:lnSpc>
              <a:buNone/>
            </a:pPr>
            <a:r>
              <a:rPr lang="en-US" sz="2100" dirty="0">
                <a:solidFill>
                  <a:srgbClr val="E8E6DF"/>
                </a:solidFill>
                <a:latin typeface="Arial" pitchFamily="34" charset="0"/>
                <a:ea typeface="Arial" pitchFamily="34" charset="-122"/>
                <a:cs typeface="Arial" pitchFamily="34" charset="-120"/>
              </a:rPr>
              <a:t>GitHub repository</a:t>
            </a:r>
            <a:endParaRPr lang="en-US" sz="2100" dirty="0"/>
          </a:p>
        </p:txBody>
      </p:sp>
      <p:sp>
        <p:nvSpPr>
          <p:cNvPr id="20" name="Text 18"/>
          <p:cNvSpPr/>
          <p:nvPr/>
        </p:nvSpPr>
        <p:spPr>
          <a:xfrm>
            <a:off x="1657350" y="5810250"/>
            <a:ext cx="7269766" cy="342900"/>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7A8294"/>
                </a:solidFill>
                <a:latin typeface="Consolas" pitchFamily="34" charset="0"/>
                <a:ea typeface="Consolas" pitchFamily="34" charset="-122"/>
                <a:cs typeface="Consolas" pitchFamily="34" charset="-120"/>
              </a:rPr>
              <a:t>with write access</a:t>
            </a:r>
            <a:endParaRPr lang="en-US" sz="1800" dirty="0"/>
          </a:p>
        </p:txBody>
      </p:sp>
      <p:sp>
        <p:nvSpPr>
          <p:cNvPr id="21" name="Shape 19"/>
          <p:cNvSpPr/>
          <p:nvPr/>
        </p:nvSpPr>
        <p:spPr>
          <a:xfrm>
            <a:off x="952500" y="7397750"/>
            <a:ext cx="7762875" cy="12700"/>
          </a:xfrm>
          <a:prstGeom prst="rect">
            <a:avLst/>
          </a:prstGeom>
          <a:solidFill>
            <a:srgbClr val="2A3142"/>
          </a:solidFill>
          <a:ln/>
        </p:spPr>
        <p:txBody>
          <a:bodyPr/>
          <a:p/>
        </p:txBody>
      </p:sp>
      <p:sp>
        <p:nvSpPr>
          <p:cNvPr id="22" name="Text 20"/>
          <p:cNvSpPr/>
          <p:nvPr/>
        </p:nvSpPr>
        <p:spPr>
          <a:xfrm>
            <a:off x="952500" y="6521450"/>
            <a:ext cx="609600" cy="36830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6DC287"/>
                </a:solidFill>
                <a:latin typeface="Consolas" pitchFamily="34" charset="0"/>
                <a:ea typeface="Consolas" pitchFamily="34" charset="-122"/>
                <a:cs typeface="Consolas" pitchFamily="34" charset="-120"/>
              </a:rPr>
              <a:t>[✓]</a:t>
            </a:r>
            <a:endParaRPr lang="en-US" sz="1950" dirty="0"/>
          </a:p>
        </p:txBody>
      </p:sp>
      <p:sp>
        <p:nvSpPr>
          <p:cNvPr id="23" name="Text 21"/>
          <p:cNvSpPr/>
          <p:nvPr/>
        </p:nvSpPr>
        <p:spPr>
          <a:xfrm>
            <a:off x="1657350" y="6534150"/>
            <a:ext cx="1854938" cy="330200"/>
          </a:xfrm>
          <a:prstGeom prst="rect">
            <a:avLst/>
          </a:prstGeom>
          <a:noFill/>
          <a:ln/>
        </p:spPr>
        <p:txBody>
          <a:bodyPr wrap="square" lIns="25400" tIns="25400" rIns="25400" bIns="25400" rtlCol="0" anchor="t">
            <a:normAutofit/>
          </a:bodyPr>
          <a:lstStyle/>
          <a:p>
            <a:pPr marL="0" indent="0" algn="l">
              <a:lnSpc>
                <a:spcPct val="135000"/>
              </a:lnSpc>
              <a:buNone/>
            </a:pPr>
            <a:r>
              <a:rPr lang="en-US" sz="2100" dirty="0">
                <a:solidFill>
                  <a:srgbClr val="E8E6DF"/>
                </a:solidFill>
                <a:latin typeface="Arial" pitchFamily="34" charset="0"/>
                <a:ea typeface="Arial" pitchFamily="34" charset="-122"/>
                <a:cs typeface="Arial" pitchFamily="34" charset="-120"/>
              </a:rPr>
              <a:t>GitHub Actions</a:t>
            </a:r>
            <a:endParaRPr lang="en-US" sz="2100" dirty="0"/>
          </a:p>
        </p:txBody>
      </p:sp>
      <p:sp>
        <p:nvSpPr>
          <p:cNvPr id="24" name="Text 22"/>
          <p:cNvSpPr/>
          <p:nvPr/>
        </p:nvSpPr>
        <p:spPr>
          <a:xfrm>
            <a:off x="1657350" y="6921500"/>
            <a:ext cx="7269766" cy="342900"/>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7A8294"/>
                </a:solidFill>
                <a:latin typeface="Consolas" pitchFamily="34" charset="0"/>
                <a:ea typeface="Consolas" pitchFamily="34" charset="-122"/>
                <a:cs typeface="Consolas" pitchFamily="34" charset="-120"/>
              </a:rPr>
              <a:t>enabled on the repo</a:t>
            </a:r>
            <a:endParaRPr lang="en-US" sz="1800" dirty="0"/>
          </a:p>
        </p:txBody>
      </p:sp>
      <p:sp>
        <p:nvSpPr>
          <p:cNvPr id="25" name="Shape 23"/>
          <p:cNvSpPr/>
          <p:nvPr/>
        </p:nvSpPr>
        <p:spPr>
          <a:xfrm>
            <a:off x="952500" y="8509000"/>
            <a:ext cx="7762875" cy="12700"/>
          </a:xfrm>
          <a:prstGeom prst="rect">
            <a:avLst/>
          </a:prstGeom>
          <a:solidFill>
            <a:srgbClr val="2A3142"/>
          </a:solidFill>
          <a:ln/>
        </p:spPr>
        <p:txBody>
          <a:bodyPr/>
          <a:p/>
        </p:txBody>
      </p:sp>
      <p:sp>
        <p:nvSpPr>
          <p:cNvPr id="26" name="Text 24"/>
          <p:cNvSpPr/>
          <p:nvPr/>
        </p:nvSpPr>
        <p:spPr>
          <a:xfrm>
            <a:off x="952500" y="7632700"/>
            <a:ext cx="609600" cy="36830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6DC287"/>
                </a:solidFill>
                <a:latin typeface="Consolas" pitchFamily="34" charset="0"/>
                <a:ea typeface="Consolas" pitchFamily="34" charset="-122"/>
                <a:cs typeface="Consolas" pitchFamily="34" charset="-120"/>
              </a:rPr>
              <a:t>[✓]</a:t>
            </a:r>
            <a:endParaRPr lang="en-US" sz="1950" dirty="0"/>
          </a:p>
        </p:txBody>
      </p:sp>
      <p:sp>
        <p:nvSpPr>
          <p:cNvPr id="27" name="Text 25"/>
          <p:cNvSpPr/>
          <p:nvPr/>
        </p:nvSpPr>
        <p:spPr>
          <a:xfrm>
            <a:off x="1657350" y="7645400"/>
            <a:ext cx="1943751" cy="330200"/>
          </a:xfrm>
          <a:prstGeom prst="rect">
            <a:avLst/>
          </a:prstGeom>
          <a:noFill/>
          <a:ln/>
        </p:spPr>
        <p:txBody>
          <a:bodyPr wrap="square" lIns="25400" tIns="25400" rIns="25400" bIns="25400" rtlCol="0" anchor="t">
            <a:normAutofit/>
          </a:bodyPr>
          <a:lstStyle/>
          <a:p>
            <a:pPr marL="0" indent="0" algn="l">
              <a:lnSpc>
                <a:spcPct val="135000"/>
              </a:lnSpc>
              <a:buNone/>
            </a:pPr>
            <a:r>
              <a:rPr lang="en-US" sz="2100" dirty="0">
                <a:solidFill>
                  <a:srgbClr val="E8E6DF"/>
                </a:solidFill>
                <a:latin typeface="Arial" pitchFamily="34" charset="0"/>
                <a:ea typeface="Arial" pitchFamily="34" charset="-122"/>
                <a:cs typeface="Arial" pitchFamily="34" charset="-120"/>
              </a:rPr>
              <a:t>GitHub CLI (gh)</a:t>
            </a:r>
            <a:endParaRPr lang="en-US" sz="2100" dirty="0"/>
          </a:p>
        </p:txBody>
      </p:sp>
      <p:sp>
        <p:nvSpPr>
          <p:cNvPr id="28" name="Text 26"/>
          <p:cNvSpPr/>
          <p:nvPr/>
        </p:nvSpPr>
        <p:spPr>
          <a:xfrm>
            <a:off x="1657350" y="8032750"/>
            <a:ext cx="7269766" cy="342900"/>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7A8294"/>
                </a:solidFill>
                <a:latin typeface="Consolas" pitchFamily="34" charset="0"/>
                <a:ea typeface="Consolas" pitchFamily="34" charset="-122"/>
                <a:cs typeface="Consolas" pitchFamily="34" charset="-120"/>
              </a:rPr>
              <a:t>v2.0.0 or newer</a:t>
            </a:r>
            <a:endParaRPr lang="en-US" sz="1800" dirty="0"/>
          </a:p>
        </p:txBody>
      </p:sp>
      <p:sp>
        <p:nvSpPr>
          <p:cNvPr id="29" name="Text 27"/>
          <p:cNvSpPr/>
          <p:nvPr/>
        </p:nvSpPr>
        <p:spPr>
          <a:xfrm>
            <a:off x="952500" y="8743950"/>
            <a:ext cx="609600" cy="36830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6DC287"/>
                </a:solidFill>
                <a:latin typeface="Consolas" pitchFamily="34" charset="0"/>
                <a:ea typeface="Consolas" pitchFamily="34" charset="-122"/>
                <a:cs typeface="Consolas" pitchFamily="34" charset="-120"/>
              </a:rPr>
              <a:t>[✓]</a:t>
            </a:r>
            <a:endParaRPr lang="en-US" sz="1950" dirty="0"/>
          </a:p>
        </p:txBody>
      </p:sp>
      <p:sp>
        <p:nvSpPr>
          <p:cNvPr id="30" name="Text 28"/>
          <p:cNvSpPr/>
          <p:nvPr/>
        </p:nvSpPr>
        <p:spPr>
          <a:xfrm>
            <a:off x="1657350" y="8756650"/>
            <a:ext cx="2166175" cy="330200"/>
          </a:xfrm>
          <a:prstGeom prst="rect">
            <a:avLst/>
          </a:prstGeom>
          <a:noFill/>
          <a:ln/>
        </p:spPr>
        <p:txBody>
          <a:bodyPr wrap="square" lIns="25400" tIns="25400" rIns="25400" bIns="25400" rtlCol="0" anchor="t">
            <a:normAutofit/>
          </a:bodyPr>
          <a:lstStyle/>
          <a:p>
            <a:pPr marL="0" indent="0" algn="l">
              <a:lnSpc>
                <a:spcPct val="135000"/>
              </a:lnSpc>
              <a:buNone/>
            </a:pPr>
            <a:r>
              <a:rPr lang="en-US" sz="2100" dirty="0">
                <a:solidFill>
                  <a:srgbClr val="E8E6DF"/>
                </a:solidFill>
                <a:latin typeface="Arial" pitchFamily="34" charset="0"/>
                <a:ea typeface="Arial" pitchFamily="34" charset="-122"/>
                <a:cs typeface="Arial" pitchFamily="34" charset="-120"/>
              </a:rPr>
              <a:t>Operating system</a:t>
            </a:r>
            <a:endParaRPr lang="en-US" sz="2100" dirty="0"/>
          </a:p>
        </p:txBody>
      </p:sp>
      <p:sp>
        <p:nvSpPr>
          <p:cNvPr id="31" name="Text 29"/>
          <p:cNvSpPr/>
          <p:nvPr/>
        </p:nvSpPr>
        <p:spPr>
          <a:xfrm>
            <a:off x="1657350" y="9144000"/>
            <a:ext cx="7269766" cy="342900"/>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7A8294"/>
                </a:solidFill>
                <a:latin typeface="Consolas" pitchFamily="34" charset="0"/>
                <a:ea typeface="Consolas" pitchFamily="34" charset="-122"/>
                <a:cs typeface="Consolas" pitchFamily="34" charset="-120"/>
              </a:rPr>
              <a:t>linux · macos · windows + wsl</a:t>
            </a:r>
            <a:endParaRPr lang="en-US" sz="1800" dirty="0"/>
          </a:p>
        </p:txBody>
      </p:sp>
      <p:sp>
        <p:nvSpPr>
          <p:cNvPr id="32" name="Text 30"/>
          <p:cNvSpPr/>
          <p:nvPr/>
        </p:nvSpPr>
        <p:spPr>
          <a:xfrm>
            <a:off x="9572625" y="3702050"/>
            <a:ext cx="7995761"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7A8294"/>
                </a:solidFill>
                <a:latin typeface="Consolas" pitchFamily="34" charset="0"/>
                <a:ea typeface="Consolas" pitchFamily="34" charset="-122"/>
                <a:cs typeface="Consolas" pitchFamily="34" charset="-120"/>
              </a:rPr>
              <a:t>// INSTALL</a:t>
            </a:r>
            <a:endParaRPr lang="en-US" sz="1800" dirty="0"/>
          </a:p>
        </p:txBody>
      </p:sp>
      <p:sp>
        <p:nvSpPr>
          <p:cNvPr id="33" name="Shape 31"/>
          <p:cNvSpPr/>
          <p:nvPr/>
        </p:nvSpPr>
        <p:spPr>
          <a:xfrm>
            <a:off x="9572625" y="4286250"/>
            <a:ext cx="7762875" cy="3670300"/>
          </a:xfrm>
          <a:prstGeom prst="roundRect">
            <a:avLst>
              <a:gd name="adj" fmla="val 2076"/>
            </a:avLst>
          </a:prstGeom>
          <a:solidFill>
            <a:srgbClr val="161A23"/>
          </a:solidFill>
          <a:ln w="12700">
            <a:solidFill>
              <a:srgbClr val="2A3142"/>
            </a:solidFill>
            <a:prstDash val="solid"/>
          </a:ln>
        </p:spPr>
        <p:txBody>
          <a:bodyPr/>
          <a:p/>
        </p:txBody>
      </p:sp>
      <p:sp>
        <p:nvSpPr>
          <p:cNvPr id="34" name="Shape 32"/>
          <p:cNvSpPr/>
          <p:nvPr/>
        </p:nvSpPr>
        <p:spPr>
          <a:xfrm>
            <a:off x="9585325" y="4298950"/>
            <a:ext cx="7737475" cy="596900"/>
          </a:xfrm>
          <a:prstGeom prst="rect">
            <a:avLst/>
          </a:prstGeom>
          <a:solidFill>
            <a:srgbClr val="1C2230"/>
          </a:solidFill>
          <a:ln/>
        </p:spPr>
        <p:txBody>
          <a:bodyPr/>
          <a:p/>
        </p:txBody>
      </p:sp>
      <p:sp>
        <p:nvSpPr>
          <p:cNvPr id="35" name="Shape 33"/>
          <p:cNvSpPr/>
          <p:nvPr/>
        </p:nvSpPr>
        <p:spPr>
          <a:xfrm>
            <a:off x="9585325" y="4883150"/>
            <a:ext cx="7737475" cy="12700"/>
          </a:xfrm>
          <a:prstGeom prst="rect">
            <a:avLst/>
          </a:prstGeom>
          <a:solidFill>
            <a:srgbClr val="2A3142"/>
          </a:solidFill>
          <a:ln/>
        </p:spPr>
        <p:txBody>
          <a:bodyPr/>
          <a:p/>
        </p:txBody>
      </p:sp>
      <p:sp>
        <p:nvSpPr>
          <p:cNvPr id="36" name="Shape 34"/>
          <p:cNvSpPr/>
          <p:nvPr/>
        </p:nvSpPr>
        <p:spPr>
          <a:xfrm>
            <a:off x="9794875" y="4533900"/>
            <a:ext cx="114300" cy="114300"/>
          </a:xfrm>
          <a:prstGeom prst="ellipse">
            <a:avLst/>
          </a:prstGeom>
          <a:solidFill>
            <a:srgbClr val="3A4357"/>
          </a:solidFill>
          <a:ln/>
        </p:spPr>
        <p:txBody>
          <a:bodyPr/>
          <a:p/>
        </p:txBody>
      </p:sp>
      <p:sp>
        <p:nvSpPr>
          <p:cNvPr id="37" name="Shape 35"/>
          <p:cNvSpPr/>
          <p:nvPr/>
        </p:nvSpPr>
        <p:spPr>
          <a:xfrm>
            <a:off x="9985375" y="4533900"/>
            <a:ext cx="114300" cy="114300"/>
          </a:xfrm>
          <a:prstGeom prst="ellipse">
            <a:avLst/>
          </a:prstGeom>
          <a:solidFill>
            <a:srgbClr val="3A4357"/>
          </a:solidFill>
          <a:ln/>
        </p:spPr>
        <p:txBody>
          <a:bodyPr/>
          <a:p/>
        </p:txBody>
      </p:sp>
      <p:sp>
        <p:nvSpPr>
          <p:cNvPr id="38" name="Shape 36"/>
          <p:cNvSpPr/>
          <p:nvPr/>
        </p:nvSpPr>
        <p:spPr>
          <a:xfrm>
            <a:off x="10175875" y="4533900"/>
            <a:ext cx="114300" cy="114300"/>
          </a:xfrm>
          <a:prstGeom prst="ellipse">
            <a:avLst/>
          </a:prstGeom>
          <a:solidFill>
            <a:srgbClr val="3A4357"/>
          </a:solidFill>
          <a:ln/>
        </p:spPr>
        <p:txBody>
          <a:bodyPr/>
          <a:p/>
        </p:txBody>
      </p:sp>
      <p:sp>
        <p:nvSpPr>
          <p:cNvPr id="39" name="Text 37"/>
          <p:cNvSpPr/>
          <p:nvPr/>
        </p:nvSpPr>
        <p:spPr>
          <a:xfrm>
            <a:off x="10423525" y="4432300"/>
            <a:ext cx="1722239"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7A8294"/>
                </a:solidFill>
                <a:latin typeface="Consolas" pitchFamily="34" charset="0"/>
                <a:ea typeface="Consolas" pitchFamily="34" charset="-122"/>
                <a:cs typeface="Consolas" pitchFamily="34" charset="-120"/>
              </a:rPr>
              <a:t>~/work — zsh</a:t>
            </a:r>
            <a:endParaRPr lang="en-US" sz="1800" dirty="0"/>
          </a:p>
        </p:txBody>
      </p:sp>
      <p:sp>
        <p:nvSpPr>
          <p:cNvPr id="40" name="Text 38"/>
          <p:cNvSpPr/>
          <p:nvPr/>
        </p:nvSpPr>
        <p:spPr>
          <a:xfrm>
            <a:off x="9852025" y="5162550"/>
            <a:ext cx="7420198" cy="457200"/>
          </a:xfrm>
          <a:prstGeom prst="rect">
            <a:avLst/>
          </a:prstGeom>
          <a:noFill/>
          <a:ln/>
        </p:spPr>
        <p:txBody>
          <a:bodyPr wrap="square" lIns="25400" tIns="25400" rIns="25400" bIns="25400" rtlCol="0" anchor="t">
            <a:normAutofit/>
          </a:bodyPr>
          <a:lstStyle/>
          <a:p>
            <a:pPr marL="0" indent="0" algn="l">
              <a:lnSpc>
                <a:spcPct val="170000"/>
              </a:lnSpc>
              <a:buNone/>
            </a:pPr>
            <a:r>
              <a:rPr lang="en-US" sz="1950" dirty="0">
                <a:solidFill>
                  <a:srgbClr val="B89CFF"/>
                </a:solidFill>
                <a:latin typeface="Consolas" pitchFamily="34" charset="0"/>
                <a:ea typeface="Consolas" pitchFamily="34" charset="-122"/>
                <a:cs typeface="Consolas" pitchFamily="34" charset="-120"/>
              </a:rPr>
              <a:t>$ </a:t>
            </a:r>
            <a:r>
              <a:rPr lang="en-US" sz="1950" dirty="0">
                <a:solidFill>
                  <a:srgbClr val="C6C4BC"/>
                </a:solidFill>
                <a:latin typeface="Consolas" pitchFamily="34" charset="0"/>
                <a:ea typeface="Consolas" pitchFamily="34" charset="-122"/>
                <a:cs typeface="Consolas" pitchFamily="34" charset="-120"/>
              </a:rPr>
              <a:t>gh extension install github/gh-aw</a:t>
            </a:r>
            <a:endParaRPr lang="en-US" sz="1950" dirty="0"/>
          </a:p>
        </p:txBody>
      </p:sp>
      <p:sp>
        <p:nvSpPr>
          <p:cNvPr id="41" name="Text 39"/>
          <p:cNvSpPr/>
          <p:nvPr/>
        </p:nvSpPr>
        <p:spPr>
          <a:xfrm>
            <a:off x="9852025" y="5715000"/>
            <a:ext cx="7420198" cy="457200"/>
          </a:xfrm>
          <a:prstGeom prst="rect">
            <a:avLst/>
          </a:prstGeom>
          <a:noFill/>
          <a:ln/>
        </p:spPr>
        <p:txBody>
          <a:bodyPr wrap="square" lIns="25400" tIns="25400" rIns="25400" bIns="25400" rtlCol="0" anchor="t">
            <a:normAutofit/>
          </a:bodyPr>
          <a:lstStyle/>
          <a:p>
            <a:pPr marL="0" indent="0" algn="l">
              <a:lnSpc>
                <a:spcPct val="170000"/>
              </a:lnSpc>
              <a:buNone/>
            </a:pPr>
            <a:r>
              <a:rPr lang="en-US" sz="1950" dirty="0">
                <a:solidFill>
                  <a:srgbClr val="7A8294"/>
                </a:solidFill>
                <a:latin typeface="Consolas" pitchFamily="34" charset="0"/>
                <a:ea typeface="Consolas" pitchFamily="34" charset="-122"/>
                <a:cs typeface="Consolas" pitchFamily="34" charset="-120"/>
              </a:rPr>
              <a:t># installs the gh-aw CLI extension</a:t>
            </a:r>
            <a:endParaRPr lang="en-US" sz="1950" dirty="0"/>
          </a:p>
        </p:txBody>
      </p:sp>
      <p:sp>
        <p:nvSpPr>
          <p:cNvPr id="42" name="Text 40"/>
          <p:cNvSpPr/>
          <p:nvPr/>
        </p:nvSpPr>
        <p:spPr>
          <a:xfrm>
            <a:off x="9852025" y="6134100"/>
            <a:ext cx="7420198" cy="457200"/>
          </a:xfrm>
          <a:prstGeom prst="rect">
            <a:avLst/>
          </a:prstGeom>
          <a:noFill/>
          <a:ln/>
        </p:spPr>
        <p:txBody>
          <a:bodyPr wrap="square" lIns="25400" tIns="25400" rIns="25400" bIns="25400" rtlCol="0" anchor="t">
            <a:normAutofit/>
          </a:bodyPr>
          <a:lstStyle/>
          <a:p>
            <a:pPr marL="0" indent="0" algn="l">
              <a:lnSpc>
                <a:spcPct val="170000"/>
              </a:lnSpc>
              <a:buNone/>
            </a:pPr>
            <a:r>
              <a:rPr lang="en-US" sz="1950" dirty="0">
                <a:solidFill>
                  <a:srgbClr val="7A8294"/>
                </a:solidFill>
                <a:latin typeface="Consolas" pitchFamily="34" charset="0"/>
                <a:ea typeface="Consolas" pitchFamily="34" charset="-122"/>
                <a:cs typeface="Consolas" pitchFamily="34" charset="-120"/>
              </a:rPr>
              <a:t># no services, no servers, no surprises</a:t>
            </a:r>
            <a:endParaRPr lang="en-US" sz="1950" dirty="0"/>
          </a:p>
        </p:txBody>
      </p:sp>
      <p:sp>
        <p:nvSpPr>
          <p:cNvPr id="43" name="Text 41"/>
          <p:cNvSpPr/>
          <p:nvPr/>
        </p:nvSpPr>
        <p:spPr>
          <a:xfrm>
            <a:off x="9852025" y="6686550"/>
            <a:ext cx="7420198" cy="457200"/>
          </a:xfrm>
          <a:prstGeom prst="rect">
            <a:avLst/>
          </a:prstGeom>
          <a:noFill/>
          <a:ln/>
        </p:spPr>
        <p:txBody>
          <a:bodyPr wrap="square" lIns="25400" tIns="25400" rIns="25400" bIns="25400" rtlCol="0" anchor="t">
            <a:normAutofit/>
          </a:bodyPr>
          <a:lstStyle/>
          <a:p>
            <a:pPr marL="0" indent="0" algn="l">
              <a:lnSpc>
                <a:spcPct val="170000"/>
              </a:lnSpc>
              <a:buNone/>
            </a:pPr>
            <a:r>
              <a:rPr lang="en-US" sz="1950" dirty="0">
                <a:solidFill>
                  <a:srgbClr val="B89CFF"/>
                </a:solidFill>
                <a:latin typeface="Consolas" pitchFamily="34" charset="0"/>
                <a:ea typeface="Consolas" pitchFamily="34" charset="-122"/>
                <a:cs typeface="Consolas" pitchFamily="34" charset="-120"/>
              </a:rPr>
              <a:t>$ </a:t>
            </a:r>
            <a:r>
              <a:rPr lang="en-US" sz="1950" dirty="0">
                <a:solidFill>
                  <a:srgbClr val="C6C4BC"/>
                </a:solidFill>
                <a:latin typeface="Consolas" pitchFamily="34" charset="0"/>
                <a:ea typeface="Consolas" pitchFamily="34" charset="-122"/>
                <a:cs typeface="Consolas" pitchFamily="34" charset="-120"/>
              </a:rPr>
              <a:t>gh aw </a:t>
            </a:r>
            <a:r>
              <a:rPr lang="en-US" sz="1950" dirty="0">
                <a:solidFill>
                  <a:srgbClr val="E8E6DF"/>
                </a:solidFill>
                <a:latin typeface="Consolas" pitchFamily="34" charset="0"/>
                <a:ea typeface="Consolas" pitchFamily="34" charset="-122"/>
                <a:cs typeface="Consolas" pitchFamily="34" charset="-120"/>
              </a:rPr>
              <a:t>--help</a:t>
            </a:r>
            <a:endParaRPr lang="en-US" sz="1950" dirty="0"/>
          </a:p>
        </p:txBody>
      </p:sp>
      <p:sp>
        <p:nvSpPr>
          <p:cNvPr id="44" name="Text 42"/>
          <p:cNvSpPr/>
          <p:nvPr/>
        </p:nvSpPr>
        <p:spPr>
          <a:xfrm>
            <a:off x="9852025" y="7239000"/>
            <a:ext cx="7420198" cy="457200"/>
          </a:xfrm>
          <a:prstGeom prst="rect">
            <a:avLst/>
          </a:prstGeom>
          <a:noFill/>
          <a:ln/>
        </p:spPr>
        <p:txBody>
          <a:bodyPr wrap="square" lIns="25400" tIns="25400" rIns="25400" bIns="25400" rtlCol="0" anchor="t">
            <a:normAutofit/>
          </a:bodyPr>
          <a:lstStyle/>
          <a:p>
            <a:pPr marL="0" indent="0" algn="l">
              <a:lnSpc>
                <a:spcPct val="170000"/>
              </a:lnSpc>
              <a:buNone/>
            </a:pPr>
            <a:r>
              <a:rPr lang="en-US" sz="1950" dirty="0">
                <a:solidFill>
                  <a:srgbClr val="6DC287"/>
                </a:solidFill>
                <a:latin typeface="Consolas" pitchFamily="34" charset="0"/>
                <a:ea typeface="Consolas" pitchFamily="34" charset="-122"/>
                <a:cs typeface="Consolas" pitchFamily="34" charset="-120"/>
              </a:rPr>
              <a:t>✓ ready</a:t>
            </a:r>
            <a:endParaRPr lang="en-US" sz="1950" dirty="0"/>
          </a:p>
        </p:txBody>
      </p:sp>
      <p:sp>
        <p:nvSpPr>
          <p:cNvPr id="45" name="Shape 43"/>
          <p:cNvSpPr/>
          <p:nvPr/>
        </p:nvSpPr>
        <p:spPr>
          <a:xfrm>
            <a:off x="0" y="9779001"/>
            <a:ext cx="18288000" cy="508000"/>
          </a:xfrm>
          <a:prstGeom prst="rect">
            <a:avLst/>
          </a:prstGeom>
          <a:solidFill>
            <a:srgbClr val="11141B"/>
          </a:solidFill>
          <a:ln/>
        </p:spPr>
        <p:txBody>
          <a:bodyPr/>
          <a:p/>
        </p:txBody>
      </p:sp>
      <p:sp>
        <p:nvSpPr>
          <p:cNvPr id="46" name="Shape 44"/>
          <p:cNvSpPr/>
          <p:nvPr/>
        </p:nvSpPr>
        <p:spPr>
          <a:xfrm>
            <a:off x="0" y="9779001"/>
            <a:ext cx="18288000" cy="12700"/>
          </a:xfrm>
          <a:prstGeom prst="rect">
            <a:avLst/>
          </a:prstGeom>
          <a:solidFill>
            <a:srgbClr val="2A3142"/>
          </a:solidFill>
          <a:ln/>
        </p:spPr>
        <p:txBody>
          <a:bodyPr/>
          <a:p/>
        </p:txBody>
      </p:sp>
      <p:sp>
        <p:nvSpPr>
          <p:cNvPr id="47" name="Text 45"/>
          <p:cNvSpPr/>
          <p:nvPr/>
        </p:nvSpPr>
        <p:spPr>
          <a:xfrm>
            <a:off x="304800" y="9880600"/>
            <a:ext cx="1494036"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B89CFF"/>
                </a:solidFill>
                <a:latin typeface="Consolas" pitchFamily="34" charset="0"/>
                <a:ea typeface="Consolas" pitchFamily="34" charset="-122"/>
                <a:cs typeface="Consolas" pitchFamily="34" charset="-120"/>
              </a:rPr>
              <a:t>● install</a:t>
            </a:r>
            <a:endParaRPr lang="en-US" sz="1800" dirty="0"/>
          </a:p>
        </p:txBody>
      </p:sp>
      <p:sp>
        <p:nvSpPr>
          <p:cNvPr id="48" name="Text 46"/>
          <p:cNvSpPr/>
          <p:nvPr/>
        </p:nvSpPr>
        <p:spPr>
          <a:xfrm>
            <a:off x="2027436" y="9880600"/>
            <a:ext cx="2202259"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5 prerequisites</a:t>
            </a:r>
            <a:endParaRPr lang="en-US" sz="1800" dirty="0"/>
          </a:p>
        </p:txBody>
      </p:sp>
      <p:sp>
        <p:nvSpPr>
          <p:cNvPr id="49" name="Text 47"/>
          <p:cNvSpPr/>
          <p:nvPr/>
        </p:nvSpPr>
        <p:spPr>
          <a:xfrm>
            <a:off x="16991013" y="9880600"/>
            <a:ext cx="1068388"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04 / 12</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D12"/>
        </a:solidFill>
        <a:effectLst/>
      </p:bgPr>
    </p:bg>
    <p:spTree>
      <p:nvGrpSpPr>
        <p:cNvPr id="1" name=""/>
        <p:cNvGrpSpPr/>
        <p:nvPr/>
      </p:nvGrpSpPr>
      <p:grpSpPr>
        <a:xfrm>
          <a:off x="0" y="0"/>
          <a:ext cx="0" cy="0"/>
          <a:chOff x="0" y="0"/>
          <a:chExt cx="0" cy="0"/>
        </a:xfrm>
      </p:grpSpPr>
      <p:sp>
        <p:nvSpPr>
          <p:cNvPr id="2" name="Shape 0"/>
          <p:cNvSpPr/>
          <p:nvPr/>
        </p:nvSpPr>
        <p:spPr>
          <a:xfrm>
            <a:off x="0" y="0"/>
            <a:ext cx="18288000" cy="546100"/>
          </a:xfrm>
          <a:prstGeom prst="rect">
            <a:avLst/>
          </a:prstGeom>
          <a:solidFill>
            <a:srgbClr val="11141B"/>
          </a:solidFill>
          <a:ln/>
        </p:spPr>
        <p:txBody>
          <a:bodyPr/>
          <a:p/>
        </p:txBody>
      </p:sp>
      <p:sp>
        <p:nvSpPr>
          <p:cNvPr id="3" name="Shape 1"/>
          <p:cNvSpPr/>
          <p:nvPr/>
        </p:nvSpPr>
        <p:spPr>
          <a:xfrm>
            <a:off x="0" y="533400"/>
            <a:ext cx="18288000" cy="12700"/>
          </a:xfrm>
          <a:prstGeom prst="rect">
            <a:avLst/>
          </a:prstGeom>
          <a:solidFill>
            <a:srgbClr val="2A3142"/>
          </a:solidFill>
          <a:ln/>
        </p:spPr>
        <p:txBody>
          <a:bodyPr/>
          <a:p/>
        </p:txBody>
      </p:sp>
      <p:sp>
        <p:nvSpPr>
          <p:cNvPr id="4" name="Shape 2"/>
          <p:cNvSpPr/>
          <p:nvPr/>
        </p:nvSpPr>
        <p:spPr>
          <a:xfrm>
            <a:off x="304800" y="200025"/>
            <a:ext cx="133350" cy="133350"/>
          </a:xfrm>
          <a:prstGeom prst="ellipse">
            <a:avLst/>
          </a:prstGeom>
          <a:solidFill>
            <a:srgbClr val="B6644A"/>
          </a:solidFill>
          <a:ln/>
        </p:spPr>
        <p:txBody>
          <a:bodyPr/>
          <a:p/>
        </p:txBody>
      </p:sp>
      <p:sp>
        <p:nvSpPr>
          <p:cNvPr id="5" name="Shape 3"/>
          <p:cNvSpPr/>
          <p:nvPr/>
        </p:nvSpPr>
        <p:spPr>
          <a:xfrm>
            <a:off x="533400" y="200025"/>
            <a:ext cx="133350" cy="133350"/>
          </a:xfrm>
          <a:prstGeom prst="ellipse">
            <a:avLst/>
          </a:prstGeom>
          <a:solidFill>
            <a:srgbClr val="B69A4A"/>
          </a:solidFill>
          <a:ln/>
        </p:spPr>
        <p:txBody>
          <a:bodyPr/>
          <a:p/>
        </p:txBody>
      </p:sp>
      <p:sp>
        <p:nvSpPr>
          <p:cNvPr id="6" name="Shape 4"/>
          <p:cNvSpPr/>
          <p:nvPr/>
        </p:nvSpPr>
        <p:spPr>
          <a:xfrm>
            <a:off x="762000" y="200025"/>
            <a:ext cx="133350" cy="133350"/>
          </a:xfrm>
          <a:prstGeom prst="ellipse">
            <a:avLst/>
          </a:prstGeom>
          <a:solidFill>
            <a:srgbClr val="6B9A6A"/>
          </a:solidFill>
          <a:ln/>
        </p:spPr>
        <p:txBody>
          <a:bodyPr/>
          <a:p/>
        </p:txBody>
      </p:sp>
      <p:sp>
        <p:nvSpPr>
          <p:cNvPr id="7" name="Text 5"/>
          <p:cNvSpPr/>
          <p:nvPr/>
        </p:nvSpPr>
        <p:spPr>
          <a:xfrm>
            <a:off x="1066800" y="107950"/>
            <a:ext cx="5558403"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C6C4BC"/>
                </a:solidFill>
                <a:latin typeface="Consolas" pitchFamily="34" charset="0"/>
                <a:ea typeface="Consolas" pitchFamily="34" charset="-122"/>
                <a:cs typeface="Consolas" pitchFamily="34" charset="-120"/>
              </a:rPr>
              <a:t>~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C6C4BC"/>
                </a:solidFill>
                <a:latin typeface="Consolas" pitchFamily="34" charset="0"/>
                <a:ea typeface="Consolas" pitchFamily="34" charset="-122"/>
                <a:cs typeface="Consolas" pitchFamily="34" charset="-120"/>
              </a:rPr>
              <a:t>agentic-workflows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B89CFF"/>
                </a:solidFill>
                <a:latin typeface="Consolas" pitchFamily="34" charset="0"/>
                <a:ea typeface="Consolas" pitchFamily="34" charset="-122"/>
                <a:cs typeface="Consolas" pitchFamily="34" charset="-120"/>
              </a:rPr>
              <a:t>04-frontmatter.md</a:t>
            </a:r>
            <a:endParaRPr lang="en-US" sz="1800" dirty="0"/>
          </a:p>
        </p:txBody>
      </p:sp>
      <p:sp>
        <p:nvSpPr>
          <p:cNvPr id="8" name="Text 6"/>
          <p:cNvSpPr/>
          <p:nvPr/>
        </p:nvSpPr>
        <p:spPr>
          <a:xfrm>
            <a:off x="14549438" y="107950"/>
            <a:ext cx="643136"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545B6C"/>
                </a:solidFill>
                <a:latin typeface="Consolas" pitchFamily="34" charset="0"/>
                <a:ea typeface="Consolas" pitchFamily="34" charset="-122"/>
                <a:cs typeface="Consolas" pitchFamily="34" charset="-120"/>
              </a:rPr>
              <a:t>main</a:t>
            </a:r>
            <a:endParaRPr lang="en-US" sz="1800" dirty="0"/>
          </a:p>
        </p:txBody>
      </p:sp>
      <p:sp>
        <p:nvSpPr>
          <p:cNvPr id="9" name="Text 7"/>
          <p:cNvSpPr/>
          <p:nvPr/>
        </p:nvSpPr>
        <p:spPr>
          <a:xfrm>
            <a:off x="15383074" y="107950"/>
            <a:ext cx="2678131"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6DC287"/>
                </a:solidFill>
                <a:latin typeface="Consolas" pitchFamily="34" charset="0"/>
                <a:ea typeface="Consolas" pitchFamily="34" charset="-122"/>
                <a:cs typeface="Consolas" pitchFamily="34" charset="-120"/>
              </a:rPr>
              <a:t>generally available</a:t>
            </a:r>
            <a:endParaRPr lang="en-US" sz="1800" dirty="0"/>
          </a:p>
        </p:txBody>
      </p:sp>
      <p:sp>
        <p:nvSpPr>
          <p:cNvPr id="10" name="Text 8"/>
          <p:cNvSpPr/>
          <p:nvPr/>
        </p:nvSpPr>
        <p:spPr>
          <a:xfrm>
            <a:off x="952500" y="1047750"/>
            <a:ext cx="1687449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B89CFF"/>
                </a:solidFill>
                <a:latin typeface="Consolas" pitchFamily="34" charset="0"/>
                <a:ea typeface="Consolas" pitchFamily="34" charset="-122"/>
                <a:cs typeface="Consolas" pitchFamily="34" charset="-120"/>
              </a:rPr>
              <a:t>## </a:t>
            </a:r>
            <a:r>
              <a:rPr lang="en-US" sz="1800" kern="0" spc="288" dirty="0">
                <a:solidFill>
                  <a:srgbClr val="7A8294"/>
                </a:solidFill>
                <a:latin typeface="Consolas" pitchFamily="34" charset="0"/>
                <a:ea typeface="Consolas" pitchFamily="34" charset="-122"/>
                <a:cs typeface="Consolas" pitchFamily="34" charset="-120"/>
              </a:rPr>
              <a:t>CONFIGURATION</a:t>
            </a:r>
            <a:endParaRPr lang="en-US" sz="1800" dirty="0"/>
          </a:p>
        </p:txBody>
      </p:sp>
      <p:sp>
        <p:nvSpPr>
          <p:cNvPr id="11" name="Text 9"/>
          <p:cNvSpPr/>
          <p:nvPr/>
        </p:nvSpPr>
        <p:spPr>
          <a:xfrm>
            <a:off x="952500" y="1631950"/>
            <a:ext cx="14716125" cy="1612900"/>
          </a:xfrm>
          <a:prstGeom prst="rect">
            <a:avLst/>
          </a:prstGeom>
          <a:noFill/>
          <a:ln/>
        </p:spPr>
        <p:txBody>
          <a:bodyPr wrap="square" lIns="25400" tIns="25400" rIns="25400" bIns="25400" rtlCol="0" anchor="t">
            <a:normAutofit/>
          </a:bodyPr>
          <a:lstStyle/>
          <a:p>
            <a:pPr marL="0" indent="0" algn="l">
              <a:lnSpc>
                <a:spcPct val="105000"/>
              </a:lnSpc>
              <a:buNone/>
            </a:pPr>
            <a:r>
              <a:rPr lang="en-US" sz="5700" kern="0" spc="-142" dirty="0">
                <a:solidFill>
                  <a:srgbClr val="E8E6DF"/>
                </a:solidFill>
                <a:latin typeface="Arial" pitchFamily="34" charset="0"/>
                <a:ea typeface="Arial" pitchFamily="34" charset="-122"/>
                <a:cs typeface="Arial" pitchFamily="34" charset="-120"/>
              </a:rPr>
              <a:t>One required field. Everything else </a:t>
            </a:r>
            <a:r>
              <a:rPr lang="en-US" sz="5700" i="1" kern="0" spc="-142" dirty="0">
                <a:solidFill>
                  <a:srgbClr val="B89CFF"/>
                </a:solidFill>
                <a:latin typeface="Georgia" pitchFamily="34" charset="0"/>
                <a:ea typeface="Georgia" pitchFamily="34" charset="-122"/>
                <a:cs typeface="Georgia" pitchFamily="34" charset="-120"/>
              </a:rPr>
              <a:t>explicit</a:t>
            </a:r>
            <a:r>
              <a:rPr lang="en-US" sz="5700" kern="0" spc="-142" dirty="0">
                <a:solidFill>
                  <a:srgbClr val="E8E6DF"/>
                </a:solidFill>
                <a:latin typeface="Arial" pitchFamily="34" charset="0"/>
                <a:ea typeface="Arial" pitchFamily="34" charset="-122"/>
                <a:cs typeface="Arial" pitchFamily="34" charset="-120"/>
              </a:rPr>
              <a:t>.</a:t>
            </a:r>
            <a:endParaRPr lang="en-US" sz="5700" dirty="0"/>
          </a:p>
        </p:txBody>
      </p:sp>
      <p:sp>
        <p:nvSpPr>
          <p:cNvPr id="12" name="Shape 10"/>
          <p:cNvSpPr/>
          <p:nvPr/>
        </p:nvSpPr>
        <p:spPr>
          <a:xfrm>
            <a:off x="952500" y="3753390"/>
            <a:ext cx="7455297" cy="12700"/>
          </a:xfrm>
          <a:prstGeom prst="rect">
            <a:avLst/>
          </a:prstGeom>
          <a:solidFill>
            <a:srgbClr val="2A3142"/>
          </a:solidFill>
          <a:ln/>
        </p:spPr>
        <p:txBody>
          <a:bodyPr/>
          <a:p/>
        </p:txBody>
      </p:sp>
      <p:sp>
        <p:nvSpPr>
          <p:cNvPr id="13" name="Text 11"/>
          <p:cNvSpPr/>
          <p:nvPr/>
        </p:nvSpPr>
        <p:spPr>
          <a:xfrm>
            <a:off x="952500" y="3277140"/>
            <a:ext cx="217170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B89CFF"/>
                </a:solidFill>
                <a:latin typeface="Consolas" pitchFamily="34" charset="0"/>
                <a:ea typeface="Consolas" pitchFamily="34" charset="-122"/>
                <a:cs typeface="Consolas" pitchFamily="34" charset="-120"/>
              </a:rPr>
              <a:t>REQUIRED</a:t>
            </a:r>
            <a:endParaRPr lang="en-US" sz="1800" dirty="0"/>
          </a:p>
        </p:txBody>
      </p:sp>
      <p:sp>
        <p:nvSpPr>
          <p:cNvPr id="14" name="Text 12"/>
          <p:cNvSpPr/>
          <p:nvPr/>
        </p:nvSpPr>
        <p:spPr>
          <a:xfrm>
            <a:off x="3314700" y="3251740"/>
            <a:ext cx="5245890" cy="406400"/>
          </a:xfrm>
          <a:prstGeom prst="rect">
            <a:avLst/>
          </a:prstGeom>
          <a:noFill/>
          <a:ln/>
        </p:spPr>
        <p:txBody>
          <a:bodyPr wrap="square" lIns="25400" tIns="25400" rIns="25400" bIns="25400" rtlCol="0" anchor="t">
            <a:normAutofit/>
          </a:bodyPr>
          <a:lstStyle/>
          <a:p>
            <a:pPr marL="0" indent="0" algn="l">
              <a:lnSpc>
                <a:spcPct val="150000"/>
              </a:lnSpc>
              <a:buNone/>
            </a:pPr>
            <a:r>
              <a:rPr lang="en-US" sz="1950" dirty="0">
                <a:solidFill>
                  <a:srgbClr val="B89CFF"/>
                </a:solidFill>
                <a:latin typeface="Consolas" pitchFamily="34" charset="0"/>
                <a:ea typeface="Consolas" pitchFamily="34" charset="-122"/>
                <a:cs typeface="Consolas" pitchFamily="34" charset="-120"/>
              </a:rPr>
              <a:t>on: </a:t>
            </a:r>
            <a:r>
              <a:rPr lang="en-US" sz="1950" dirty="0">
                <a:solidFill>
                  <a:srgbClr val="7A8294"/>
                </a:solidFill>
                <a:latin typeface="Consolas" pitchFamily="34" charset="0"/>
                <a:ea typeface="Consolas" pitchFamily="34" charset="-122"/>
                <a:cs typeface="Consolas" pitchFamily="34" charset="-120"/>
              </a:rPr>
              <a:t>— trigger configuration</a:t>
            </a:r>
            <a:endParaRPr lang="en-US" sz="1950" dirty="0"/>
          </a:p>
        </p:txBody>
      </p:sp>
      <p:sp>
        <p:nvSpPr>
          <p:cNvPr id="15" name="Shape 13"/>
          <p:cNvSpPr/>
          <p:nvPr/>
        </p:nvSpPr>
        <p:spPr>
          <a:xfrm>
            <a:off x="952500" y="4401090"/>
            <a:ext cx="7455297" cy="12700"/>
          </a:xfrm>
          <a:prstGeom prst="rect">
            <a:avLst/>
          </a:prstGeom>
          <a:solidFill>
            <a:srgbClr val="2A3142"/>
          </a:solidFill>
          <a:ln/>
        </p:spPr>
        <p:txBody>
          <a:bodyPr/>
          <a:p/>
        </p:txBody>
      </p:sp>
      <p:sp>
        <p:nvSpPr>
          <p:cNvPr id="16" name="Text 14"/>
          <p:cNvSpPr/>
          <p:nvPr/>
        </p:nvSpPr>
        <p:spPr>
          <a:xfrm>
            <a:off x="952500" y="3924840"/>
            <a:ext cx="217170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7A8294"/>
                </a:solidFill>
                <a:latin typeface="Consolas" pitchFamily="34" charset="0"/>
                <a:ea typeface="Consolas" pitchFamily="34" charset="-122"/>
                <a:cs typeface="Consolas" pitchFamily="34" charset="-120"/>
              </a:rPr>
              <a:t>AI</a:t>
            </a:r>
            <a:endParaRPr lang="en-US" sz="1800" dirty="0"/>
          </a:p>
        </p:txBody>
      </p:sp>
      <p:sp>
        <p:nvSpPr>
          <p:cNvPr id="17" name="Text 15"/>
          <p:cNvSpPr/>
          <p:nvPr/>
        </p:nvSpPr>
        <p:spPr>
          <a:xfrm>
            <a:off x="3314700" y="3899440"/>
            <a:ext cx="5245890" cy="406400"/>
          </a:xfrm>
          <a:prstGeom prst="rect">
            <a:avLst/>
          </a:prstGeom>
          <a:noFill/>
          <a:ln/>
        </p:spPr>
        <p:txBody>
          <a:bodyPr wrap="square" lIns="25400" tIns="25400" rIns="25400" bIns="25400" rtlCol="0" anchor="t">
            <a:normAutofit/>
          </a:bodyPr>
          <a:lstStyle/>
          <a:p>
            <a:pPr marL="0" indent="0" algn="l">
              <a:lnSpc>
                <a:spcPct val="150000"/>
              </a:lnSpc>
              <a:buNone/>
            </a:pPr>
            <a:r>
              <a:rPr lang="en-US" sz="1950" dirty="0">
                <a:solidFill>
                  <a:srgbClr val="C6C4BC"/>
                </a:solidFill>
                <a:latin typeface="Consolas" pitchFamily="34" charset="0"/>
                <a:ea typeface="Consolas" pitchFamily="34" charset="-122"/>
                <a:cs typeface="Consolas" pitchFamily="34" charset="-120"/>
              </a:rPr>
              <a:t>engine</a:t>
            </a:r>
            <a:endParaRPr lang="en-US" sz="1950" dirty="0"/>
          </a:p>
        </p:txBody>
      </p:sp>
      <p:sp>
        <p:nvSpPr>
          <p:cNvPr id="18" name="Shape 16"/>
          <p:cNvSpPr/>
          <p:nvPr/>
        </p:nvSpPr>
        <p:spPr>
          <a:xfrm>
            <a:off x="952500" y="5048790"/>
            <a:ext cx="7455297" cy="12700"/>
          </a:xfrm>
          <a:prstGeom prst="rect">
            <a:avLst/>
          </a:prstGeom>
          <a:solidFill>
            <a:srgbClr val="2A3142"/>
          </a:solidFill>
          <a:ln/>
        </p:spPr>
        <p:txBody>
          <a:bodyPr/>
          <a:p/>
        </p:txBody>
      </p:sp>
      <p:sp>
        <p:nvSpPr>
          <p:cNvPr id="19" name="Text 17"/>
          <p:cNvSpPr/>
          <p:nvPr/>
        </p:nvSpPr>
        <p:spPr>
          <a:xfrm>
            <a:off x="952500" y="4572540"/>
            <a:ext cx="217170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7A8294"/>
                </a:solidFill>
                <a:latin typeface="Consolas" pitchFamily="34" charset="0"/>
                <a:ea typeface="Consolas" pitchFamily="34" charset="-122"/>
                <a:cs typeface="Consolas" pitchFamily="34" charset="-120"/>
              </a:rPr>
              <a:t>EXECUTION</a:t>
            </a:r>
            <a:endParaRPr lang="en-US" sz="1800" dirty="0"/>
          </a:p>
        </p:txBody>
      </p:sp>
      <p:sp>
        <p:nvSpPr>
          <p:cNvPr id="20" name="Text 18"/>
          <p:cNvSpPr/>
          <p:nvPr/>
        </p:nvSpPr>
        <p:spPr>
          <a:xfrm>
            <a:off x="3314700" y="4547140"/>
            <a:ext cx="5245890" cy="406400"/>
          </a:xfrm>
          <a:prstGeom prst="rect">
            <a:avLst/>
          </a:prstGeom>
          <a:noFill/>
          <a:ln/>
        </p:spPr>
        <p:txBody>
          <a:bodyPr wrap="square" lIns="25400" tIns="25400" rIns="25400" bIns="25400" rtlCol="0" anchor="t">
            <a:normAutofit/>
          </a:bodyPr>
          <a:lstStyle/>
          <a:p>
            <a:pPr marL="0" indent="0" algn="l">
              <a:lnSpc>
                <a:spcPct val="150000"/>
              </a:lnSpc>
              <a:buNone/>
            </a:pPr>
            <a:r>
              <a:rPr lang="en-US" sz="1950" dirty="0">
                <a:solidFill>
                  <a:srgbClr val="C6C4BC"/>
                </a:solidFill>
                <a:latin typeface="Consolas" pitchFamily="34" charset="0"/>
                <a:ea typeface="Consolas" pitchFamily="34" charset="-122"/>
                <a:cs typeface="Consolas" pitchFamily="34" charset="-120"/>
              </a:rPr>
              <a:t>jobs · concurrency · if</a:t>
            </a:r>
            <a:endParaRPr lang="en-US" sz="1950" dirty="0"/>
          </a:p>
        </p:txBody>
      </p:sp>
      <p:sp>
        <p:nvSpPr>
          <p:cNvPr id="21" name="Shape 19"/>
          <p:cNvSpPr/>
          <p:nvPr/>
        </p:nvSpPr>
        <p:spPr>
          <a:xfrm>
            <a:off x="952500" y="5696490"/>
            <a:ext cx="7455297" cy="12700"/>
          </a:xfrm>
          <a:prstGeom prst="rect">
            <a:avLst/>
          </a:prstGeom>
          <a:solidFill>
            <a:srgbClr val="2A3142"/>
          </a:solidFill>
          <a:ln/>
        </p:spPr>
        <p:txBody>
          <a:bodyPr/>
          <a:p/>
        </p:txBody>
      </p:sp>
      <p:sp>
        <p:nvSpPr>
          <p:cNvPr id="22" name="Text 20"/>
          <p:cNvSpPr/>
          <p:nvPr/>
        </p:nvSpPr>
        <p:spPr>
          <a:xfrm>
            <a:off x="952500" y="5220240"/>
            <a:ext cx="217170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7A8294"/>
                </a:solidFill>
                <a:latin typeface="Consolas" pitchFamily="34" charset="0"/>
                <a:ea typeface="Consolas" pitchFamily="34" charset="-122"/>
                <a:cs typeface="Consolas" pitchFamily="34" charset="-120"/>
              </a:rPr>
              <a:t>CAPABILITIES</a:t>
            </a:r>
            <a:endParaRPr lang="en-US" sz="1800" dirty="0"/>
          </a:p>
        </p:txBody>
      </p:sp>
      <p:sp>
        <p:nvSpPr>
          <p:cNvPr id="23" name="Text 21"/>
          <p:cNvSpPr/>
          <p:nvPr/>
        </p:nvSpPr>
        <p:spPr>
          <a:xfrm>
            <a:off x="3314700" y="5194840"/>
            <a:ext cx="5245890" cy="406400"/>
          </a:xfrm>
          <a:prstGeom prst="rect">
            <a:avLst/>
          </a:prstGeom>
          <a:noFill/>
          <a:ln/>
        </p:spPr>
        <p:txBody>
          <a:bodyPr wrap="square" lIns="25400" tIns="25400" rIns="25400" bIns="25400" rtlCol="0" anchor="t">
            <a:normAutofit/>
          </a:bodyPr>
          <a:lstStyle/>
          <a:p>
            <a:pPr marL="0" indent="0" algn="l">
              <a:lnSpc>
                <a:spcPct val="150000"/>
              </a:lnSpc>
              <a:buNone/>
            </a:pPr>
            <a:r>
              <a:rPr lang="en-US" sz="1950" dirty="0">
                <a:solidFill>
                  <a:srgbClr val="C6C4BC"/>
                </a:solidFill>
                <a:latin typeface="Consolas" pitchFamily="34" charset="0"/>
                <a:ea typeface="Consolas" pitchFamily="34" charset="-122"/>
                <a:cs typeface="Consolas" pitchFamily="34" charset="-120"/>
              </a:rPr>
              <a:t>tools · imports · env</a:t>
            </a:r>
            <a:endParaRPr lang="en-US" sz="1950" dirty="0"/>
          </a:p>
        </p:txBody>
      </p:sp>
      <p:sp>
        <p:nvSpPr>
          <p:cNvPr id="24" name="Shape 22"/>
          <p:cNvSpPr/>
          <p:nvPr/>
        </p:nvSpPr>
        <p:spPr>
          <a:xfrm>
            <a:off x="952500" y="6712490"/>
            <a:ext cx="7455297" cy="12700"/>
          </a:xfrm>
          <a:prstGeom prst="rect">
            <a:avLst/>
          </a:prstGeom>
          <a:solidFill>
            <a:srgbClr val="2A3142"/>
          </a:solidFill>
          <a:ln/>
        </p:spPr>
        <p:txBody>
          <a:bodyPr/>
          <a:p/>
        </p:txBody>
      </p:sp>
      <p:sp>
        <p:nvSpPr>
          <p:cNvPr id="25" name="Text 23"/>
          <p:cNvSpPr/>
          <p:nvPr/>
        </p:nvSpPr>
        <p:spPr>
          <a:xfrm>
            <a:off x="952500" y="5867940"/>
            <a:ext cx="217170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7A8294"/>
                </a:solidFill>
                <a:latin typeface="Consolas" pitchFamily="34" charset="0"/>
                <a:ea typeface="Consolas" pitchFamily="34" charset="-122"/>
                <a:cs typeface="Consolas" pitchFamily="34" charset="-120"/>
              </a:rPr>
              <a:t>METADATA</a:t>
            </a:r>
            <a:endParaRPr lang="en-US" sz="1800" dirty="0"/>
          </a:p>
        </p:txBody>
      </p:sp>
      <p:sp>
        <p:nvSpPr>
          <p:cNvPr id="26" name="Text 24"/>
          <p:cNvSpPr/>
          <p:nvPr/>
        </p:nvSpPr>
        <p:spPr>
          <a:xfrm>
            <a:off x="3314700" y="5842540"/>
            <a:ext cx="5245890" cy="774700"/>
          </a:xfrm>
          <a:prstGeom prst="rect">
            <a:avLst/>
          </a:prstGeom>
          <a:noFill/>
          <a:ln/>
        </p:spPr>
        <p:txBody>
          <a:bodyPr wrap="square" lIns="25400" tIns="25400" rIns="25400" bIns="25400" rtlCol="0" anchor="t">
            <a:normAutofit/>
          </a:bodyPr>
          <a:lstStyle/>
          <a:p>
            <a:pPr marL="0" indent="0" algn="l">
              <a:lnSpc>
                <a:spcPct val="150000"/>
              </a:lnSpc>
              <a:buNone/>
            </a:pPr>
            <a:r>
              <a:rPr lang="en-US" sz="1950" dirty="0">
                <a:solidFill>
                  <a:srgbClr val="C6C4BC"/>
                </a:solidFill>
                <a:latin typeface="Consolas" pitchFamily="34" charset="0"/>
                <a:ea typeface="Consolas" pitchFamily="34" charset="-122"/>
                <a:cs typeface="Consolas" pitchFamily="34" charset="-120"/>
              </a:rPr>
              <a:t>name · description · label · source</a:t>
            </a:r>
            <a:endParaRPr lang="en-US" sz="1950" dirty="0"/>
          </a:p>
        </p:txBody>
      </p:sp>
      <p:sp>
        <p:nvSpPr>
          <p:cNvPr id="27" name="Shape 25"/>
          <p:cNvSpPr/>
          <p:nvPr/>
        </p:nvSpPr>
        <p:spPr>
          <a:xfrm>
            <a:off x="952500" y="7728490"/>
            <a:ext cx="7455297" cy="12700"/>
          </a:xfrm>
          <a:prstGeom prst="rect">
            <a:avLst/>
          </a:prstGeom>
          <a:solidFill>
            <a:srgbClr val="2A3142"/>
          </a:solidFill>
          <a:ln/>
        </p:spPr>
        <p:txBody>
          <a:bodyPr/>
          <a:p/>
        </p:txBody>
      </p:sp>
      <p:sp>
        <p:nvSpPr>
          <p:cNvPr id="28" name="Text 26"/>
          <p:cNvSpPr/>
          <p:nvPr/>
        </p:nvSpPr>
        <p:spPr>
          <a:xfrm>
            <a:off x="952500" y="6883940"/>
            <a:ext cx="217170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7A8294"/>
                </a:solidFill>
                <a:latin typeface="Consolas" pitchFamily="34" charset="0"/>
                <a:ea typeface="Consolas" pitchFamily="34" charset="-122"/>
                <a:cs typeface="Consolas" pitchFamily="34" charset="-120"/>
              </a:rPr>
              <a:t>SECURITY</a:t>
            </a:r>
            <a:endParaRPr lang="en-US" sz="1800" dirty="0"/>
          </a:p>
        </p:txBody>
      </p:sp>
      <p:sp>
        <p:nvSpPr>
          <p:cNvPr id="29" name="Text 27"/>
          <p:cNvSpPr/>
          <p:nvPr/>
        </p:nvSpPr>
        <p:spPr>
          <a:xfrm>
            <a:off x="3314700" y="6858540"/>
            <a:ext cx="5245890" cy="774700"/>
          </a:xfrm>
          <a:prstGeom prst="rect">
            <a:avLst/>
          </a:prstGeom>
          <a:noFill/>
          <a:ln/>
        </p:spPr>
        <p:txBody>
          <a:bodyPr wrap="square" lIns="25400" tIns="25400" rIns="25400" bIns="25400" rtlCol="0" anchor="t">
            <a:normAutofit/>
          </a:bodyPr>
          <a:lstStyle/>
          <a:p>
            <a:pPr marL="0" indent="0" algn="l">
              <a:lnSpc>
                <a:spcPct val="150000"/>
              </a:lnSpc>
              <a:buNone/>
            </a:pPr>
            <a:r>
              <a:rPr lang="en-US" sz="1950" dirty="0">
                <a:solidFill>
                  <a:srgbClr val="C6C4BC"/>
                </a:solidFill>
                <a:latin typeface="Consolas" pitchFamily="34" charset="0"/>
                <a:ea typeface="Consolas" pitchFamily="34" charset="-122"/>
                <a:cs typeface="Consolas" pitchFamily="34" charset="-120"/>
              </a:rPr>
              <a:t>permissions · network · safe-outputs</a:t>
            </a:r>
            <a:endParaRPr lang="en-US" sz="1950" dirty="0"/>
          </a:p>
        </p:txBody>
      </p:sp>
      <p:sp>
        <p:nvSpPr>
          <p:cNvPr id="30" name="Shape 28"/>
          <p:cNvSpPr/>
          <p:nvPr/>
        </p:nvSpPr>
        <p:spPr>
          <a:xfrm>
            <a:off x="952500" y="8744490"/>
            <a:ext cx="7455297" cy="12700"/>
          </a:xfrm>
          <a:prstGeom prst="rect">
            <a:avLst/>
          </a:prstGeom>
          <a:solidFill>
            <a:srgbClr val="2A3142"/>
          </a:solidFill>
          <a:ln/>
        </p:spPr>
        <p:txBody>
          <a:bodyPr/>
          <a:p/>
        </p:txBody>
      </p:sp>
      <p:sp>
        <p:nvSpPr>
          <p:cNvPr id="31" name="Text 29"/>
          <p:cNvSpPr/>
          <p:nvPr/>
        </p:nvSpPr>
        <p:spPr>
          <a:xfrm>
            <a:off x="952500" y="7899940"/>
            <a:ext cx="217170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7A8294"/>
                </a:solidFill>
                <a:latin typeface="Consolas" pitchFamily="34" charset="0"/>
                <a:ea typeface="Consolas" pitchFamily="34" charset="-122"/>
                <a:cs typeface="Consolas" pitchFamily="34" charset="-120"/>
              </a:rPr>
              <a:t>RUNTIME</a:t>
            </a:r>
            <a:endParaRPr lang="en-US" sz="1800" dirty="0"/>
          </a:p>
        </p:txBody>
      </p:sp>
      <p:sp>
        <p:nvSpPr>
          <p:cNvPr id="32" name="Text 30"/>
          <p:cNvSpPr/>
          <p:nvPr/>
        </p:nvSpPr>
        <p:spPr>
          <a:xfrm>
            <a:off x="3314700" y="7874540"/>
            <a:ext cx="5245890" cy="774700"/>
          </a:xfrm>
          <a:prstGeom prst="rect">
            <a:avLst/>
          </a:prstGeom>
          <a:noFill/>
          <a:ln/>
        </p:spPr>
        <p:txBody>
          <a:bodyPr wrap="square" lIns="25400" tIns="25400" rIns="25400" bIns="25400" rtlCol="0" anchor="t">
            <a:normAutofit/>
          </a:bodyPr>
          <a:lstStyle/>
          <a:p>
            <a:pPr marL="0" indent="0" algn="l">
              <a:lnSpc>
                <a:spcPct val="150000"/>
              </a:lnSpc>
              <a:buNone/>
            </a:pPr>
            <a:r>
              <a:rPr lang="en-US" sz="1950" dirty="0">
                <a:solidFill>
                  <a:srgbClr val="C6C4BC"/>
                </a:solidFill>
                <a:latin typeface="Consolas" pitchFamily="34" charset="0"/>
                <a:ea typeface="Consolas" pitchFamily="34" charset="-122"/>
                <a:cs typeface="Consolas" pitchFamily="34" charset="-120"/>
              </a:rPr>
              <a:t>runs-on · timeout-minutes · environment</a:t>
            </a:r>
            <a:endParaRPr lang="en-US" sz="1950" dirty="0"/>
          </a:p>
        </p:txBody>
      </p:sp>
      <p:sp>
        <p:nvSpPr>
          <p:cNvPr id="33" name="Text 31"/>
          <p:cNvSpPr/>
          <p:nvPr/>
        </p:nvSpPr>
        <p:spPr>
          <a:xfrm>
            <a:off x="952500" y="8947690"/>
            <a:ext cx="7678956"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7A8294"/>
                </a:solidFill>
                <a:latin typeface="Consolas" pitchFamily="34" charset="0"/>
                <a:ea typeface="Consolas" pitchFamily="34" charset="-122"/>
                <a:cs typeface="Consolas" pitchFamily="34" charset="-120"/>
              </a:rPr>
              <a:t>→ See docs for the full frontmatter reference.</a:t>
            </a:r>
            <a:endParaRPr lang="en-US" sz="1800" dirty="0"/>
          </a:p>
        </p:txBody>
      </p:sp>
      <p:sp>
        <p:nvSpPr>
          <p:cNvPr id="34" name="Shape 32"/>
          <p:cNvSpPr/>
          <p:nvPr/>
        </p:nvSpPr>
        <p:spPr>
          <a:xfrm>
            <a:off x="9169797" y="3118390"/>
            <a:ext cx="8165505" cy="5746750"/>
          </a:xfrm>
          <a:prstGeom prst="roundRect">
            <a:avLst>
              <a:gd name="adj" fmla="val 1326"/>
            </a:avLst>
          </a:prstGeom>
          <a:solidFill>
            <a:srgbClr val="161A23"/>
          </a:solidFill>
          <a:ln w="12700">
            <a:solidFill>
              <a:srgbClr val="2A3142"/>
            </a:solidFill>
            <a:prstDash val="solid"/>
          </a:ln>
        </p:spPr>
        <p:txBody>
          <a:bodyPr/>
          <a:p/>
        </p:txBody>
      </p:sp>
      <p:sp>
        <p:nvSpPr>
          <p:cNvPr id="35" name="Shape 33"/>
          <p:cNvSpPr/>
          <p:nvPr/>
        </p:nvSpPr>
        <p:spPr>
          <a:xfrm>
            <a:off x="9182497" y="3131090"/>
            <a:ext cx="8140105" cy="596900"/>
          </a:xfrm>
          <a:prstGeom prst="rect">
            <a:avLst/>
          </a:prstGeom>
          <a:solidFill>
            <a:srgbClr val="1C2230"/>
          </a:solidFill>
          <a:ln/>
        </p:spPr>
        <p:txBody>
          <a:bodyPr/>
          <a:p/>
        </p:txBody>
      </p:sp>
      <p:sp>
        <p:nvSpPr>
          <p:cNvPr id="36" name="Shape 34"/>
          <p:cNvSpPr/>
          <p:nvPr/>
        </p:nvSpPr>
        <p:spPr>
          <a:xfrm>
            <a:off x="9182497" y="3715290"/>
            <a:ext cx="8140105" cy="12700"/>
          </a:xfrm>
          <a:prstGeom prst="rect">
            <a:avLst/>
          </a:prstGeom>
          <a:solidFill>
            <a:srgbClr val="2A3142"/>
          </a:solidFill>
          <a:ln/>
        </p:spPr>
        <p:txBody>
          <a:bodyPr/>
          <a:p/>
        </p:txBody>
      </p:sp>
      <p:sp>
        <p:nvSpPr>
          <p:cNvPr id="37" name="Text 35"/>
          <p:cNvSpPr/>
          <p:nvPr/>
        </p:nvSpPr>
        <p:spPr>
          <a:xfrm>
            <a:off x="9392047" y="3264440"/>
            <a:ext cx="3532074"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C6C4BC"/>
                </a:solidFill>
                <a:latin typeface="Consolas" pitchFamily="34" charset="0"/>
                <a:ea typeface="Consolas" pitchFamily="34" charset="-122"/>
                <a:cs typeface="Consolas" pitchFamily="34" charset="-120"/>
              </a:rPr>
              <a:t>triage.md </a:t>
            </a:r>
            <a:r>
              <a:rPr lang="en-US" sz="1800" dirty="0">
                <a:solidFill>
                  <a:srgbClr val="545B6C"/>
                </a:solidFill>
                <a:latin typeface="Consolas" pitchFamily="34" charset="0"/>
                <a:ea typeface="Consolas" pitchFamily="34" charset="-122"/>
                <a:cs typeface="Consolas" pitchFamily="34" charset="-120"/>
              </a:rPr>
              <a:t>— frontmatter</a:t>
            </a:r>
            <a:endParaRPr lang="en-US" sz="1800" dirty="0"/>
          </a:p>
        </p:txBody>
      </p:sp>
      <p:sp>
        <p:nvSpPr>
          <p:cNvPr id="38" name="Text 36"/>
          <p:cNvSpPr/>
          <p:nvPr/>
        </p:nvSpPr>
        <p:spPr>
          <a:xfrm>
            <a:off x="12954595" y="3264440"/>
            <a:ext cx="62488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F0B265"/>
                </a:solidFill>
                <a:latin typeface="Consolas" pitchFamily="34" charset="0"/>
                <a:ea typeface="Consolas" pitchFamily="34" charset="-122"/>
                <a:cs typeface="Consolas" pitchFamily="34" charset="-120"/>
              </a:rPr>
              <a:t>YAML</a:t>
            </a:r>
            <a:endParaRPr lang="en-US" sz="1800" dirty="0"/>
          </a:p>
        </p:txBody>
      </p:sp>
      <p:sp>
        <p:nvSpPr>
          <p:cNvPr id="39" name="Text 37"/>
          <p:cNvSpPr/>
          <p:nvPr/>
        </p:nvSpPr>
        <p:spPr>
          <a:xfrm>
            <a:off x="9449197" y="3994690"/>
            <a:ext cx="7834906" cy="4610100"/>
          </a:xfrm>
          <a:prstGeom prst="rect">
            <a:avLst/>
          </a:prstGeom>
          <a:noFill/>
          <a:ln/>
        </p:spPr>
        <p:txBody>
          <a:bodyPr wrap="square" lIns="25400" tIns="25400" rIns="25400" bIns="25400" rtlCol="0" anchor="t">
            <a:normAutofit/>
          </a:bodyPr>
          <a:lstStyle/>
          <a:p>
            <a:pPr marL="0" indent="0" algn="l">
              <a:lnSpc>
                <a:spcPct val="155000"/>
              </a:lnSpc>
              <a:buNone/>
            </a:pPr>
            <a:r>
              <a:rPr lang="en-US" sz="1950" dirty="0">
                <a:solidFill>
                  <a:srgbClr val="7A8294"/>
                </a:solidFill>
                <a:latin typeface="Consolas" pitchFamily="34" charset="0"/>
                <a:ea typeface="Consolas" pitchFamily="34" charset="-122"/>
                <a:cs typeface="Consolas" pitchFamily="34" charset="-120"/>
              </a:rPr>
              <a:t>--- </a:t>
            </a:r>
            <a:r>
              <a:rPr lang="en-US" sz="1950" dirty="0">
                <a:solidFill>
                  <a:srgbClr val="79B8FF"/>
                </a:solidFill>
                <a:latin typeface="Consolas" pitchFamily="34" charset="0"/>
                <a:ea typeface="Consolas" pitchFamily="34" charset="-122"/>
                <a:cs typeface="Consolas" pitchFamily="34" charset="-120"/>
              </a:rPr>
              <a:t>on: </a:t>
            </a:r>
            <a:r>
              <a:rPr lang="en-US" sz="1950" dirty="0">
                <a:solidFill>
                  <a:srgbClr val="C6C4BC"/>
                </a:solidFill>
                <a:latin typeface="Consolas" pitchFamily="34" charset="0"/>
                <a:ea typeface="Consolas" pitchFamily="34" charset="-122"/>
                <a:cs typeface="Consolas" pitchFamily="34" charset="-120"/>
              </a:rPr>
              <a:t>   </a:t>
            </a:r>
            <a:r>
              <a:rPr lang="en-US" sz="1950" dirty="0">
                <a:solidFill>
                  <a:srgbClr val="79B8FF"/>
                </a:solidFill>
                <a:latin typeface="Consolas" pitchFamily="34" charset="0"/>
                <a:ea typeface="Consolas" pitchFamily="34" charset="-122"/>
                <a:cs typeface="Consolas" pitchFamily="34" charset="-120"/>
              </a:rPr>
              <a:t>issues: </a:t>
            </a:r>
            <a:r>
              <a:rPr lang="en-US" sz="1950" dirty="0">
                <a:solidFill>
                  <a:srgbClr val="C6C4BC"/>
                </a:solidFill>
                <a:latin typeface="Consolas" pitchFamily="34" charset="0"/>
                <a:ea typeface="Consolas" pitchFamily="34" charset="-122"/>
                <a:cs typeface="Consolas" pitchFamily="34" charset="-120"/>
              </a:rPr>
              <a:t>     </a:t>
            </a:r>
            <a:r>
              <a:rPr lang="en-US" sz="1950" dirty="0">
                <a:solidFill>
                  <a:srgbClr val="79B8FF"/>
                </a:solidFill>
                <a:latin typeface="Consolas" pitchFamily="34" charset="0"/>
                <a:ea typeface="Consolas" pitchFamily="34" charset="-122"/>
                <a:cs typeface="Consolas" pitchFamily="34" charset="-120"/>
              </a:rPr>
              <a:t>types:</a:t>
            </a:r>
            <a:r>
              <a:rPr lang="en-US" sz="1950" dirty="0">
                <a:solidFill>
                  <a:srgbClr val="C6C4BC"/>
                </a:solidFill>
                <a:latin typeface="Consolas" pitchFamily="34" charset="0"/>
                <a:ea typeface="Consolas" pitchFamily="34" charset="-122"/>
                <a:cs typeface="Consolas" pitchFamily="34" charset="-120"/>
              </a:rPr>
              <a:t> </a:t>
            </a:r>
            <a:r>
              <a:rPr lang="en-US" sz="1950" dirty="0">
                <a:solidFill>
                  <a:srgbClr val="F0B265"/>
                </a:solidFill>
                <a:latin typeface="Consolas" pitchFamily="34" charset="0"/>
                <a:ea typeface="Consolas" pitchFamily="34" charset="-122"/>
                <a:cs typeface="Consolas" pitchFamily="34" charset="-120"/>
              </a:rPr>
              <a:t>[opened] </a:t>
            </a:r>
            <a:r>
              <a:rPr lang="en-US" sz="1950" dirty="0">
                <a:solidFill>
                  <a:srgbClr val="79B8FF"/>
                </a:solidFill>
                <a:latin typeface="Consolas" pitchFamily="34" charset="0"/>
                <a:ea typeface="Consolas" pitchFamily="34" charset="-122"/>
                <a:cs typeface="Consolas" pitchFamily="34" charset="-120"/>
              </a:rPr>
              <a:t>engine:</a:t>
            </a:r>
            <a:r>
              <a:rPr lang="en-US" sz="1950" dirty="0">
                <a:solidFill>
                  <a:srgbClr val="C6C4BC"/>
                </a:solidFill>
                <a:latin typeface="Consolas" pitchFamily="34" charset="0"/>
                <a:ea typeface="Consolas" pitchFamily="34" charset="-122"/>
                <a:cs typeface="Consolas" pitchFamily="34" charset="-120"/>
              </a:rPr>
              <a:t> copilot </a:t>
            </a:r>
            <a:r>
              <a:rPr lang="en-US" sz="1950" dirty="0">
                <a:solidFill>
                  <a:srgbClr val="79B8FF"/>
                </a:solidFill>
                <a:latin typeface="Consolas" pitchFamily="34" charset="0"/>
                <a:ea typeface="Consolas" pitchFamily="34" charset="-122"/>
                <a:cs typeface="Consolas" pitchFamily="34" charset="-120"/>
              </a:rPr>
              <a:t>permissions: </a:t>
            </a:r>
            <a:r>
              <a:rPr lang="en-US" sz="1950" dirty="0">
                <a:solidFill>
                  <a:srgbClr val="C6C4BC"/>
                </a:solidFill>
                <a:latin typeface="Consolas" pitchFamily="34" charset="0"/>
                <a:ea typeface="Consolas" pitchFamily="34" charset="-122"/>
                <a:cs typeface="Consolas" pitchFamily="34" charset="-120"/>
              </a:rPr>
              <a:t>   </a:t>
            </a:r>
            <a:r>
              <a:rPr lang="en-US" sz="1950" dirty="0">
                <a:solidFill>
                  <a:srgbClr val="79B8FF"/>
                </a:solidFill>
                <a:latin typeface="Consolas" pitchFamily="34" charset="0"/>
                <a:ea typeface="Consolas" pitchFamily="34" charset="-122"/>
                <a:cs typeface="Consolas" pitchFamily="34" charset="-120"/>
              </a:rPr>
              <a:t>contents:</a:t>
            </a:r>
            <a:r>
              <a:rPr lang="en-US" sz="1950" dirty="0">
                <a:solidFill>
                  <a:srgbClr val="C6C4BC"/>
                </a:solidFill>
                <a:latin typeface="Consolas" pitchFamily="34" charset="0"/>
                <a:ea typeface="Consolas" pitchFamily="34" charset="-122"/>
                <a:cs typeface="Consolas" pitchFamily="34" charset="-120"/>
              </a:rPr>
              <a:t> </a:t>
            </a:r>
            <a:r>
              <a:rPr lang="en-US" sz="1950" dirty="0">
                <a:solidFill>
                  <a:srgbClr val="E8E6DF"/>
                </a:solidFill>
                <a:latin typeface="Consolas" pitchFamily="34" charset="0"/>
                <a:ea typeface="Consolas" pitchFamily="34" charset="-122"/>
                <a:cs typeface="Consolas" pitchFamily="34" charset="-120"/>
              </a:rPr>
              <a:t>read </a:t>
            </a:r>
            <a:r>
              <a:rPr lang="en-US" sz="1950" dirty="0">
                <a:solidFill>
                  <a:srgbClr val="C6C4BC"/>
                </a:solidFill>
                <a:latin typeface="Consolas" pitchFamily="34" charset="0"/>
                <a:ea typeface="Consolas" pitchFamily="34" charset="-122"/>
                <a:cs typeface="Consolas" pitchFamily="34" charset="-120"/>
              </a:rPr>
              <a:t>   </a:t>
            </a:r>
            <a:r>
              <a:rPr lang="en-US" sz="1950" dirty="0">
                <a:solidFill>
                  <a:srgbClr val="79B8FF"/>
                </a:solidFill>
                <a:latin typeface="Consolas" pitchFamily="34" charset="0"/>
                <a:ea typeface="Consolas" pitchFamily="34" charset="-122"/>
                <a:cs typeface="Consolas" pitchFamily="34" charset="-120"/>
              </a:rPr>
              <a:t>issues:</a:t>
            </a:r>
            <a:r>
              <a:rPr lang="en-US" sz="1950" dirty="0">
                <a:solidFill>
                  <a:srgbClr val="C6C4BC"/>
                </a:solidFill>
                <a:latin typeface="Consolas" pitchFamily="34" charset="0"/>
                <a:ea typeface="Consolas" pitchFamily="34" charset="-122"/>
                <a:cs typeface="Consolas" pitchFamily="34" charset="-120"/>
              </a:rPr>
              <a:t> </a:t>
            </a:r>
            <a:r>
              <a:rPr lang="en-US" sz="1950" dirty="0">
                <a:solidFill>
                  <a:srgbClr val="E8E6DF"/>
                </a:solidFill>
                <a:latin typeface="Consolas" pitchFamily="34" charset="0"/>
                <a:ea typeface="Consolas" pitchFamily="34" charset="-122"/>
                <a:cs typeface="Consolas" pitchFamily="34" charset="-120"/>
              </a:rPr>
              <a:t>read </a:t>
            </a:r>
            <a:r>
              <a:rPr lang="en-US" sz="1950" dirty="0">
                <a:solidFill>
                  <a:srgbClr val="79B8FF"/>
                </a:solidFill>
                <a:latin typeface="Consolas" pitchFamily="34" charset="0"/>
                <a:ea typeface="Consolas" pitchFamily="34" charset="-122"/>
                <a:cs typeface="Consolas" pitchFamily="34" charset="-120"/>
              </a:rPr>
              <a:t>safe-outputs: </a:t>
            </a:r>
            <a:r>
              <a:rPr lang="en-US" sz="1950" dirty="0">
                <a:solidFill>
                  <a:srgbClr val="C6C4BC"/>
                </a:solidFill>
                <a:latin typeface="Consolas" pitchFamily="34" charset="0"/>
                <a:ea typeface="Consolas" pitchFamily="34" charset="-122"/>
                <a:cs typeface="Consolas" pitchFamily="34" charset="-120"/>
              </a:rPr>
              <a:t>  add-comment:</a:t>
            </a:r>
            <a:endParaRPr lang="en-US" sz="1950" dirty="0"/>
          </a:p>
          <a:p>
            <a:pPr marL="0" indent="0" algn="l">
              <a:lnSpc>
                <a:spcPct val="155000"/>
              </a:lnSpc>
              <a:buNone/>
            </a:pPr>
            <a:r>
              <a:rPr lang="en-US" sz="1950" dirty="0">
                <a:solidFill>
                  <a:srgbClr val="C6C4BC"/>
                </a:solidFill>
                <a:latin typeface="Consolas" pitchFamily="34" charset="0"/>
                <a:ea typeface="Consolas" pitchFamily="34" charset="-122"/>
                <a:cs typeface="Consolas" pitchFamily="34" charset="-120"/>
              </a:rPr>
              <a:t>  add-labels: </a:t>
            </a:r>
            <a:endParaRPr lang="en-US" sz="1950" dirty="0"/>
          </a:p>
          <a:p>
            <a:pPr marL="0" indent="0" algn="l">
              <a:lnSpc>
                <a:spcPct val="155000"/>
              </a:lnSpc>
              <a:buNone/>
            </a:pPr>
            <a:r>
              <a:rPr lang="en-US" sz="1950" dirty="0">
                <a:solidFill>
                  <a:srgbClr val="7A8294"/>
                </a:solidFill>
                <a:latin typeface="Consolas" pitchFamily="34" charset="0"/>
                <a:ea typeface="Consolas" pitchFamily="34" charset="-122"/>
                <a:cs typeface="Consolas" pitchFamily="34" charset="-120"/>
              </a:rPr>
              <a:t>---</a:t>
            </a:r>
            <a:endParaRPr lang="en-US" sz="1950" dirty="0"/>
          </a:p>
        </p:txBody>
      </p:sp>
      <p:sp>
        <p:nvSpPr>
          <p:cNvPr id="40" name="Shape 38"/>
          <p:cNvSpPr/>
          <p:nvPr/>
        </p:nvSpPr>
        <p:spPr>
          <a:xfrm>
            <a:off x="0" y="9779001"/>
            <a:ext cx="18288000" cy="508000"/>
          </a:xfrm>
          <a:prstGeom prst="rect">
            <a:avLst/>
          </a:prstGeom>
          <a:solidFill>
            <a:srgbClr val="11141B"/>
          </a:solidFill>
          <a:ln/>
        </p:spPr>
        <p:txBody>
          <a:bodyPr/>
          <a:p/>
        </p:txBody>
      </p:sp>
      <p:sp>
        <p:nvSpPr>
          <p:cNvPr id="41" name="Shape 39"/>
          <p:cNvSpPr/>
          <p:nvPr/>
        </p:nvSpPr>
        <p:spPr>
          <a:xfrm>
            <a:off x="0" y="9779001"/>
            <a:ext cx="18288000" cy="12700"/>
          </a:xfrm>
          <a:prstGeom prst="rect">
            <a:avLst/>
          </a:prstGeom>
          <a:solidFill>
            <a:srgbClr val="2A3142"/>
          </a:solidFill>
          <a:ln/>
        </p:spPr>
        <p:txBody>
          <a:bodyPr/>
          <a:p/>
        </p:txBody>
      </p:sp>
      <p:sp>
        <p:nvSpPr>
          <p:cNvPr id="42" name="Text 40"/>
          <p:cNvSpPr/>
          <p:nvPr/>
        </p:nvSpPr>
        <p:spPr>
          <a:xfrm>
            <a:off x="304800" y="9880600"/>
            <a:ext cx="2060972"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B89CFF"/>
                </a:solidFill>
                <a:latin typeface="Consolas" pitchFamily="34" charset="0"/>
                <a:ea typeface="Consolas" pitchFamily="34" charset="-122"/>
                <a:cs typeface="Consolas" pitchFamily="34" charset="-120"/>
              </a:rPr>
              <a:t>● frontmatter</a:t>
            </a:r>
            <a:endParaRPr lang="en-US" sz="1800" dirty="0"/>
          </a:p>
        </p:txBody>
      </p:sp>
      <p:sp>
        <p:nvSpPr>
          <p:cNvPr id="43" name="Text 41"/>
          <p:cNvSpPr/>
          <p:nvPr/>
        </p:nvSpPr>
        <p:spPr>
          <a:xfrm>
            <a:off x="2594372" y="9880600"/>
            <a:ext cx="3357729"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1 required · 6 optional</a:t>
            </a:r>
            <a:endParaRPr lang="en-US" sz="1800" dirty="0"/>
          </a:p>
        </p:txBody>
      </p:sp>
      <p:sp>
        <p:nvSpPr>
          <p:cNvPr id="44" name="Text 42"/>
          <p:cNvSpPr/>
          <p:nvPr/>
        </p:nvSpPr>
        <p:spPr>
          <a:xfrm>
            <a:off x="16991013" y="9880600"/>
            <a:ext cx="1068388"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05 / 12</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D12"/>
        </a:solidFill>
        <a:effectLst/>
      </p:bgPr>
    </p:bg>
    <p:spTree>
      <p:nvGrpSpPr>
        <p:cNvPr id="1" name=""/>
        <p:cNvGrpSpPr/>
        <p:nvPr/>
      </p:nvGrpSpPr>
      <p:grpSpPr>
        <a:xfrm>
          <a:off x="0" y="0"/>
          <a:ext cx="0" cy="0"/>
          <a:chOff x="0" y="0"/>
          <a:chExt cx="0" cy="0"/>
        </a:xfrm>
      </p:grpSpPr>
      <p:sp>
        <p:nvSpPr>
          <p:cNvPr id="2" name="Shape 0"/>
          <p:cNvSpPr/>
          <p:nvPr/>
        </p:nvSpPr>
        <p:spPr>
          <a:xfrm>
            <a:off x="0" y="0"/>
            <a:ext cx="18288000" cy="546100"/>
          </a:xfrm>
          <a:prstGeom prst="rect">
            <a:avLst/>
          </a:prstGeom>
          <a:solidFill>
            <a:srgbClr val="11141B"/>
          </a:solidFill>
          <a:ln/>
        </p:spPr>
        <p:txBody>
          <a:bodyPr/>
          <a:p/>
        </p:txBody>
      </p:sp>
      <p:sp>
        <p:nvSpPr>
          <p:cNvPr id="3" name="Shape 1"/>
          <p:cNvSpPr/>
          <p:nvPr/>
        </p:nvSpPr>
        <p:spPr>
          <a:xfrm>
            <a:off x="0" y="533400"/>
            <a:ext cx="18288000" cy="12700"/>
          </a:xfrm>
          <a:prstGeom prst="rect">
            <a:avLst/>
          </a:prstGeom>
          <a:solidFill>
            <a:srgbClr val="2A3142"/>
          </a:solidFill>
          <a:ln/>
        </p:spPr>
        <p:txBody>
          <a:bodyPr/>
          <a:p/>
        </p:txBody>
      </p:sp>
      <p:sp>
        <p:nvSpPr>
          <p:cNvPr id="4" name="Shape 2"/>
          <p:cNvSpPr/>
          <p:nvPr/>
        </p:nvSpPr>
        <p:spPr>
          <a:xfrm>
            <a:off x="304800" y="200025"/>
            <a:ext cx="133350" cy="133350"/>
          </a:xfrm>
          <a:prstGeom prst="ellipse">
            <a:avLst/>
          </a:prstGeom>
          <a:solidFill>
            <a:srgbClr val="B6644A"/>
          </a:solidFill>
          <a:ln/>
        </p:spPr>
        <p:txBody>
          <a:bodyPr/>
          <a:p/>
        </p:txBody>
      </p:sp>
      <p:sp>
        <p:nvSpPr>
          <p:cNvPr id="5" name="Shape 3"/>
          <p:cNvSpPr/>
          <p:nvPr/>
        </p:nvSpPr>
        <p:spPr>
          <a:xfrm>
            <a:off x="533400" y="200025"/>
            <a:ext cx="133350" cy="133350"/>
          </a:xfrm>
          <a:prstGeom prst="ellipse">
            <a:avLst/>
          </a:prstGeom>
          <a:solidFill>
            <a:srgbClr val="B69A4A"/>
          </a:solidFill>
          <a:ln/>
        </p:spPr>
        <p:txBody>
          <a:bodyPr/>
          <a:p/>
        </p:txBody>
      </p:sp>
      <p:sp>
        <p:nvSpPr>
          <p:cNvPr id="6" name="Shape 4"/>
          <p:cNvSpPr/>
          <p:nvPr/>
        </p:nvSpPr>
        <p:spPr>
          <a:xfrm>
            <a:off x="762000" y="200025"/>
            <a:ext cx="133350" cy="133350"/>
          </a:xfrm>
          <a:prstGeom prst="ellipse">
            <a:avLst/>
          </a:prstGeom>
          <a:solidFill>
            <a:srgbClr val="6B9A6A"/>
          </a:solidFill>
          <a:ln/>
        </p:spPr>
        <p:txBody>
          <a:bodyPr/>
          <a:p/>
        </p:txBody>
      </p:sp>
      <p:sp>
        <p:nvSpPr>
          <p:cNvPr id="7" name="Text 5"/>
          <p:cNvSpPr/>
          <p:nvPr/>
        </p:nvSpPr>
        <p:spPr>
          <a:xfrm>
            <a:off x="1066800" y="107950"/>
            <a:ext cx="5266533"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C6C4BC"/>
                </a:solidFill>
                <a:latin typeface="Consolas" pitchFamily="34" charset="0"/>
                <a:ea typeface="Consolas" pitchFamily="34" charset="-122"/>
                <a:cs typeface="Consolas" pitchFamily="34" charset="-120"/>
              </a:rPr>
              <a:t>~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C6C4BC"/>
                </a:solidFill>
                <a:latin typeface="Consolas" pitchFamily="34" charset="0"/>
                <a:ea typeface="Consolas" pitchFamily="34" charset="-122"/>
                <a:cs typeface="Consolas" pitchFamily="34" charset="-120"/>
              </a:rPr>
              <a:t>agentic-workflows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B89CFF"/>
                </a:solidFill>
                <a:latin typeface="Consolas" pitchFamily="34" charset="0"/>
                <a:ea typeface="Consolas" pitchFamily="34" charset="-122"/>
                <a:cs typeface="Consolas" pitchFamily="34" charset="-120"/>
              </a:rPr>
              <a:t>05-authoring.md</a:t>
            </a:r>
            <a:endParaRPr lang="en-US" sz="1800" dirty="0"/>
          </a:p>
        </p:txBody>
      </p:sp>
      <p:sp>
        <p:nvSpPr>
          <p:cNvPr id="8" name="Text 6"/>
          <p:cNvSpPr/>
          <p:nvPr/>
        </p:nvSpPr>
        <p:spPr>
          <a:xfrm>
            <a:off x="14549438" y="107950"/>
            <a:ext cx="643136"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545B6C"/>
                </a:solidFill>
                <a:latin typeface="Consolas" pitchFamily="34" charset="0"/>
                <a:ea typeface="Consolas" pitchFamily="34" charset="-122"/>
                <a:cs typeface="Consolas" pitchFamily="34" charset="-120"/>
              </a:rPr>
              <a:t>main</a:t>
            </a:r>
            <a:endParaRPr lang="en-US" sz="1800" dirty="0"/>
          </a:p>
        </p:txBody>
      </p:sp>
      <p:sp>
        <p:nvSpPr>
          <p:cNvPr id="9" name="Text 7"/>
          <p:cNvSpPr/>
          <p:nvPr/>
        </p:nvSpPr>
        <p:spPr>
          <a:xfrm>
            <a:off x="15383074" y="107950"/>
            <a:ext cx="2678131"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6DC287"/>
                </a:solidFill>
                <a:latin typeface="Consolas" pitchFamily="34" charset="0"/>
                <a:ea typeface="Consolas" pitchFamily="34" charset="-122"/>
                <a:cs typeface="Consolas" pitchFamily="34" charset="-120"/>
              </a:rPr>
              <a:t>generally available</a:t>
            </a:r>
            <a:endParaRPr lang="en-US" sz="1800" dirty="0"/>
          </a:p>
        </p:txBody>
      </p:sp>
      <p:sp>
        <p:nvSpPr>
          <p:cNvPr id="10" name="Text 8"/>
          <p:cNvSpPr/>
          <p:nvPr/>
        </p:nvSpPr>
        <p:spPr>
          <a:xfrm>
            <a:off x="952500" y="1047750"/>
            <a:ext cx="1687449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B89CFF"/>
                </a:solidFill>
                <a:latin typeface="Consolas" pitchFamily="34" charset="0"/>
                <a:ea typeface="Consolas" pitchFamily="34" charset="-122"/>
                <a:cs typeface="Consolas" pitchFamily="34" charset="-120"/>
              </a:rPr>
              <a:t>## </a:t>
            </a:r>
            <a:r>
              <a:rPr lang="en-US" sz="1800" kern="0" spc="288" dirty="0">
                <a:solidFill>
                  <a:srgbClr val="7A8294"/>
                </a:solidFill>
                <a:latin typeface="Consolas" pitchFamily="34" charset="0"/>
                <a:ea typeface="Consolas" pitchFamily="34" charset="-122"/>
                <a:cs typeface="Consolas" pitchFamily="34" charset="-120"/>
              </a:rPr>
              <a:t>AUTHORING</a:t>
            </a:r>
            <a:endParaRPr lang="en-US" sz="1800" dirty="0"/>
          </a:p>
        </p:txBody>
      </p:sp>
      <p:sp>
        <p:nvSpPr>
          <p:cNvPr id="11" name="Text 9"/>
          <p:cNvSpPr/>
          <p:nvPr/>
        </p:nvSpPr>
        <p:spPr>
          <a:xfrm>
            <a:off x="952500" y="1631950"/>
            <a:ext cx="14716125" cy="1612900"/>
          </a:xfrm>
          <a:prstGeom prst="rect">
            <a:avLst/>
          </a:prstGeom>
          <a:noFill/>
          <a:ln/>
        </p:spPr>
        <p:txBody>
          <a:bodyPr wrap="square" lIns="25400" tIns="25400" rIns="25400" bIns="25400" rtlCol="0" anchor="t">
            <a:normAutofit/>
          </a:bodyPr>
          <a:lstStyle/>
          <a:p>
            <a:pPr marL="0" indent="0" algn="l">
              <a:lnSpc>
                <a:spcPct val="105000"/>
              </a:lnSpc>
              <a:buNone/>
            </a:pPr>
            <a:r>
              <a:rPr lang="en-US" sz="5700" kern="0" spc="-142" dirty="0">
                <a:solidFill>
                  <a:srgbClr val="E8E6DF"/>
                </a:solidFill>
                <a:latin typeface="Arial" pitchFamily="34" charset="0"/>
                <a:ea typeface="Arial" pitchFamily="34" charset="-122"/>
                <a:cs typeface="Arial" pitchFamily="34" charset="-120"/>
              </a:rPr>
              <a:t>Write Markdown. Compile to a </a:t>
            </a:r>
            <a:r>
              <a:rPr lang="en-US" sz="5700" i="1" kern="0" spc="-142" dirty="0">
                <a:solidFill>
                  <a:srgbClr val="B89CFF"/>
                </a:solidFill>
                <a:latin typeface="Georgia" pitchFamily="34" charset="0"/>
                <a:ea typeface="Georgia" pitchFamily="34" charset="-122"/>
                <a:cs typeface="Georgia" pitchFamily="34" charset="-120"/>
              </a:rPr>
              <a:t>workflow</a:t>
            </a:r>
            <a:r>
              <a:rPr lang="en-US" sz="5700" kern="0" spc="-142" dirty="0">
                <a:solidFill>
                  <a:srgbClr val="E8E6DF"/>
                </a:solidFill>
                <a:latin typeface="Arial" pitchFamily="34" charset="0"/>
                <a:ea typeface="Arial" pitchFamily="34" charset="-122"/>
                <a:cs typeface="Arial" pitchFamily="34" charset="-120"/>
              </a:rPr>
              <a:t>.</a:t>
            </a:r>
            <a:endParaRPr lang="en-US" sz="5700" dirty="0"/>
          </a:p>
        </p:txBody>
      </p:sp>
      <p:sp>
        <p:nvSpPr>
          <p:cNvPr id="12" name="Shape 10"/>
          <p:cNvSpPr/>
          <p:nvPr/>
        </p:nvSpPr>
        <p:spPr>
          <a:xfrm>
            <a:off x="952500" y="3702050"/>
            <a:ext cx="6858000" cy="4927600"/>
          </a:xfrm>
          <a:prstGeom prst="roundRect">
            <a:avLst>
              <a:gd name="adj" fmla="val 1546"/>
            </a:avLst>
          </a:prstGeom>
          <a:solidFill>
            <a:srgbClr val="161A23"/>
          </a:solidFill>
          <a:ln w="12700">
            <a:solidFill>
              <a:srgbClr val="2A3142"/>
            </a:solidFill>
            <a:prstDash val="solid"/>
          </a:ln>
        </p:spPr>
        <p:txBody>
          <a:bodyPr/>
          <a:p/>
        </p:txBody>
      </p:sp>
      <p:sp>
        <p:nvSpPr>
          <p:cNvPr id="13" name="Shape 11"/>
          <p:cNvSpPr/>
          <p:nvPr/>
        </p:nvSpPr>
        <p:spPr>
          <a:xfrm>
            <a:off x="965200" y="3714750"/>
            <a:ext cx="6832600" cy="596900"/>
          </a:xfrm>
          <a:prstGeom prst="rect">
            <a:avLst/>
          </a:prstGeom>
          <a:solidFill>
            <a:srgbClr val="1C2230"/>
          </a:solidFill>
          <a:ln/>
        </p:spPr>
        <p:txBody>
          <a:bodyPr/>
          <a:p/>
        </p:txBody>
      </p:sp>
      <p:sp>
        <p:nvSpPr>
          <p:cNvPr id="14" name="Shape 12"/>
          <p:cNvSpPr/>
          <p:nvPr/>
        </p:nvSpPr>
        <p:spPr>
          <a:xfrm>
            <a:off x="965200" y="4298950"/>
            <a:ext cx="6832600" cy="12700"/>
          </a:xfrm>
          <a:prstGeom prst="rect">
            <a:avLst/>
          </a:prstGeom>
          <a:solidFill>
            <a:srgbClr val="2A3142"/>
          </a:solidFill>
          <a:ln/>
        </p:spPr>
        <p:txBody>
          <a:bodyPr/>
          <a:p/>
        </p:txBody>
      </p:sp>
      <p:sp>
        <p:nvSpPr>
          <p:cNvPr id="15" name="Text 13"/>
          <p:cNvSpPr/>
          <p:nvPr/>
        </p:nvSpPr>
        <p:spPr>
          <a:xfrm>
            <a:off x="1174750" y="3848100"/>
            <a:ext cx="131068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C6C4BC"/>
                </a:solidFill>
                <a:latin typeface="Consolas" pitchFamily="34" charset="0"/>
                <a:ea typeface="Consolas" pitchFamily="34" charset="-122"/>
                <a:cs typeface="Consolas" pitchFamily="34" charset="-120"/>
              </a:rPr>
              <a:t>triage.md</a:t>
            </a:r>
            <a:endParaRPr lang="en-US" sz="1800" dirty="0"/>
          </a:p>
        </p:txBody>
      </p:sp>
      <p:sp>
        <p:nvSpPr>
          <p:cNvPr id="16" name="Text 14"/>
          <p:cNvSpPr/>
          <p:nvPr/>
        </p:nvSpPr>
        <p:spPr>
          <a:xfrm>
            <a:off x="5777707" y="3848100"/>
            <a:ext cx="1886744"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16" dirty="0">
                <a:solidFill>
                  <a:srgbClr val="B89CFF"/>
                </a:solidFill>
                <a:latin typeface="Consolas" pitchFamily="34" charset="0"/>
                <a:ea typeface="Consolas" pitchFamily="34" charset="-122"/>
                <a:cs typeface="Consolas" pitchFamily="34" charset="-120"/>
              </a:rPr>
              <a:t>SOURCE · MD</a:t>
            </a:r>
            <a:endParaRPr lang="en-US" sz="1800" dirty="0"/>
          </a:p>
        </p:txBody>
      </p:sp>
      <p:sp>
        <p:nvSpPr>
          <p:cNvPr id="17" name="Text 15"/>
          <p:cNvSpPr/>
          <p:nvPr/>
        </p:nvSpPr>
        <p:spPr>
          <a:xfrm>
            <a:off x="1231900" y="4559300"/>
            <a:ext cx="6504178" cy="3810000"/>
          </a:xfrm>
          <a:prstGeom prst="rect">
            <a:avLst/>
          </a:prstGeom>
          <a:noFill/>
          <a:ln/>
        </p:spPr>
        <p:txBody>
          <a:bodyPr wrap="square" lIns="25400" tIns="25400" rIns="25400" bIns="25400" rtlCol="0" anchor="t">
            <a:normAutofit/>
          </a:bodyPr>
          <a:lstStyle/>
          <a:p>
            <a:pPr marL="0" indent="0" algn="l">
              <a:lnSpc>
                <a:spcPct val="155000"/>
              </a:lnSpc>
              <a:buNone/>
            </a:pPr>
            <a:r>
              <a:rPr lang="en-US" sz="1800" dirty="0">
                <a:solidFill>
                  <a:srgbClr val="7A8294"/>
                </a:solidFill>
                <a:latin typeface="Consolas" pitchFamily="34" charset="0"/>
                <a:ea typeface="Consolas" pitchFamily="34" charset="-122"/>
                <a:cs typeface="Consolas" pitchFamily="34" charset="-120"/>
              </a:rPr>
              <a:t>---</a:t>
            </a:r>
            <a:endParaRPr lang="en-US" sz="1800" dirty="0"/>
          </a:p>
          <a:p>
            <a:pPr marL="0" indent="0" algn="l">
              <a:lnSpc>
                <a:spcPct val="155000"/>
              </a:lnSpc>
              <a:buNone/>
            </a:pPr>
            <a:r>
              <a:rPr lang="en-US" sz="1800" dirty="0">
                <a:solidFill>
                  <a:srgbClr val="7A8294"/>
                </a:solidFill>
                <a:latin typeface="Consolas" pitchFamily="34" charset="0"/>
                <a:ea typeface="Consolas" pitchFamily="34" charset="-122"/>
                <a:cs typeface="Consolas" pitchFamily="34" charset="-120"/>
              </a:rPr>
              <a:t>on: { issues: { types: [opened] } }</a:t>
            </a:r>
            <a:endParaRPr lang="en-US" sz="1800" dirty="0"/>
          </a:p>
          <a:p>
            <a:pPr marL="0" indent="0" algn="l">
              <a:lnSpc>
                <a:spcPct val="155000"/>
              </a:lnSpc>
              <a:buNone/>
            </a:pPr>
            <a:r>
              <a:rPr lang="en-US" sz="1800" dirty="0">
                <a:solidFill>
                  <a:srgbClr val="7A8294"/>
                </a:solidFill>
                <a:latin typeface="Consolas" pitchFamily="34" charset="0"/>
                <a:ea typeface="Consolas" pitchFamily="34" charset="-122"/>
                <a:cs typeface="Consolas" pitchFamily="34" charset="-120"/>
              </a:rPr>
              <a:t>engine: copilot</a:t>
            </a:r>
            <a:endParaRPr lang="en-US" sz="1800" dirty="0"/>
          </a:p>
          <a:p>
            <a:pPr marL="0" indent="0" algn="l">
              <a:lnSpc>
                <a:spcPct val="155000"/>
              </a:lnSpc>
              <a:buNone/>
            </a:pPr>
            <a:r>
              <a:rPr lang="en-US" sz="1800" dirty="0">
                <a:solidFill>
                  <a:srgbClr val="7A8294"/>
                </a:solidFill>
                <a:latin typeface="Consolas" pitchFamily="34" charset="0"/>
                <a:ea typeface="Consolas" pitchFamily="34" charset="-122"/>
                <a:cs typeface="Consolas" pitchFamily="34" charset="-120"/>
              </a:rPr>
              <a:t>--- </a:t>
            </a:r>
            <a:endParaRPr lang="en-US" sz="1800" dirty="0"/>
          </a:p>
          <a:p>
            <a:pPr marL="0" indent="0" algn="l">
              <a:lnSpc>
                <a:spcPct val="155000"/>
              </a:lnSpc>
              <a:buNone/>
            </a:pPr>
            <a:r>
              <a:rPr lang="en-US" sz="1800" dirty="0">
                <a:solidFill>
                  <a:srgbClr val="E8E6DF"/>
                </a:solidFill>
                <a:latin typeface="Consolas" pitchFamily="34" charset="0"/>
                <a:ea typeface="Consolas" pitchFamily="34" charset="-122"/>
                <a:cs typeface="Consolas" pitchFamily="34" charset="-120"/>
              </a:rPr>
              <a:t>## Triage incoming issue </a:t>
            </a:r>
            <a:r>
              <a:rPr lang="en-US" sz="1800" dirty="0">
                <a:solidFill>
                  <a:srgbClr val="C6C4BC"/>
                </a:solidFill>
                <a:latin typeface="Consolas" pitchFamily="34" charset="0"/>
                <a:ea typeface="Consolas" pitchFamily="34" charset="-122"/>
                <a:cs typeface="Consolas" pitchFamily="34" charset="-120"/>
              </a:rPr>
              <a:t>Read the issue body and any</a:t>
            </a:r>
            <a:endParaRPr lang="en-US" sz="1800" dirty="0"/>
          </a:p>
          <a:p>
            <a:pPr marL="0" indent="0" algn="l">
              <a:lnSpc>
                <a:spcPct val="155000"/>
              </a:lnSpc>
              <a:buNone/>
            </a:pPr>
            <a:r>
              <a:rPr lang="en-US" sz="1800" dirty="0">
                <a:solidFill>
                  <a:srgbClr val="C6C4BC"/>
                </a:solidFill>
                <a:latin typeface="Consolas" pitchFamily="34" charset="0"/>
                <a:ea typeface="Consolas" pitchFamily="34" charset="-122"/>
                <a:cs typeface="Consolas" pitchFamily="34" charset="-120"/>
              </a:rPr>
              <a:t>referenced files. Suggest a</a:t>
            </a:r>
            <a:endParaRPr lang="en-US" sz="1800" dirty="0"/>
          </a:p>
          <a:p>
            <a:pPr marL="0" indent="0" algn="l">
              <a:lnSpc>
                <a:spcPct val="155000"/>
              </a:lnSpc>
              <a:buNone/>
            </a:pPr>
            <a:r>
              <a:rPr lang="en-US" sz="1800" dirty="0">
                <a:solidFill>
                  <a:srgbClr val="C6C4BC"/>
                </a:solidFill>
                <a:latin typeface="Consolas" pitchFamily="34" charset="0"/>
                <a:ea typeface="Consolas" pitchFamily="34" charset="-122"/>
                <a:cs typeface="Consolas" pitchFamily="34" charset="-120"/>
              </a:rPr>
              <a:t>label and write a one-line</a:t>
            </a:r>
            <a:endParaRPr lang="en-US" sz="1800" dirty="0"/>
          </a:p>
          <a:p>
            <a:pPr marL="0" indent="0" algn="l">
              <a:lnSpc>
                <a:spcPct val="155000"/>
              </a:lnSpc>
              <a:buNone/>
            </a:pPr>
            <a:r>
              <a:rPr lang="en-US" sz="1800" dirty="0">
                <a:solidFill>
                  <a:srgbClr val="C6C4BC"/>
                </a:solidFill>
                <a:latin typeface="Consolas" pitchFamily="34" charset="0"/>
                <a:ea typeface="Consolas" pitchFamily="34" charset="-122"/>
                <a:cs typeface="Consolas" pitchFamily="34" charset="-120"/>
              </a:rPr>
              <a:t>summary as a comment.</a:t>
            </a:r>
            <a:endParaRPr lang="en-US" sz="1800" dirty="0"/>
          </a:p>
        </p:txBody>
      </p:sp>
      <p:sp>
        <p:nvSpPr>
          <p:cNvPr id="18" name="Text 16"/>
          <p:cNvSpPr/>
          <p:nvPr/>
        </p:nvSpPr>
        <p:spPr>
          <a:xfrm>
            <a:off x="9034860" y="5194300"/>
            <a:ext cx="294283" cy="533400"/>
          </a:xfrm>
          <a:prstGeom prst="rect">
            <a:avLst/>
          </a:prstGeom>
          <a:noFill/>
          <a:ln/>
        </p:spPr>
        <p:txBody>
          <a:bodyPr wrap="square" lIns="25400" tIns="25400" rIns="25400" bIns="25400" rtlCol="0" anchor="t">
            <a:normAutofit/>
          </a:bodyPr>
          <a:lstStyle/>
          <a:p>
            <a:pPr marL="0" indent="0" algn="l">
              <a:lnSpc>
                <a:spcPct val="140000"/>
              </a:lnSpc>
              <a:buNone/>
            </a:pPr>
            <a:r>
              <a:rPr lang="en-US" sz="2850" dirty="0">
                <a:solidFill>
                  <a:srgbClr val="7A8294"/>
                </a:solidFill>
                <a:latin typeface="Consolas" pitchFamily="34" charset="0"/>
                <a:ea typeface="Consolas" pitchFamily="34" charset="-122"/>
                <a:cs typeface="Consolas" pitchFamily="34" charset="-120"/>
              </a:rPr>
              <a:t>→</a:t>
            </a:r>
            <a:endParaRPr lang="en-US" sz="2850" dirty="0"/>
          </a:p>
        </p:txBody>
      </p:sp>
      <p:sp>
        <p:nvSpPr>
          <p:cNvPr id="19" name="Shape 17"/>
          <p:cNvSpPr/>
          <p:nvPr/>
        </p:nvSpPr>
        <p:spPr>
          <a:xfrm>
            <a:off x="7893050" y="5861050"/>
            <a:ext cx="2502098" cy="609600"/>
          </a:xfrm>
          <a:prstGeom prst="roundRect">
            <a:avLst>
              <a:gd name="adj" fmla="val 9375"/>
            </a:avLst>
          </a:prstGeom>
          <a:solidFill>
            <a:srgbClr val="B89CFF">
              <a:alpha val="8000"/>
            </a:srgbClr>
          </a:solidFill>
          <a:ln w="12700">
            <a:solidFill>
              <a:srgbClr val="B89CFF">
                <a:alpha val="40000"/>
              </a:srgbClr>
            </a:solidFill>
            <a:prstDash val="solid"/>
          </a:ln>
        </p:spPr>
        <p:txBody>
          <a:bodyPr/>
          <a:p/>
        </p:txBody>
      </p:sp>
      <p:sp>
        <p:nvSpPr>
          <p:cNvPr id="20" name="Text 18"/>
          <p:cNvSpPr/>
          <p:nvPr/>
        </p:nvSpPr>
        <p:spPr>
          <a:xfrm>
            <a:off x="8115300" y="6007100"/>
            <a:ext cx="2133798"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B89CFF"/>
                </a:solidFill>
                <a:latin typeface="Consolas" pitchFamily="34" charset="0"/>
                <a:ea typeface="Consolas" pitchFamily="34" charset="-122"/>
                <a:cs typeface="Consolas" pitchFamily="34" charset="-120"/>
              </a:rPr>
              <a:t>$ gh aw compile</a:t>
            </a:r>
            <a:endParaRPr lang="en-US" sz="1800" dirty="0"/>
          </a:p>
        </p:txBody>
      </p:sp>
      <p:sp>
        <p:nvSpPr>
          <p:cNvPr id="21" name="Text 19"/>
          <p:cNvSpPr/>
          <p:nvPr/>
        </p:nvSpPr>
        <p:spPr>
          <a:xfrm>
            <a:off x="9034860" y="6642100"/>
            <a:ext cx="294283" cy="533400"/>
          </a:xfrm>
          <a:prstGeom prst="rect">
            <a:avLst/>
          </a:prstGeom>
          <a:noFill/>
          <a:ln/>
        </p:spPr>
        <p:txBody>
          <a:bodyPr wrap="square" lIns="25400" tIns="25400" rIns="25400" bIns="25400" rtlCol="0" anchor="t">
            <a:normAutofit/>
          </a:bodyPr>
          <a:lstStyle/>
          <a:p>
            <a:pPr marL="0" indent="0" algn="l">
              <a:lnSpc>
                <a:spcPct val="140000"/>
              </a:lnSpc>
              <a:buNone/>
            </a:pPr>
            <a:r>
              <a:rPr lang="en-US" sz="2850" dirty="0">
                <a:solidFill>
                  <a:srgbClr val="7A8294"/>
                </a:solidFill>
                <a:latin typeface="Consolas" pitchFamily="34" charset="0"/>
                <a:ea typeface="Consolas" pitchFamily="34" charset="-122"/>
                <a:cs typeface="Consolas" pitchFamily="34" charset="-120"/>
              </a:rPr>
              <a:t>→</a:t>
            </a:r>
            <a:endParaRPr lang="en-US" sz="2850" dirty="0"/>
          </a:p>
        </p:txBody>
      </p:sp>
      <p:sp>
        <p:nvSpPr>
          <p:cNvPr id="22" name="Shape 20"/>
          <p:cNvSpPr/>
          <p:nvPr/>
        </p:nvSpPr>
        <p:spPr>
          <a:xfrm>
            <a:off x="10477500" y="3702050"/>
            <a:ext cx="6858000" cy="4927600"/>
          </a:xfrm>
          <a:prstGeom prst="roundRect">
            <a:avLst>
              <a:gd name="adj" fmla="val 1546"/>
            </a:avLst>
          </a:prstGeom>
          <a:solidFill>
            <a:srgbClr val="161A23"/>
          </a:solidFill>
          <a:ln w="12700">
            <a:solidFill>
              <a:srgbClr val="2A3142"/>
            </a:solidFill>
            <a:prstDash val="solid"/>
          </a:ln>
        </p:spPr>
        <p:txBody>
          <a:bodyPr/>
          <a:p/>
        </p:txBody>
      </p:sp>
      <p:sp>
        <p:nvSpPr>
          <p:cNvPr id="23" name="Shape 21"/>
          <p:cNvSpPr/>
          <p:nvPr/>
        </p:nvSpPr>
        <p:spPr>
          <a:xfrm>
            <a:off x="10490200" y="3714750"/>
            <a:ext cx="6832600" cy="596900"/>
          </a:xfrm>
          <a:prstGeom prst="rect">
            <a:avLst/>
          </a:prstGeom>
          <a:solidFill>
            <a:srgbClr val="1C2230"/>
          </a:solidFill>
          <a:ln/>
        </p:spPr>
        <p:txBody>
          <a:bodyPr/>
          <a:p/>
        </p:txBody>
      </p:sp>
      <p:sp>
        <p:nvSpPr>
          <p:cNvPr id="24" name="Shape 22"/>
          <p:cNvSpPr/>
          <p:nvPr/>
        </p:nvSpPr>
        <p:spPr>
          <a:xfrm>
            <a:off x="10490200" y="4298950"/>
            <a:ext cx="6832600" cy="12700"/>
          </a:xfrm>
          <a:prstGeom prst="rect">
            <a:avLst/>
          </a:prstGeom>
          <a:solidFill>
            <a:srgbClr val="2A3142"/>
          </a:solidFill>
          <a:ln/>
        </p:spPr>
        <p:txBody>
          <a:bodyPr/>
          <a:p/>
        </p:txBody>
      </p:sp>
      <p:sp>
        <p:nvSpPr>
          <p:cNvPr id="25" name="Text 23"/>
          <p:cNvSpPr/>
          <p:nvPr/>
        </p:nvSpPr>
        <p:spPr>
          <a:xfrm>
            <a:off x="10699750" y="3848100"/>
            <a:ext cx="2133799"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C6C4BC"/>
                </a:solidFill>
                <a:latin typeface="Consolas" pitchFamily="34" charset="0"/>
                <a:ea typeface="Consolas" pitchFamily="34" charset="-122"/>
                <a:cs typeface="Consolas" pitchFamily="34" charset="-120"/>
              </a:rPr>
              <a:t>triage.lock.yml</a:t>
            </a:r>
            <a:endParaRPr lang="en-US" sz="1800" dirty="0"/>
          </a:p>
        </p:txBody>
      </p:sp>
      <p:sp>
        <p:nvSpPr>
          <p:cNvPr id="26" name="Text 24"/>
          <p:cNvSpPr/>
          <p:nvPr/>
        </p:nvSpPr>
        <p:spPr>
          <a:xfrm>
            <a:off x="15138004" y="3848100"/>
            <a:ext cx="2051447"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16" dirty="0">
                <a:solidFill>
                  <a:srgbClr val="B89CFF"/>
                </a:solidFill>
                <a:latin typeface="Consolas" pitchFamily="34" charset="0"/>
                <a:ea typeface="Consolas" pitchFamily="34" charset="-122"/>
                <a:cs typeface="Consolas" pitchFamily="34" charset="-120"/>
              </a:rPr>
              <a:t>BUILT · YAML</a:t>
            </a:r>
            <a:endParaRPr lang="en-US" sz="1800" dirty="0"/>
          </a:p>
        </p:txBody>
      </p:sp>
      <p:sp>
        <p:nvSpPr>
          <p:cNvPr id="27" name="Text 25"/>
          <p:cNvSpPr/>
          <p:nvPr/>
        </p:nvSpPr>
        <p:spPr>
          <a:xfrm>
            <a:off x="10756900" y="4559300"/>
            <a:ext cx="6504178" cy="3810000"/>
          </a:xfrm>
          <a:prstGeom prst="rect">
            <a:avLst/>
          </a:prstGeom>
          <a:noFill/>
          <a:ln/>
        </p:spPr>
        <p:txBody>
          <a:bodyPr wrap="square" lIns="25400" tIns="25400" rIns="25400" bIns="25400" rtlCol="0" anchor="t">
            <a:normAutofit/>
          </a:bodyPr>
          <a:lstStyle/>
          <a:p>
            <a:pPr marL="0" indent="0" algn="l">
              <a:lnSpc>
                <a:spcPct val="155000"/>
              </a:lnSpc>
              <a:buNone/>
            </a:pPr>
            <a:r>
              <a:rPr lang="en-US" sz="1800" dirty="0">
                <a:solidFill>
                  <a:srgbClr val="79B8FF"/>
                </a:solidFill>
                <a:latin typeface="Consolas" pitchFamily="34" charset="0"/>
                <a:ea typeface="Consolas" pitchFamily="34" charset="-122"/>
                <a:cs typeface="Consolas" pitchFamily="34" charset="-120"/>
              </a:rPr>
              <a:t>name:</a:t>
            </a:r>
            <a:r>
              <a:rPr lang="en-US" sz="1800" dirty="0">
                <a:solidFill>
                  <a:srgbClr val="C6C4BC"/>
                </a:solidFill>
                <a:latin typeface="Consolas" pitchFamily="34" charset="0"/>
                <a:ea typeface="Consolas" pitchFamily="34" charset="-122"/>
                <a:cs typeface="Consolas" pitchFamily="34" charset="-120"/>
              </a:rPr>
              <a:t> triage </a:t>
            </a:r>
            <a:r>
              <a:rPr lang="en-US" sz="1800" dirty="0">
                <a:solidFill>
                  <a:srgbClr val="79B8FF"/>
                </a:solidFill>
                <a:latin typeface="Consolas" pitchFamily="34" charset="0"/>
                <a:ea typeface="Consolas" pitchFamily="34" charset="-122"/>
                <a:cs typeface="Consolas" pitchFamily="34" charset="-120"/>
              </a:rPr>
              <a:t>on: </a:t>
            </a:r>
            <a:r>
              <a:rPr lang="en-US" sz="1800" dirty="0">
                <a:solidFill>
                  <a:srgbClr val="C6C4BC"/>
                </a:solidFill>
                <a:latin typeface="Consolas" pitchFamily="34" charset="0"/>
                <a:ea typeface="Consolas" pitchFamily="34" charset="-122"/>
                <a:cs typeface="Consolas" pitchFamily="34" charset="-120"/>
              </a:rPr>
              <a:t>   </a:t>
            </a:r>
            <a:r>
              <a:rPr lang="en-US" sz="1800" dirty="0">
                <a:solidFill>
                  <a:srgbClr val="79B8FF"/>
                </a:solidFill>
                <a:latin typeface="Consolas" pitchFamily="34" charset="0"/>
                <a:ea typeface="Consolas" pitchFamily="34" charset="-122"/>
                <a:cs typeface="Consolas" pitchFamily="34" charset="-120"/>
              </a:rPr>
              <a:t>issues: </a:t>
            </a:r>
            <a:r>
              <a:rPr lang="en-US" sz="1800" dirty="0">
                <a:solidFill>
                  <a:srgbClr val="C6C4BC"/>
                </a:solidFill>
                <a:latin typeface="Consolas" pitchFamily="34" charset="0"/>
                <a:ea typeface="Consolas" pitchFamily="34" charset="-122"/>
                <a:cs typeface="Consolas" pitchFamily="34" charset="-120"/>
              </a:rPr>
              <a:t>     </a:t>
            </a:r>
            <a:r>
              <a:rPr lang="en-US" sz="1800" dirty="0">
                <a:solidFill>
                  <a:srgbClr val="79B8FF"/>
                </a:solidFill>
                <a:latin typeface="Consolas" pitchFamily="34" charset="0"/>
                <a:ea typeface="Consolas" pitchFamily="34" charset="-122"/>
                <a:cs typeface="Consolas" pitchFamily="34" charset="-120"/>
              </a:rPr>
              <a:t>types:</a:t>
            </a:r>
            <a:r>
              <a:rPr lang="en-US" sz="1800" dirty="0">
                <a:solidFill>
                  <a:srgbClr val="C6C4BC"/>
                </a:solidFill>
                <a:latin typeface="Consolas" pitchFamily="34" charset="0"/>
                <a:ea typeface="Consolas" pitchFamily="34" charset="-122"/>
                <a:cs typeface="Consolas" pitchFamily="34" charset="-120"/>
              </a:rPr>
              <a:t> </a:t>
            </a:r>
            <a:r>
              <a:rPr lang="en-US" sz="1800" dirty="0">
                <a:solidFill>
                  <a:srgbClr val="F0B265"/>
                </a:solidFill>
                <a:latin typeface="Consolas" pitchFamily="34" charset="0"/>
                <a:ea typeface="Consolas" pitchFamily="34" charset="-122"/>
                <a:cs typeface="Consolas" pitchFamily="34" charset="-120"/>
              </a:rPr>
              <a:t>[opened] </a:t>
            </a:r>
            <a:r>
              <a:rPr lang="en-US" sz="1800" dirty="0">
                <a:solidFill>
                  <a:srgbClr val="79B8FF"/>
                </a:solidFill>
                <a:latin typeface="Consolas" pitchFamily="34" charset="0"/>
                <a:ea typeface="Consolas" pitchFamily="34" charset="-122"/>
                <a:cs typeface="Consolas" pitchFamily="34" charset="-120"/>
              </a:rPr>
              <a:t>jobs: </a:t>
            </a:r>
            <a:r>
              <a:rPr lang="en-US" sz="1800" dirty="0">
                <a:solidFill>
                  <a:srgbClr val="C6C4BC"/>
                </a:solidFill>
                <a:latin typeface="Consolas" pitchFamily="34" charset="0"/>
                <a:ea typeface="Consolas" pitchFamily="34" charset="-122"/>
                <a:cs typeface="Consolas" pitchFamily="34" charset="-120"/>
              </a:rPr>
              <a:t>   </a:t>
            </a:r>
            <a:r>
              <a:rPr lang="en-US" sz="1800" dirty="0">
                <a:solidFill>
                  <a:srgbClr val="79B8FF"/>
                </a:solidFill>
                <a:latin typeface="Consolas" pitchFamily="34" charset="0"/>
                <a:ea typeface="Consolas" pitchFamily="34" charset="-122"/>
                <a:cs typeface="Consolas" pitchFamily="34" charset="-120"/>
              </a:rPr>
              <a:t>agent: </a:t>
            </a:r>
            <a:r>
              <a:rPr lang="en-US" sz="1800" dirty="0">
                <a:solidFill>
                  <a:srgbClr val="C6C4BC"/>
                </a:solidFill>
                <a:latin typeface="Consolas" pitchFamily="34" charset="0"/>
                <a:ea typeface="Consolas" pitchFamily="34" charset="-122"/>
                <a:cs typeface="Consolas" pitchFamily="34" charset="-120"/>
              </a:rPr>
              <a:t>     </a:t>
            </a:r>
            <a:r>
              <a:rPr lang="en-US" sz="1800" dirty="0">
                <a:solidFill>
                  <a:srgbClr val="79B8FF"/>
                </a:solidFill>
                <a:latin typeface="Consolas" pitchFamily="34" charset="0"/>
                <a:ea typeface="Consolas" pitchFamily="34" charset="-122"/>
                <a:cs typeface="Consolas" pitchFamily="34" charset="-120"/>
              </a:rPr>
              <a:t>runs-on:</a:t>
            </a:r>
            <a:r>
              <a:rPr lang="en-US" sz="1800" dirty="0">
                <a:solidFill>
                  <a:srgbClr val="C6C4BC"/>
                </a:solidFill>
                <a:latin typeface="Consolas" pitchFamily="34" charset="0"/>
                <a:ea typeface="Consolas" pitchFamily="34" charset="-122"/>
                <a:cs typeface="Consolas" pitchFamily="34" charset="-120"/>
              </a:rPr>
              <a:t> </a:t>
            </a:r>
            <a:r>
              <a:rPr lang="en-US" sz="1800" dirty="0">
                <a:solidFill>
                  <a:srgbClr val="E8E6DF"/>
                </a:solidFill>
                <a:latin typeface="Consolas" pitchFamily="34" charset="0"/>
                <a:ea typeface="Consolas" pitchFamily="34" charset="-122"/>
                <a:cs typeface="Consolas" pitchFamily="34" charset="-120"/>
              </a:rPr>
              <a:t>ubuntu-latest </a:t>
            </a:r>
            <a:r>
              <a:rPr lang="en-US" sz="1800" dirty="0">
                <a:solidFill>
                  <a:srgbClr val="C6C4BC"/>
                </a:solidFill>
                <a:latin typeface="Consolas" pitchFamily="34" charset="0"/>
                <a:ea typeface="Consolas" pitchFamily="34" charset="-122"/>
                <a:cs typeface="Consolas" pitchFamily="34" charset="-120"/>
              </a:rPr>
              <a:t>     </a:t>
            </a:r>
            <a:r>
              <a:rPr lang="en-US" sz="1800" dirty="0">
                <a:solidFill>
                  <a:srgbClr val="79B8FF"/>
                </a:solidFill>
                <a:latin typeface="Consolas" pitchFamily="34" charset="0"/>
                <a:ea typeface="Consolas" pitchFamily="34" charset="-122"/>
                <a:cs typeface="Consolas" pitchFamily="34" charset="-120"/>
              </a:rPr>
              <a:t>permissions: </a:t>
            </a:r>
            <a:r>
              <a:rPr lang="en-US" sz="1800" dirty="0">
                <a:solidFill>
                  <a:srgbClr val="C6C4BC"/>
                </a:solidFill>
                <a:latin typeface="Consolas" pitchFamily="34" charset="0"/>
                <a:ea typeface="Consolas" pitchFamily="34" charset="-122"/>
                <a:cs typeface="Consolas" pitchFamily="34" charset="-120"/>
              </a:rPr>
              <a:t>       </a:t>
            </a:r>
            <a:r>
              <a:rPr lang="en-US" sz="1800" dirty="0">
                <a:solidFill>
                  <a:srgbClr val="79B8FF"/>
                </a:solidFill>
                <a:latin typeface="Consolas" pitchFamily="34" charset="0"/>
                <a:ea typeface="Consolas" pitchFamily="34" charset="-122"/>
                <a:cs typeface="Consolas" pitchFamily="34" charset="-120"/>
              </a:rPr>
              <a:t>contents:</a:t>
            </a:r>
            <a:r>
              <a:rPr lang="en-US" sz="1800" dirty="0">
                <a:solidFill>
                  <a:srgbClr val="C6C4BC"/>
                </a:solidFill>
                <a:latin typeface="Consolas" pitchFamily="34" charset="0"/>
                <a:ea typeface="Consolas" pitchFamily="34" charset="-122"/>
                <a:cs typeface="Consolas" pitchFamily="34" charset="-120"/>
              </a:rPr>
              <a:t> </a:t>
            </a:r>
            <a:r>
              <a:rPr lang="en-US" sz="1800" dirty="0">
                <a:solidFill>
                  <a:srgbClr val="E8E6DF"/>
                </a:solidFill>
                <a:latin typeface="Consolas" pitchFamily="34" charset="0"/>
                <a:ea typeface="Consolas" pitchFamily="34" charset="-122"/>
                <a:cs typeface="Consolas" pitchFamily="34" charset="-120"/>
              </a:rPr>
              <a:t>read </a:t>
            </a:r>
            <a:r>
              <a:rPr lang="en-US" sz="1800" dirty="0">
                <a:solidFill>
                  <a:srgbClr val="C6C4BC"/>
                </a:solidFill>
                <a:latin typeface="Consolas" pitchFamily="34" charset="0"/>
                <a:ea typeface="Consolas" pitchFamily="34" charset="-122"/>
                <a:cs typeface="Consolas" pitchFamily="34" charset="-120"/>
              </a:rPr>
              <a:t>       </a:t>
            </a:r>
            <a:r>
              <a:rPr lang="en-US" sz="1800" dirty="0">
                <a:solidFill>
                  <a:srgbClr val="79B8FF"/>
                </a:solidFill>
                <a:latin typeface="Consolas" pitchFamily="34" charset="0"/>
                <a:ea typeface="Consolas" pitchFamily="34" charset="-122"/>
                <a:cs typeface="Consolas" pitchFamily="34" charset="-120"/>
              </a:rPr>
              <a:t>steps: </a:t>
            </a:r>
            <a:r>
              <a:rPr lang="en-US" sz="1800" dirty="0">
                <a:solidFill>
                  <a:srgbClr val="C6C4BC"/>
                </a:solidFill>
                <a:latin typeface="Consolas" pitchFamily="34" charset="0"/>
                <a:ea typeface="Consolas" pitchFamily="34" charset="-122"/>
                <a:cs typeface="Consolas" pitchFamily="34" charset="-120"/>
              </a:rPr>
              <a:t>        -  </a:t>
            </a:r>
            <a:r>
              <a:rPr lang="en-US" sz="1800" dirty="0">
                <a:solidFill>
                  <a:srgbClr val="79B8FF"/>
                </a:solidFill>
                <a:latin typeface="Consolas" pitchFamily="34" charset="0"/>
                <a:ea typeface="Consolas" pitchFamily="34" charset="-122"/>
                <a:cs typeface="Consolas" pitchFamily="34" charset="-120"/>
              </a:rPr>
              <a:t>uses:</a:t>
            </a:r>
            <a:r>
              <a:rPr lang="en-US" sz="1800" dirty="0">
                <a:solidFill>
                  <a:srgbClr val="C6C4BC"/>
                </a:solidFill>
                <a:latin typeface="Consolas" pitchFamily="34" charset="0"/>
                <a:ea typeface="Consolas" pitchFamily="34" charset="-122"/>
                <a:cs typeface="Consolas" pitchFamily="34" charset="-120"/>
              </a:rPr>
              <a:t> github/gh-aw@v0</a:t>
            </a:r>
            <a:endParaRPr lang="en-US" sz="1800" dirty="0"/>
          </a:p>
        </p:txBody>
      </p:sp>
      <p:sp>
        <p:nvSpPr>
          <p:cNvPr id="28" name="Shape 26"/>
          <p:cNvSpPr/>
          <p:nvPr/>
        </p:nvSpPr>
        <p:spPr>
          <a:xfrm>
            <a:off x="0" y="9779001"/>
            <a:ext cx="18288000" cy="508000"/>
          </a:xfrm>
          <a:prstGeom prst="rect">
            <a:avLst/>
          </a:prstGeom>
          <a:solidFill>
            <a:srgbClr val="11141B"/>
          </a:solidFill>
          <a:ln/>
        </p:spPr>
        <p:txBody>
          <a:bodyPr/>
          <a:p/>
        </p:txBody>
      </p:sp>
      <p:sp>
        <p:nvSpPr>
          <p:cNvPr id="29" name="Shape 27"/>
          <p:cNvSpPr/>
          <p:nvPr/>
        </p:nvSpPr>
        <p:spPr>
          <a:xfrm>
            <a:off x="0" y="9779001"/>
            <a:ext cx="18288000" cy="12700"/>
          </a:xfrm>
          <a:prstGeom prst="rect">
            <a:avLst/>
          </a:prstGeom>
          <a:solidFill>
            <a:srgbClr val="2A3142"/>
          </a:solidFill>
          <a:ln/>
        </p:spPr>
        <p:txBody>
          <a:bodyPr/>
          <a:p/>
        </p:txBody>
      </p:sp>
      <p:sp>
        <p:nvSpPr>
          <p:cNvPr id="30" name="Text 28"/>
          <p:cNvSpPr/>
          <p:nvPr/>
        </p:nvSpPr>
        <p:spPr>
          <a:xfrm>
            <a:off x="304800" y="9880600"/>
            <a:ext cx="1494036"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B89CFF"/>
                </a:solidFill>
                <a:latin typeface="Consolas" pitchFamily="34" charset="0"/>
                <a:ea typeface="Consolas" pitchFamily="34" charset="-122"/>
                <a:cs typeface="Consolas" pitchFamily="34" charset="-120"/>
              </a:rPr>
              <a:t>● compile</a:t>
            </a:r>
            <a:endParaRPr lang="en-US" sz="1800" dirty="0"/>
          </a:p>
        </p:txBody>
      </p:sp>
      <p:sp>
        <p:nvSpPr>
          <p:cNvPr id="31" name="Text 29"/>
          <p:cNvSpPr/>
          <p:nvPr/>
        </p:nvSpPr>
        <p:spPr>
          <a:xfrm>
            <a:off x="2027436" y="9880600"/>
            <a:ext cx="1919288"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md → lock.yml</a:t>
            </a:r>
            <a:endParaRPr lang="en-US" sz="1800" dirty="0"/>
          </a:p>
        </p:txBody>
      </p:sp>
      <p:sp>
        <p:nvSpPr>
          <p:cNvPr id="32" name="Text 30"/>
          <p:cNvSpPr/>
          <p:nvPr/>
        </p:nvSpPr>
        <p:spPr>
          <a:xfrm>
            <a:off x="4175324" y="9880600"/>
            <a:ext cx="1351955"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6DC287"/>
                </a:solidFill>
                <a:latin typeface="Consolas" pitchFamily="34" charset="0"/>
                <a:ea typeface="Consolas" pitchFamily="34" charset="-122"/>
                <a:cs typeface="Consolas" pitchFamily="34" charset="-120"/>
              </a:rPr>
              <a:t>+24 lines</a:t>
            </a:r>
            <a:endParaRPr lang="en-US" sz="1800" dirty="0"/>
          </a:p>
        </p:txBody>
      </p:sp>
      <p:sp>
        <p:nvSpPr>
          <p:cNvPr id="33" name="Text 31"/>
          <p:cNvSpPr/>
          <p:nvPr/>
        </p:nvSpPr>
        <p:spPr>
          <a:xfrm>
            <a:off x="16991013" y="9880600"/>
            <a:ext cx="1068388"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06 / 12</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D12"/>
        </a:solidFill>
        <a:effectLst/>
      </p:bgPr>
    </p:bg>
    <p:spTree>
      <p:nvGrpSpPr>
        <p:cNvPr id="1" name=""/>
        <p:cNvGrpSpPr/>
        <p:nvPr/>
      </p:nvGrpSpPr>
      <p:grpSpPr>
        <a:xfrm>
          <a:off x="0" y="0"/>
          <a:ext cx="0" cy="0"/>
          <a:chOff x="0" y="0"/>
          <a:chExt cx="0" cy="0"/>
        </a:xfrm>
      </p:grpSpPr>
      <p:sp>
        <p:nvSpPr>
          <p:cNvPr id="2" name="Shape 0"/>
          <p:cNvSpPr/>
          <p:nvPr/>
        </p:nvSpPr>
        <p:spPr>
          <a:xfrm>
            <a:off x="0" y="0"/>
            <a:ext cx="18288000" cy="546100"/>
          </a:xfrm>
          <a:prstGeom prst="rect">
            <a:avLst/>
          </a:prstGeom>
          <a:solidFill>
            <a:srgbClr val="11141B"/>
          </a:solidFill>
          <a:ln/>
        </p:spPr>
        <p:txBody>
          <a:bodyPr/>
          <a:p/>
        </p:txBody>
      </p:sp>
      <p:sp>
        <p:nvSpPr>
          <p:cNvPr id="3" name="Shape 1"/>
          <p:cNvSpPr/>
          <p:nvPr/>
        </p:nvSpPr>
        <p:spPr>
          <a:xfrm>
            <a:off x="0" y="533400"/>
            <a:ext cx="18288000" cy="12700"/>
          </a:xfrm>
          <a:prstGeom prst="rect">
            <a:avLst/>
          </a:prstGeom>
          <a:solidFill>
            <a:srgbClr val="2A3142"/>
          </a:solidFill>
          <a:ln/>
        </p:spPr>
        <p:txBody>
          <a:bodyPr/>
          <a:p/>
        </p:txBody>
      </p:sp>
      <p:sp>
        <p:nvSpPr>
          <p:cNvPr id="4" name="Shape 2"/>
          <p:cNvSpPr/>
          <p:nvPr/>
        </p:nvSpPr>
        <p:spPr>
          <a:xfrm>
            <a:off x="304800" y="200025"/>
            <a:ext cx="133350" cy="133350"/>
          </a:xfrm>
          <a:prstGeom prst="ellipse">
            <a:avLst/>
          </a:prstGeom>
          <a:solidFill>
            <a:srgbClr val="B6644A"/>
          </a:solidFill>
          <a:ln/>
        </p:spPr>
        <p:txBody>
          <a:bodyPr/>
          <a:p/>
        </p:txBody>
      </p:sp>
      <p:sp>
        <p:nvSpPr>
          <p:cNvPr id="5" name="Shape 3"/>
          <p:cNvSpPr/>
          <p:nvPr/>
        </p:nvSpPr>
        <p:spPr>
          <a:xfrm>
            <a:off x="533400" y="200025"/>
            <a:ext cx="133350" cy="133350"/>
          </a:xfrm>
          <a:prstGeom prst="ellipse">
            <a:avLst/>
          </a:prstGeom>
          <a:solidFill>
            <a:srgbClr val="B69A4A"/>
          </a:solidFill>
          <a:ln/>
        </p:spPr>
        <p:txBody>
          <a:bodyPr/>
          <a:p/>
        </p:txBody>
      </p:sp>
      <p:sp>
        <p:nvSpPr>
          <p:cNvPr id="6" name="Shape 4"/>
          <p:cNvSpPr/>
          <p:nvPr/>
        </p:nvSpPr>
        <p:spPr>
          <a:xfrm>
            <a:off x="762000" y="200025"/>
            <a:ext cx="133350" cy="133350"/>
          </a:xfrm>
          <a:prstGeom prst="ellipse">
            <a:avLst/>
          </a:prstGeom>
          <a:solidFill>
            <a:srgbClr val="6B9A6A"/>
          </a:solidFill>
          <a:ln/>
        </p:spPr>
        <p:txBody>
          <a:bodyPr/>
          <a:p/>
        </p:txBody>
      </p:sp>
      <p:sp>
        <p:nvSpPr>
          <p:cNvPr id="7" name="Text 5"/>
          <p:cNvSpPr/>
          <p:nvPr/>
        </p:nvSpPr>
        <p:spPr>
          <a:xfrm>
            <a:off x="1066800" y="107950"/>
            <a:ext cx="5704543"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C6C4BC"/>
                </a:solidFill>
                <a:latin typeface="Consolas" pitchFamily="34" charset="0"/>
                <a:ea typeface="Consolas" pitchFamily="34" charset="-122"/>
                <a:cs typeface="Consolas" pitchFamily="34" charset="-120"/>
              </a:rPr>
              <a:t>~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C6C4BC"/>
                </a:solidFill>
                <a:latin typeface="Consolas" pitchFamily="34" charset="0"/>
                <a:ea typeface="Consolas" pitchFamily="34" charset="-122"/>
                <a:cs typeface="Consolas" pitchFamily="34" charset="-120"/>
              </a:rPr>
              <a:t>agentic-workflows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B89CFF"/>
                </a:solidFill>
                <a:latin typeface="Consolas" pitchFamily="34" charset="0"/>
                <a:ea typeface="Consolas" pitchFamily="34" charset="-122"/>
                <a:cs typeface="Consolas" pitchFamily="34" charset="-120"/>
              </a:rPr>
              <a:t>06-capabilities.md</a:t>
            </a:r>
            <a:endParaRPr lang="en-US" sz="1800" dirty="0"/>
          </a:p>
        </p:txBody>
      </p:sp>
      <p:sp>
        <p:nvSpPr>
          <p:cNvPr id="8" name="Text 6"/>
          <p:cNvSpPr/>
          <p:nvPr/>
        </p:nvSpPr>
        <p:spPr>
          <a:xfrm>
            <a:off x="14549438" y="107950"/>
            <a:ext cx="643136"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545B6C"/>
                </a:solidFill>
                <a:latin typeface="Consolas" pitchFamily="34" charset="0"/>
                <a:ea typeface="Consolas" pitchFamily="34" charset="-122"/>
                <a:cs typeface="Consolas" pitchFamily="34" charset="-120"/>
              </a:rPr>
              <a:t>main</a:t>
            </a:r>
            <a:endParaRPr lang="en-US" sz="1800" dirty="0"/>
          </a:p>
        </p:txBody>
      </p:sp>
      <p:sp>
        <p:nvSpPr>
          <p:cNvPr id="9" name="Text 7"/>
          <p:cNvSpPr/>
          <p:nvPr/>
        </p:nvSpPr>
        <p:spPr>
          <a:xfrm>
            <a:off x="15383074" y="107950"/>
            <a:ext cx="2678131"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6DC287"/>
                </a:solidFill>
                <a:latin typeface="Consolas" pitchFamily="34" charset="0"/>
                <a:ea typeface="Consolas" pitchFamily="34" charset="-122"/>
                <a:cs typeface="Consolas" pitchFamily="34" charset="-120"/>
              </a:rPr>
              <a:t>generally available</a:t>
            </a:r>
            <a:endParaRPr lang="en-US" sz="1800" dirty="0"/>
          </a:p>
        </p:txBody>
      </p:sp>
      <p:sp>
        <p:nvSpPr>
          <p:cNvPr id="10" name="Text 8"/>
          <p:cNvSpPr/>
          <p:nvPr/>
        </p:nvSpPr>
        <p:spPr>
          <a:xfrm>
            <a:off x="952500" y="1047750"/>
            <a:ext cx="1687449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B89CFF"/>
                </a:solidFill>
                <a:latin typeface="Consolas" pitchFamily="34" charset="0"/>
                <a:ea typeface="Consolas" pitchFamily="34" charset="-122"/>
                <a:cs typeface="Consolas" pitchFamily="34" charset="-120"/>
              </a:rPr>
              <a:t>## </a:t>
            </a:r>
            <a:r>
              <a:rPr lang="en-US" sz="1800" kern="0" spc="288" dirty="0">
                <a:solidFill>
                  <a:srgbClr val="7A8294"/>
                </a:solidFill>
                <a:latin typeface="Consolas" pitchFamily="34" charset="0"/>
                <a:ea typeface="Consolas" pitchFamily="34" charset="-122"/>
                <a:cs typeface="Consolas" pitchFamily="34" charset="-120"/>
              </a:rPr>
              <a:t>WHAT CHANGES</a:t>
            </a:r>
            <a:endParaRPr lang="en-US" sz="1800" dirty="0"/>
          </a:p>
        </p:txBody>
      </p:sp>
      <p:sp>
        <p:nvSpPr>
          <p:cNvPr id="11" name="Text 9"/>
          <p:cNvSpPr/>
          <p:nvPr/>
        </p:nvSpPr>
        <p:spPr>
          <a:xfrm>
            <a:off x="952500" y="1631950"/>
            <a:ext cx="14716125" cy="1612900"/>
          </a:xfrm>
          <a:prstGeom prst="rect">
            <a:avLst/>
          </a:prstGeom>
          <a:noFill/>
          <a:ln/>
        </p:spPr>
        <p:txBody>
          <a:bodyPr wrap="square" lIns="25400" tIns="25400" rIns="25400" bIns="25400" rtlCol="0" anchor="t">
            <a:normAutofit/>
          </a:bodyPr>
          <a:lstStyle/>
          <a:p>
            <a:pPr marL="0" indent="0" algn="l">
              <a:lnSpc>
                <a:spcPct val="105000"/>
              </a:lnSpc>
              <a:buNone/>
            </a:pPr>
            <a:r>
              <a:rPr lang="en-US" sz="5700" kern="0" spc="-142" dirty="0">
                <a:solidFill>
                  <a:srgbClr val="E8E6DF"/>
                </a:solidFill>
                <a:latin typeface="Arial" pitchFamily="34" charset="0"/>
                <a:ea typeface="Arial" pitchFamily="34" charset="-122"/>
                <a:cs typeface="Arial" pitchFamily="34" charset="-120"/>
              </a:rPr>
              <a:t>CI/CD that reads, decides, and </a:t>
            </a:r>
            <a:r>
              <a:rPr lang="en-US" sz="5700" i="1" kern="0" spc="-142" dirty="0">
                <a:solidFill>
                  <a:srgbClr val="B89CFF"/>
                </a:solidFill>
                <a:latin typeface="Georgia" pitchFamily="34" charset="0"/>
                <a:ea typeface="Georgia" pitchFamily="34" charset="-122"/>
                <a:cs typeface="Georgia" pitchFamily="34" charset="-120"/>
              </a:rPr>
              <a:t>stays on course</a:t>
            </a:r>
            <a:r>
              <a:rPr lang="en-US" sz="5700" kern="0" spc="-142" dirty="0">
                <a:solidFill>
                  <a:srgbClr val="E8E6DF"/>
                </a:solidFill>
                <a:latin typeface="Arial" pitchFamily="34" charset="0"/>
                <a:ea typeface="Arial" pitchFamily="34" charset="-122"/>
                <a:cs typeface="Arial" pitchFamily="34" charset="-120"/>
              </a:rPr>
              <a:t>.</a:t>
            </a:r>
            <a:endParaRPr lang="en-US" sz="5700" dirty="0"/>
          </a:p>
        </p:txBody>
      </p:sp>
      <p:sp>
        <p:nvSpPr>
          <p:cNvPr id="12" name="Shape 10"/>
          <p:cNvSpPr/>
          <p:nvPr/>
        </p:nvSpPr>
        <p:spPr>
          <a:xfrm>
            <a:off x="952500" y="3702050"/>
            <a:ext cx="5207000" cy="4140200"/>
          </a:xfrm>
          <a:prstGeom prst="roundRect">
            <a:avLst>
              <a:gd name="adj" fmla="val 1840"/>
            </a:avLst>
          </a:prstGeom>
          <a:solidFill>
            <a:srgbClr val="161A23"/>
          </a:solidFill>
          <a:ln w="12700">
            <a:solidFill>
              <a:srgbClr val="2A3142"/>
            </a:solidFill>
            <a:prstDash val="solid"/>
          </a:ln>
        </p:spPr>
        <p:txBody>
          <a:bodyPr/>
          <a:p/>
        </p:txBody>
      </p:sp>
      <p:sp>
        <p:nvSpPr>
          <p:cNvPr id="13" name="Text 11"/>
          <p:cNvSpPr/>
          <p:nvPr/>
        </p:nvSpPr>
        <p:spPr>
          <a:xfrm>
            <a:off x="1270000" y="4057650"/>
            <a:ext cx="470916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B89CFF"/>
                </a:solidFill>
                <a:latin typeface="Consolas" pitchFamily="34" charset="0"/>
                <a:ea typeface="Consolas" pitchFamily="34" charset="-122"/>
                <a:cs typeface="Consolas" pitchFamily="34" charset="-120"/>
              </a:rPr>
              <a:t>01 ·</a:t>
            </a:r>
            <a:endParaRPr lang="en-US" sz="1800" dirty="0"/>
          </a:p>
        </p:txBody>
      </p:sp>
      <p:sp>
        <p:nvSpPr>
          <p:cNvPr id="14" name="Text 12"/>
          <p:cNvSpPr/>
          <p:nvPr/>
        </p:nvSpPr>
        <p:spPr>
          <a:xfrm>
            <a:off x="1270000" y="4565650"/>
            <a:ext cx="4709160" cy="571500"/>
          </a:xfrm>
          <a:prstGeom prst="rect">
            <a:avLst/>
          </a:prstGeom>
          <a:noFill/>
          <a:ln/>
        </p:spPr>
        <p:txBody>
          <a:bodyPr wrap="square" lIns="25400" tIns="25400" rIns="25400" bIns="25400" rtlCol="0" anchor="t">
            <a:normAutofit/>
          </a:bodyPr>
          <a:lstStyle/>
          <a:p>
            <a:pPr marL="0" indent="0" algn="l">
              <a:lnSpc>
                <a:spcPct val="110000"/>
              </a:lnSpc>
              <a:buNone/>
            </a:pPr>
            <a:r>
              <a:rPr lang="en-US" sz="3450" kern="0" spc="-69" dirty="0">
                <a:solidFill>
                  <a:srgbClr val="E8E6DF"/>
                </a:solidFill>
                <a:latin typeface="Arial" pitchFamily="34" charset="0"/>
                <a:ea typeface="Arial" pitchFamily="34" charset="-122"/>
                <a:cs typeface="Arial" pitchFamily="34" charset="-120"/>
              </a:rPr>
              <a:t>Understands </a:t>
            </a:r>
            <a:r>
              <a:rPr lang="en-US" sz="3450" i="1" kern="0" spc="-69" dirty="0">
                <a:solidFill>
                  <a:srgbClr val="B89CFF"/>
                </a:solidFill>
                <a:latin typeface="Georgia" pitchFamily="34" charset="0"/>
                <a:ea typeface="Georgia" pitchFamily="34" charset="-122"/>
                <a:cs typeface="Georgia" pitchFamily="34" charset="-120"/>
              </a:rPr>
              <a:t>context</a:t>
            </a:r>
            <a:endParaRPr lang="en-US" sz="3450" dirty="0"/>
          </a:p>
        </p:txBody>
      </p:sp>
      <p:sp>
        <p:nvSpPr>
          <p:cNvPr id="15" name="Text 13"/>
          <p:cNvSpPr/>
          <p:nvPr/>
        </p:nvSpPr>
        <p:spPr>
          <a:xfrm>
            <a:off x="1270000" y="5289550"/>
            <a:ext cx="4709160" cy="698500"/>
          </a:xfrm>
          <a:prstGeom prst="rect">
            <a:avLst/>
          </a:prstGeom>
          <a:noFill/>
          <a:ln/>
        </p:spPr>
        <p:txBody>
          <a:bodyPr wrap="square" lIns="25400" tIns="25400" rIns="25400" bIns="25400" rtlCol="0" anchor="t">
            <a:normAutofit/>
          </a:bodyPr>
          <a:lstStyle/>
          <a:p>
            <a:pPr marL="0" indent="0" algn="l">
              <a:lnSpc>
                <a:spcPct val="145000"/>
              </a:lnSpc>
              <a:buNone/>
            </a:pPr>
            <a:r>
              <a:rPr lang="en-US" sz="1800" dirty="0">
                <a:solidFill>
                  <a:srgbClr val="7A8294"/>
                </a:solidFill>
                <a:latin typeface="Arial" pitchFamily="34" charset="0"/>
                <a:ea typeface="Arial" pitchFamily="34" charset="-122"/>
                <a:cs typeface="Arial" pitchFamily="34" charset="-120"/>
              </a:rPr>
              <a:t>Reads the repository, issues, pull requests, and any other source you grant access to.</a:t>
            </a:r>
            <a:endParaRPr lang="en-US" sz="1800" dirty="0"/>
          </a:p>
        </p:txBody>
      </p:sp>
      <p:sp>
        <p:nvSpPr>
          <p:cNvPr id="16" name="Shape 14"/>
          <p:cNvSpPr/>
          <p:nvPr/>
        </p:nvSpPr>
        <p:spPr>
          <a:xfrm>
            <a:off x="6540500" y="3702050"/>
            <a:ext cx="5207000" cy="4140200"/>
          </a:xfrm>
          <a:prstGeom prst="roundRect">
            <a:avLst>
              <a:gd name="adj" fmla="val 1840"/>
            </a:avLst>
          </a:prstGeom>
          <a:solidFill>
            <a:srgbClr val="161A23"/>
          </a:solidFill>
          <a:ln w="12700">
            <a:solidFill>
              <a:srgbClr val="2A3142"/>
            </a:solidFill>
            <a:prstDash val="solid"/>
          </a:ln>
        </p:spPr>
        <p:txBody>
          <a:bodyPr/>
          <a:p/>
        </p:txBody>
      </p:sp>
      <p:sp>
        <p:nvSpPr>
          <p:cNvPr id="17" name="Text 15"/>
          <p:cNvSpPr/>
          <p:nvPr/>
        </p:nvSpPr>
        <p:spPr>
          <a:xfrm>
            <a:off x="6858000" y="4057650"/>
            <a:ext cx="470916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B89CFF"/>
                </a:solidFill>
                <a:latin typeface="Consolas" pitchFamily="34" charset="0"/>
                <a:ea typeface="Consolas" pitchFamily="34" charset="-122"/>
                <a:cs typeface="Consolas" pitchFamily="34" charset="-120"/>
              </a:rPr>
              <a:t>02 ·</a:t>
            </a:r>
            <a:endParaRPr lang="en-US" sz="1800" dirty="0"/>
          </a:p>
        </p:txBody>
      </p:sp>
      <p:sp>
        <p:nvSpPr>
          <p:cNvPr id="18" name="Text 16"/>
          <p:cNvSpPr/>
          <p:nvPr/>
        </p:nvSpPr>
        <p:spPr>
          <a:xfrm>
            <a:off x="6858000" y="4565650"/>
            <a:ext cx="4709160" cy="571500"/>
          </a:xfrm>
          <a:prstGeom prst="rect">
            <a:avLst/>
          </a:prstGeom>
          <a:noFill/>
          <a:ln/>
        </p:spPr>
        <p:txBody>
          <a:bodyPr wrap="square" lIns="25400" tIns="25400" rIns="25400" bIns="25400" rtlCol="0" anchor="t">
            <a:normAutofit/>
          </a:bodyPr>
          <a:lstStyle/>
          <a:p>
            <a:pPr marL="0" indent="0" algn="l">
              <a:lnSpc>
                <a:spcPct val="110000"/>
              </a:lnSpc>
              <a:buNone/>
            </a:pPr>
            <a:r>
              <a:rPr lang="en-US" sz="3450" kern="0" spc="-69" dirty="0">
                <a:solidFill>
                  <a:srgbClr val="E8E6DF"/>
                </a:solidFill>
                <a:latin typeface="Arial" pitchFamily="34" charset="0"/>
                <a:ea typeface="Arial" pitchFamily="34" charset="-122"/>
                <a:cs typeface="Arial" pitchFamily="34" charset="-120"/>
              </a:rPr>
              <a:t>Makes </a:t>
            </a:r>
            <a:r>
              <a:rPr lang="en-US" sz="3450" i="1" kern="0" spc="-69" dirty="0">
                <a:solidFill>
                  <a:srgbClr val="B89CFF"/>
                </a:solidFill>
                <a:latin typeface="Georgia" pitchFamily="34" charset="0"/>
                <a:ea typeface="Georgia" pitchFamily="34" charset="-122"/>
                <a:cs typeface="Georgia" pitchFamily="34" charset="-120"/>
              </a:rPr>
              <a:t>decisions</a:t>
            </a:r>
            <a:endParaRPr lang="en-US" sz="3450" dirty="0"/>
          </a:p>
        </p:txBody>
      </p:sp>
      <p:sp>
        <p:nvSpPr>
          <p:cNvPr id="19" name="Text 17"/>
          <p:cNvSpPr/>
          <p:nvPr/>
        </p:nvSpPr>
        <p:spPr>
          <a:xfrm>
            <a:off x="6858000" y="5289550"/>
            <a:ext cx="4709160" cy="698500"/>
          </a:xfrm>
          <a:prstGeom prst="rect">
            <a:avLst/>
          </a:prstGeom>
          <a:noFill/>
          <a:ln/>
        </p:spPr>
        <p:txBody>
          <a:bodyPr wrap="square" lIns="25400" tIns="25400" rIns="25400" bIns="25400" rtlCol="0" anchor="t">
            <a:normAutofit/>
          </a:bodyPr>
          <a:lstStyle/>
          <a:p>
            <a:pPr marL="0" indent="0" algn="l">
              <a:lnSpc>
                <a:spcPct val="145000"/>
              </a:lnSpc>
              <a:buNone/>
            </a:pPr>
            <a:r>
              <a:rPr lang="en-US" sz="1800" dirty="0">
                <a:solidFill>
                  <a:srgbClr val="7A8294"/>
                </a:solidFill>
                <a:latin typeface="Arial" pitchFamily="34" charset="0"/>
                <a:ea typeface="Arial" pitchFamily="34" charset="-122"/>
                <a:cs typeface="Arial" pitchFamily="34" charset="-120"/>
              </a:rPr>
              <a:t>Chooses what to do based on context — not just on predefined conditions.</a:t>
            </a:r>
            <a:endParaRPr lang="en-US" sz="1800" dirty="0"/>
          </a:p>
        </p:txBody>
      </p:sp>
      <p:sp>
        <p:nvSpPr>
          <p:cNvPr id="20" name="Shape 18"/>
          <p:cNvSpPr/>
          <p:nvPr/>
        </p:nvSpPr>
        <p:spPr>
          <a:xfrm>
            <a:off x="12128500" y="3702050"/>
            <a:ext cx="5207000" cy="4140200"/>
          </a:xfrm>
          <a:prstGeom prst="roundRect">
            <a:avLst>
              <a:gd name="adj" fmla="val 1840"/>
            </a:avLst>
          </a:prstGeom>
          <a:solidFill>
            <a:srgbClr val="161A23"/>
          </a:solidFill>
          <a:ln w="12700">
            <a:solidFill>
              <a:srgbClr val="2A3142"/>
            </a:solidFill>
            <a:prstDash val="solid"/>
          </a:ln>
        </p:spPr>
        <p:txBody>
          <a:bodyPr/>
          <a:p/>
        </p:txBody>
      </p:sp>
      <p:sp>
        <p:nvSpPr>
          <p:cNvPr id="21" name="Text 19"/>
          <p:cNvSpPr/>
          <p:nvPr/>
        </p:nvSpPr>
        <p:spPr>
          <a:xfrm>
            <a:off x="12446001" y="4057650"/>
            <a:ext cx="470916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B89CFF"/>
                </a:solidFill>
                <a:latin typeface="Consolas" pitchFamily="34" charset="0"/>
                <a:ea typeface="Consolas" pitchFamily="34" charset="-122"/>
                <a:cs typeface="Consolas" pitchFamily="34" charset="-120"/>
              </a:rPr>
              <a:t>03 ·</a:t>
            </a:r>
            <a:endParaRPr lang="en-US" sz="1800" dirty="0"/>
          </a:p>
        </p:txBody>
      </p:sp>
      <p:sp>
        <p:nvSpPr>
          <p:cNvPr id="22" name="Text 20"/>
          <p:cNvSpPr/>
          <p:nvPr/>
        </p:nvSpPr>
        <p:spPr>
          <a:xfrm>
            <a:off x="12446001" y="4565650"/>
            <a:ext cx="4709160" cy="571500"/>
          </a:xfrm>
          <a:prstGeom prst="rect">
            <a:avLst/>
          </a:prstGeom>
          <a:noFill/>
          <a:ln/>
        </p:spPr>
        <p:txBody>
          <a:bodyPr wrap="square" lIns="25400" tIns="25400" rIns="25400" bIns="25400" rtlCol="0" anchor="t">
            <a:normAutofit/>
          </a:bodyPr>
          <a:lstStyle/>
          <a:p>
            <a:pPr marL="0" indent="0" algn="l">
              <a:lnSpc>
                <a:spcPct val="110000"/>
              </a:lnSpc>
              <a:buNone/>
            </a:pPr>
            <a:r>
              <a:rPr lang="en-US" sz="3450" kern="0" spc="-69" dirty="0">
                <a:solidFill>
                  <a:srgbClr val="E8E6DF"/>
                </a:solidFill>
                <a:latin typeface="Arial" pitchFamily="34" charset="0"/>
                <a:ea typeface="Arial" pitchFamily="34" charset="-122"/>
                <a:cs typeface="Arial" pitchFamily="34" charset="-120"/>
              </a:rPr>
              <a:t>Stays </a:t>
            </a:r>
            <a:r>
              <a:rPr lang="en-US" sz="3450" i="1" kern="0" spc="-69" dirty="0">
                <a:solidFill>
                  <a:srgbClr val="B89CFF"/>
                </a:solidFill>
                <a:latin typeface="Georgia" pitchFamily="34" charset="0"/>
                <a:ea typeface="Georgia" pitchFamily="34" charset="-122"/>
                <a:cs typeface="Georgia" pitchFamily="34" charset="-120"/>
              </a:rPr>
              <a:t>on course</a:t>
            </a:r>
            <a:endParaRPr lang="en-US" sz="3450" dirty="0"/>
          </a:p>
        </p:txBody>
      </p:sp>
      <p:sp>
        <p:nvSpPr>
          <p:cNvPr id="23" name="Text 21"/>
          <p:cNvSpPr/>
          <p:nvPr/>
        </p:nvSpPr>
        <p:spPr>
          <a:xfrm>
            <a:off x="12446001" y="5289550"/>
            <a:ext cx="4709160" cy="698500"/>
          </a:xfrm>
          <a:prstGeom prst="rect">
            <a:avLst/>
          </a:prstGeom>
          <a:noFill/>
          <a:ln/>
        </p:spPr>
        <p:txBody>
          <a:bodyPr wrap="square" lIns="25400" tIns="25400" rIns="25400" bIns="25400" rtlCol="0" anchor="t">
            <a:normAutofit/>
          </a:bodyPr>
          <a:lstStyle/>
          <a:p>
            <a:pPr marL="0" indent="0" algn="l">
              <a:lnSpc>
                <a:spcPct val="145000"/>
              </a:lnSpc>
              <a:buNone/>
            </a:pPr>
            <a:r>
              <a:rPr lang="en-US" sz="1800" dirty="0">
                <a:solidFill>
                  <a:srgbClr val="7A8294"/>
                </a:solidFill>
                <a:latin typeface="Arial" pitchFamily="34" charset="0"/>
                <a:ea typeface="Arial" pitchFamily="34" charset="-122"/>
                <a:cs typeface="Arial" pitchFamily="34" charset="-120"/>
              </a:rPr>
              <a:t>Understands the concepts of your project, not only the primitives it can call.</a:t>
            </a:r>
            <a:endParaRPr lang="en-US" sz="1800" dirty="0"/>
          </a:p>
        </p:txBody>
      </p:sp>
      <p:sp>
        <p:nvSpPr>
          <p:cNvPr id="24" name="Shape 22"/>
          <p:cNvSpPr/>
          <p:nvPr/>
        </p:nvSpPr>
        <p:spPr>
          <a:xfrm>
            <a:off x="952500" y="8375650"/>
            <a:ext cx="16383000" cy="12700"/>
          </a:xfrm>
          <a:prstGeom prst="rect">
            <a:avLst/>
          </a:prstGeom>
          <a:solidFill>
            <a:srgbClr val="2A3142"/>
          </a:solidFill>
          <a:ln/>
        </p:spPr>
        <p:txBody>
          <a:bodyPr/>
          <a:p/>
        </p:txBody>
      </p:sp>
      <p:sp>
        <p:nvSpPr>
          <p:cNvPr id="25" name="Text 23"/>
          <p:cNvSpPr/>
          <p:nvPr/>
        </p:nvSpPr>
        <p:spPr>
          <a:xfrm>
            <a:off x="952500" y="8667750"/>
            <a:ext cx="4224141"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7A8294"/>
                </a:solidFill>
                <a:latin typeface="Consolas" pitchFamily="34" charset="0"/>
                <a:ea typeface="Consolas" pitchFamily="34" charset="-122"/>
                <a:cs typeface="Consolas" pitchFamily="34" charset="-120"/>
              </a:rPr>
              <a:t>// SUPPORTED AI ENGINES</a:t>
            </a:r>
            <a:endParaRPr lang="en-US" sz="1800" dirty="0"/>
          </a:p>
        </p:txBody>
      </p:sp>
      <p:sp>
        <p:nvSpPr>
          <p:cNvPr id="26" name="Text 24"/>
          <p:cNvSpPr/>
          <p:nvPr/>
        </p:nvSpPr>
        <p:spPr>
          <a:xfrm>
            <a:off x="12328525" y="8655050"/>
            <a:ext cx="1414066"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B89CFF"/>
                </a:solidFill>
                <a:latin typeface="Consolas" pitchFamily="34" charset="0"/>
                <a:ea typeface="Consolas" pitchFamily="34" charset="-122"/>
                <a:cs typeface="Consolas" pitchFamily="34" charset="-120"/>
              </a:rPr>
              <a:t>copilot</a:t>
            </a:r>
            <a:endParaRPr lang="en-US" sz="1950" dirty="0"/>
          </a:p>
        </p:txBody>
      </p:sp>
      <p:sp>
        <p:nvSpPr>
          <p:cNvPr id="27" name="Text 25"/>
          <p:cNvSpPr/>
          <p:nvPr/>
        </p:nvSpPr>
        <p:spPr>
          <a:xfrm>
            <a:off x="14047391" y="8655050"/>
            <a:ext cx="967780"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C6C4BC"/>
                </a:solidFill>
                <a:latin typeface="Consolas" pitchFamily="34" charset="0"/>
                <a:ea typeface="Consolas" pitchFamily="34" charset="-122"/>
                <a:cs typeface="Consolas" pitchFamily="34" charset="-120"/>
              </a:rPr>
              <a:t>claude</a:t>
            </a:r>
            <a:endParaRPr lang="en-US" sz="1950" dirty="0"/>
          </a:p>
        </p:txBody>
      </p:sp>
      <p:sp>
        <p:nvSpPr>
          <p:cNvPr id="28" name="Text 26"/>
          <p:cNvSpPr/>
          <p:nvPr/>
        </p:nvSpPr>
        <p:spPr>
          <a:xfrm>
            <a:off x="15319971" y="8655050"/>
            <a:ext cx="819150"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C6C4BC"/>
                </a:solidFill>
                <a:latin typeface="Consolas" pitchFamily="34" charset="0"/>
                <a:ea typeface="Consolas" pitchFamily="34" charset="-122"/>
                <a:cs typeface="Consolas" pitchFamily="34" charset="-120"/>
              </a:rPr>
              <a:t>codex</a:t>
            </a:r>
            <a:endParaRPr lang="en-US" sz="1950" dirty="0"/>
          </a:p>
        </p:txBody>
      </p:sp>
      <p:sp>
        <p:nvSpPr>
          <p:cNvPr id="29" name="Text 27"/>
          <p:cNvSpPr/>
          <p:nvPr/>
        </p:nvSpPr>
        <p:spPr>
          <a:xfrm>
            <a:off x="16443921" y="8655050"/>
            <a:ext cx="967780" cy="381000"/>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C6C4BC"/>
                </a:solidFill>
                <a:latin typeface="Consolas" pitchFamily="34" charset="0"/>
                <a:ea typeface="Consolas" pitchFamily="34" charset="-122"/>
                <a:cs typeface="Consolas" pitchFamily="34" charset="-120"/>
              </a:rPr>
              <a:t>pi</a:t>
            </a:r>
            <a:endParaRPr lang="en-US" sz="1950" dirty="0"/>
          </a:p>
        </p:txBody>
      </p:sp>
      <p:sp>
        <p:nvSpPr>
          <p:cNvPr id="30" name="Shape 28"/>
          <p:cNvSpPr/>
          <p:nvPr/>
        </p:nvSpPr>
        <p:spPr>
          <a:xfrm>
            <a:off x="0" y="9779001"/>
            <a:ext cx="18288000" cy="508000"/>
          </a:xfrm>
          <a:prstGeom prst="rect">
            <a:avLst/>
          </a:prstGeom>
          <a:solidFill>
            <a:srgbClr val="11141B"/>
          </a:solidFill>
          <a:ln/>
        </p:spPr>
        <p:txBody>
          <a:bodyPr/>
          <a:p/>
        </p:txBody>
      </p:sp>
      <p:sp>
        <p:nvSpPr>
          <p:cNvPr id="31" name="Shape 29"/>
          <p:cNvSpPr/>
          <p:nvPr/>
        </p:nvSpPr>
        <p:spPr>
          <a:xfrm>
            <a:off x="0" y="9779001"/>
            <a:ext cx="18288000" cy="12700"/>
          </a:xfrm>
          <a:prstGeom prst="rect">
            <a:avLst/>
          </a:prstGeom>
          <a:solidFill>
            <a:srgbClr val="2A3142"/>
          </a:solidFill>
          <a:ln/>
        </p:spPr>
        <p:txBody>
          <a:bodyPr/>
          <a:p/>
        </p:txBody>
      </p:sp>
      <p:sp>
        <p:nvSpPr>
          <p:cNvPr id="32" name="Text 30"/>
          <p:cNvSpPr/>
          <p:nvPr/>
        </p:nvSpPr>
        <p:spPr>
          <a:xfrm>
            <a:off x="304800" y="9880600"/>
            <a:ext cx="2202656"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B89CFF"/>
                </a:solidFill>
                <a:latin typeface="Consolas" pitchFamily="34" charset="0"/>
                <a:ea typeface="Consolas" pitchFamily="34" charset="-122"/>
                <a:cs typeface="Consolas" pitchFamily="34" charset="-120"/>
              </a:rPr>
              <a:t>● capabilities</a:t>
            </a:r>
            <a:endParaRPr lang="en-US" sz="1800" dirty="0"/>
          </a:p>
        </p:txBody>
      </p:sp>
      <p:sp>
        <p:nvSpPr>
          <p:cNvPr id="33" name="Text 31"/>
          <p:cNvSpPr/>
          <p:nvPr/>
        </p:nvSpPr>
        <p:spPr>
          <a:xfrm>
            <a:off x="2736056" y="9880600"/>
            <a:ext cx="3503664"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3 properties · 4 engines</a:t>
            </a:r>
            <a:endParaRPr lang="en-US" sz="1800" dirty="0"/>
          </a:p>
        </p:txBody>
      </p:sp>
      <p:sp>
        <p:nvSpPr>
          <p:cNvPr id="34" name="Text 32"/>
          <p:cNvSpPr/>
          <p:nvPr/>
        </p:nvSpPr>
        <p:spPr>
          <a:xfrm>
            <a:off x="16991013" y="9880600"/>
            <a:ext cx="1068388"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07 / 12</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D12"/>
        </a:solidFill>
        <a:effectLst/>
      </p:bgPr>
    </p:bg>
    <p:spTree>
      <p:nvGrpSpPr>
        <p:cNvPr id="1" name=""/>
        <p:cNvGrpSpPr/>
        <p:nvPr/>
      </p:nvGrpSpPr>
      <p:grpSpPr>
        <a:xfrm>
          <a:off x="0" y="0"/>
          <a:ext cx="0" cy="0"/>
          <a:chOff x="0" y="0"/>
          <a:chExt cx="0" cy="0"/>
        </a:xfrm>
      </p:grpSpPr>
      <p:sp>
        <p:nvSpPr>
          <p:cNvPr id="2" name="Shape 0"/>
          <p:cNvSpPr/>
          <p:nvPr/>
        </p:nvSpPr>
        <p:spPr>
          <a:xfrm>
            <a:off x="0" y="0"/>
            <a:ext cx="18288000" cy="546100"/>
          </a:xfrm>
          <a:prstGeom prst="rect">
            <a:avLst/>
          </a:prstGeom>
          <a:solidFill>
            <a:srgbClr val="11141B"/>
          </a:solidFill>
          <a:ln/>
        </p:spPr>
        <p:txBody>
          <a:bodyPr/>
          <a:p/>
        </p:txBody>
      </p:sp>
      <p:sp>
        <p:nvSpPr>
          <p:cNvPr id="3" name="Shape 1"/>
          <p:cNvSpPr/>
          <p:nvPr/>
        </p:nvSpPr>
        <p:spPr>
          <a:xfrm>
            <a:off x="0" y="533400"/>
            <a:ext cx="18288000" cy="12700"/>
          </a:xfrm>
          <a:prstGeom prst="rect">
            <a:avLst/>
          </a:prstGeom>
          <a:solidFill>
            <a:srgbClr val="2A3142"/>
          </a:solidFill>
          <a:ln/>
        </p:spPr>
        <p:txBody>
          <a:bodyPr/>
          <a:p/>
        </p:txBody>
      </p:sp>
      <p:sp>
        <p:nvSpPr>
          <p:cNvPr id="4" name="Shape 2"/>
          <p:cNvSpPr/>
          <p:nvPr/>
        </p:nvSpPr>
        <p:spPr>
          <a:xfrm>
            <a:off x="304800" y="200025"/>
            <a:ext cx="133350" cy="133350"/>
          </a:xfrm>
          <a:prstGeom prst="ellipse">
            <a:avLst/>
          </a:prstGeom>
          <a:solidFill>
            <a:srgbClr val="B6644A"/>
          </a:solidFill>
          <a:ln/>
        </p:spPr>
        <p:txBody>
          <a:bodyPr/>
          <a:p/>
        </p:txBody>
      </p:sp>
      <p:sp>
        <p:nvSpPr>
          <p:cNvPr id="5" name="Shape 3"/>
          <p:cNvSpPr/>
          <p:nvPr/>
        </p:nvSpPr>
        <p:spPr>
          <a:xfrm>
            <a:off x="533400" y="200025"/>
            <a:ext cx="133350" cy="133350"/>
          </a:xfrm>
          <a:prstGeom prst="ellipse">
            <a:avLst/>
          </a:prstGeom>
          <a:solidFill>
            <a:srgbClr val="B69A4A"/>
          </a:solidFill>
          <a:ln/>
        </p:spPr>
        <p:txBody>
          <a:bodyPr/>
          <a:p/>
        </p:txBody>
      </p:sp>
      <p:sp>
        <p:nvSpPr>
          <p:cNvPr id="6" name="Shape 4"/>
          <p:cNvSpPr/>
          <p:nvPr/>
        </p:nvSpPr>
        <p:spPr>
          <a:xfrm>
            <a:off x="762000" y="200025"/>
            <a:ext cx="133350" cy="133350"/>
          </a:xfrm>
          <a:prstGeom prst="ellipse">
            <a:avLst/>
          </a:prstGeom>
          <a:solidFill>
            <a:srgbClr val="6B9A6A"/>
          </a:solidFill>
          <a:ln/>
        </p:spPr>
        <p:txBody>
          <a:bodyPr/>
          <a:p/>
        </p:txBody>
      </p:sp>
      <p:sp>
        <p:nvSpPr>
          <p:cNvPr id="7" name="Text 5"/>
          <p:cNvSpPr/>
          <p:nvPr/>
        </p:nvSpPr>
        <p:spPr>
          <a:xfrm>
            <a:off x="1066800" y="107950"/>
            <a:ext cx="5120598"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C6C4BC"/>
                </a:solidFill>
                <a:latin typeface="Consolas" pitchFamily="34" charset="0"/>
                <a:ea typeface="Consolas" pitchFamily="34" charset="-122"/>
                <a:cs typeface="Consolas" pitchFamily="34" charset="-120"/>
              </a:rPr>
              <a:t>~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C6C4BC"/>
                </a:solidFill>
                <a:latin typeface="Consolas" pitchFamily="34" charset="0"/>
                <a:ea typeface="Consolas" pitchFamily="34" charset="-122"/>
                <a:cs typeface="Consolas" pitchFamily="34" charset="-120"/>
              </a:rPr>
              <a:t>agentic-workflows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B89CFF"/>
                </a:solidFill>
                <a:latin typeface="Consolas" pitchFamily="34" charset="0"/>
                <a:ea typeface="Consolas" pitchFamily="34" charset="-122"/>
                <a:cs typeface="Consolas" pitchFamily="34" charset="-120"/>
              </a:rPr>
              <a:t>07-security.md</a:t>
            </a:r>
            <a:endParaRPr lang="en-US" sz="1800" dirty="0"/>
          </a:p>
        </p:txBody>
      </p:sp>
      <p:sp>
        <p:nvSpPr>
          <p:cNvPr id="8" name="Text 6"/>
          <p:cNvSpPr/>
          <p:nvPr/>
        </p:nvSpPr>
        <p:spPr>
          <a:xfrm>
            <a:off x="14549438" y="107950"/>
            <a:ext cx="643136"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545B6C"/>
                </a:solidFill>
                <a:latin typeface="Consolas" pitchFamily="34" charset="0"/>
                <a:ea typeface="Consolas" pitchFamily="34" charset="-122"/>
                <a:cs typeface="Consolas" pitchFamily="34" charset="-120"/>
              </a:rPr>
              <a:t>main</a:t>
            </a:r>
            <a:endParaRPr lang="en-US" sz="1800" dirty="0"/>
          </a:p>
        </p:txBody>
      </p:sp>
      <p:sp>
        <p:nvSpPr>
          <p:cNvPr id="9" name="Text 7"/>
          <p:cNvSpPr/>
          <p:nvPr/>
        </p:nvSpPr>
        <p:spPr>
          <a:xfrm>
            <a:off x="15383074" y="107950"/>
            <a:ext cx="2678131"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6DC287"/>
                </a:solidFill>
                <a:latin typeface="Consolas" pitchFamily="34" charset="0"/>
                <a:ea typeface="Consolas" pitchFamily="34" charset="-122"/>
                <a:cs typeface="Consolas" pitchFamily="34" charset="-120"/>
              </a:rPr>
              <a:t>generally available</a:t>
            </a:r>
            <a:endParaRPr lang="en-US" sz="1800" dirty="0"/>
          </a:p>
        </p:txBody>
      </p:sp>
      <p:sp>
        <p:nvSpPr>
          <p:cNvPr id="10" name="Text 8"/>
          <p:cNvSpPr/>
          <p:nvPr/>
        </p:nvSpPr>
        <p:spPr>
          <a:xfrm>
            <a:off x="952500" y="1047750"/>
            <a:ext cx="1687449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B89CFF"/>
                </a:solidFill>
                <a:latin typeface="Consolas" pitchFamily="34" charset="0"/>
                <a:ea typeface="Consolas" pitchFamily="34" charset="-122"/>
                <a:cs typeface="Consolas" pitchFamily="34" charset="-120"/>
              </a:rPr>
              <a:t>## </a:t>
            </a:r>
            <a:r>
              <a:rPr lang="en-US" sz="1800" kern="0" spc="288" dirty="0">
                <a:solidFill>
                  <a:srgbClr val="7A8294"/>
                </a:solidFill>
                <a:latin typeface="Consolas" pitchFamily="34" charset="0"/>
                <a:ea typeface="Consolas" pitchFamily="34" charset="-122"/>
                <a:cs typeface="Consolas" pitchFamily="34" charset="-120"/>
              </a:rPr>
              <a:t>SECURITY ARCHITECTURE</a:t>
            </a:r>
            <a:endParaRPr lang="en-US" sz="1800" dirty="0"/>
          </a:p>
        </p:txBody>
      </p:sp>
      <p:sp>
        <p:nvSpPr>
          <p:cNvPr id="11" name="Text 9"/>
          <p:cNvSpPr/>
          <p:nvPr/>
        </p:nvSpPr>
        <p:spPr>
          <a:xfrm>
            <a:off x="952500" y="1631950"/>
            <a:ext cx="14716125" cy="1612900"/>
          </a:xfrm>
          <a:prstGeom prst="rect">
            <a:avLst/>
          </a:prstGeom>
          <a:noFill/>
          <a:ln/>
        </p:spPr>
        <p:txBody>
          <a:bodyPr wrap="square" lIns="25400" tIns="25400" rIns="25400" bIns="25400" rtlCol="0" anchor="t">
            <a:normAutofit/>
          </a:bodyPr>
          <a:lstStyle/>
          <a:p>
            <a:pPr marL="0" indent="0" algn="l">
              <a:lnSpc>
                <a:spcPct val="105000"/>
              </a:lnSpc>
              <a:buNone/>
            </a:pPr>
            <a:r>
              <a:rPr lang="en-US" sz="5700" kern="0" spc="-142" dirty="0">
                <a:solidFill>
                  <a:srgbClr val="E8E6DF"/>
                </a:solidFill>
                <a:latin typeface="Arial" pitchFamily="34" charset="0"/>
                <a:ea typeface="Arial" pitchFamily="34" charset="-122"/>
                <a:cs typeface="Arial" pitchFamily="34" charset="-120"/>
              </a:rPr>
              <a:t>Three independent layers. </a:t>
            </a:r>
            <a:r>
              <a:rPr lang="en-US" sz="5700" i="1" kern="0" spc="-142" dirty="0">
                <a:solidFill>
                  <a:srgbClr val="B89CFF"/>
                </a:solidFill>
                <a:latin typeface="Georgia" pitchFamily="34" charset="0"/>
                <a:ea typeface="Georgia" pitchFamily="34" charset="-122"/>
                <a:cs typeface="Georgia" pitchFamily="34" charset="-120"/>
              </a:rPr>
              <a:t>Security </a:t>
            </a:r>
            <a:r>
              <a:rPr lang="en-US" sz="5700" kern="0" spc="-142" dirty="0">
                <a:solidFill>
                  <a:srgbClr val="E8E6DF"/>
                </a:solidFill>
                <a:latin typeface="Arial" pitchFamily="34" charset="0"/>
                <a:ea typeface="Arial" pitchFamily="34" charset="-122"/>
                <a:cs typeface="Arial" pitchFamily="34" charset="-120"/>
              </a:rPr>
              <a:t>first, not last.</a:t>
            </a:r>
            <a:endParaRPr lang="en-US" sz="5700" dirty="0"/>
          </a:p>
        </p:txBody>
      </p:sp>
      <p:sp>
        <p:nvSpPr>
          <p:cNvPr id="12" name="Shape 10"/>
          <p:cNvSpPr/>
          <p:nvPr/>
        </p:nvSpPr>
        <p:spPr>
          <a:xfrm>
            <a:off x="952500" y="3702050"/>
            <a:ext cx="5257800" cy="4254500"/>
          </a:xfrm>
          <a:prstGeom prst="roundRect">
            <a:avLst>
              <a:gd name="adj" fmla="val 1791"/>
            </a:avLst>
          </a:prstGeom>
          <a:solidFill>
            <a:srgbClr val="161A23"/>
          </a:solidFill>
          <a:ln w="12700">
            <a:solidFill>
              <a:srgbClr val="2A3142"/>
            </a:solidFill>
            <a:prstDash val="solid"/>
          </a:ln>
        </p:spPr>
        <p:txBody>
          <a:bodyPr/>
          <a:p/>
        </p:txBody>
      </p:sp>
      <p:sp>
        <p:nvSpPr>
          <p:cNvPr id="13" name="Text 11"/>
          <p:cNvSpPr/>
          <p:nvPr/>
        </p:nvSpPr>
        <p:spPr>
          <a:xfrm>
            <a:off x="1270000" y="4019550"/>
            <a:ext cx="1466255"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7A8294"/>
                </a:solidFill>
                <a:latin typeface="Consolas" pitchFamily="34" charset="0"/>
                <a:ea typeface="Consolas" pitchFamily="34" charset="-122"/>
                <a:cs typeface="Consolas" pitchFamily="34" charset="-120"/>
              </a:rPr>
              <a:t>LAYER 01</a:t>
            </a:r>
            <a:endParaRPr lang="en-US" sz="1800" dirty="0"/>
          </a:p>
        </p:txBody>
      </p:sp>
      <p:sp>
        <p:nvSpPr>
          <p:cNvPr id="14" name="Text 12"/>
          <p:cNvSpPr/>
          <p:nvPr/>
        </p:nvSpPr>
        <p:spPr>
          <a:xfrm>
            <a:off x="5197673" y="4019550"/>
            <a:ext cx="771327"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B89CFF"/>
                </a:solidFill>
                <a:latin typeface="Consolas" pitchFamily="34" charset="0"/>
                <a:ea typeface="Consolas" pitchFamily="34" charset="-122"/>
                <a:cs typeface="Consolas" pitchFamily="34" charset="-120"/>
              </a:rPr>
              <a:t>READ</a:t>
            </a:r>
            <a:endParaRPr lang="en-US" sz="1800" dirty="0"/>
          </a:p>
        </p:txBody>
      </p:sp>
      <p:sp>
        <p:nvSpPr>
          <p:cNvPr id="15" name="Text 13"/>
          <p:cNvSpPr/>
          <p:nvPr/>
        </p:nvSpPr>
        <p:spPr>
          <a:xfrm>
            <a:off x="1270000" y="4546600"/>
            <a:ext cx="4761484" cy="571500"/>
          </a:xfrm>
          <a:prstGeom prst="rect">
            <a:avLst/>
          </a:prstGeom>
          <a:noFill/>
          <a:ln/>
        </p:spPr>
        <p:txBody>
          <a:bodyPr wrap="square" lIns="25400" tIns="25400" rIns="25400" bIns="25400" rtlCol="0" anchor="t">
            <a:normAutofit/>
          </a:bodyPr>
          <a:lstStyle/>
          <a:p>
            <a:pPr marL="0" indent="0" algn="l">
              <a:lnSpc>
                <a:spcPct val="140000"/>
              </a:lnSpc>
              <a:buNone/>
            </a:pPr>
            <a:r>
              <a:rPr lang="en-US" sz="3000" kern="0" spc="-15" dirty="0">
                <a:solidFill>
                  <a:srgbClr val="B89CFF"/>
                </a:solidFill>
                <a:latin typeface="Consolas" pitchFamily="34" charset="0"/>
                <a:ea typeface="Consolas" pitchFamily="34" charset="-122"/>
                <a:cs typeface="Consolas" pitchFamily="34" charset="-120"/>
              </a:rPr>
              <a:t>agent</a:t>
            </a:r>
            <a:endParaRPr lang="en-US" sz="3000" dirty="0"/>
          </a:p>
        </p:txBody>
      </p:sp>
      <p:sp>
        <p:nvSpPr>
          <p:cNvPr id="16" name="Text 14"/>
          <p:cNvSpPr/>
          <p:nvPr/>
        </p:nvSpPr>
        <p:spPr>
          <a:xfrm>
            <a:off x="1270000" y="5289550"/>
            <a:ext cx="4761484" cy="698500"/>
          </a:xfrm>
          <a:prstGeom prst="rect">
            <a:avLst/>
          </a:prstGeom>
          <a:noFill/>
          <a:ln/>
        </p:spPr>
        <p:txBody>
          <a:bodyPr wrap="square" lIns="25400" tIns="25400" rIns="25400" bIns="25400" rtlCol="0" anchor="t">
            <a:normAutofit/>
          </a:bodyPr>
          <a:lstStyle/>
          <a:p>
            <a:pPr marL="0" indent="0" algn="l">
              <a:lnSpc>
                <a:spcPct val="145000"/>
              </a:lnSpc>
              <a:buNone/>
            </a:pPr>
            <a:r>
              <a:rPr lang="en-US" sz="1800" dirty="0">
                <a:solidFill>
                  <a:srgbClr val="C6C4BC"/>
                </a:solidFill>
                <a:latin typeface="Arial" pitchFamily="34" charset="0"/>
                <a:ea typeface="Arial" pitchFamily="34" charset="-122"/>
                <a:cs typeface="Arial" pitchFamily="34" charset="-120"/>
              </a:rPr>
              <a:t>Has read-only permissions. Proposes actions — never takes them.</a:t>
            </a:r>
            <a:endParaRPr lang="en-US" sz="1800" dirty="0"/>
          </a:p>
        </p:txBody>
      </p:sp>
      <p:sp>
        <p:nvSpPr>
          <p:cNvPr id="17" name="Shape 15"/>
          <p:cNvSpPr/>
          <p:nvPr/>
        </p:nvSpPr>
        <p:spPr>
          <a:xfrm>
            <a:off x="1270000" y="6388100"/>
            <a:ext cx="4622800" cy="12700"/>
          </a:xfrm>
          <a:prstGeom prst="rect">
            <a:avLst/>
          </a:prstGeom>
          <a:solidFill>
            <a:srgbClr val="2A3142"/>
          </a:solidFill>
          <a:ln/>
        </p:spPr>
        <p:txBody>
          <a:bodyPr/>
          <a:p/>
        </p:txBody>
      </p:sp>
      <p:sp>
        <p:nvSpPr>
          <p:cNvPr id="18" name="Text 16"/>
          <p:cNvSpPr/>
          <p:nvPr/>
        </p:nvSpPr>
        <p:spPr>
          <a:xfrm>
            <a:off x="1270000" y="6572250"/>
            <a:ext cx="4761484"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dirty="0">
                <a:solidFill>
                  <a:srgbClr val="6DC287"/>
                </a:solidFill>
                <a:latin typeface="Consolas" pitchFamily="34" charset="0"/>
                <a:ea typeface="Consolas" pitchFamily="34" charset="-122"/>
                <a:cs typeface="Consolas" pitchFamily="34" charset="-120"/>
              </a:rPr>
              <a:t>+ contents:read</a:t>
            </a:r>
            <a:endParaRPr lang="en-US" sz="1800" dirty="0"/>
          </a:p>
        </p:txBody>
      </p:sp>
      <p:sp>
        <p:nvSpPr>
          <p:cNvPr id="19" name="Text 17"/>
          <p:cNvSpPr/>
          <p:nvPr/>
        </p:nvSpPr>
        <p:spPr>
          <a:xfrm>
            <a:off x="1270000" y="6946900"/>
            <a:ext cx="4761484"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dirty="0">
                <a:solidFill>
                  <a:srgbClr val="6DC287"/>
                </a:solidFill>
                <a:latin typeface="Consolas" pitchFamily="34" charset="0"/>
                <a:ea typeface="Consolas" pitchFamily="34" charset="-122"/>
                <a:cs typeface="Consolas" pitchFamily="34" charset="-120"/>
              </a:rPr>
              <a:t>+ issues:read</a:t>
            </a:r>
            <a:endParaRPr lang="en-US" sz="1800" dirty="0"/>
          </a:p>
        </p:txBody>
      </p:sp>
      <p:sp>
        <p:nvSpPr>
          <p:cNvPr id="20" name="Text 18"/>
          <p:cNvSpPr/>
          <p:nvPr/>
        </p:nvSpPr>
        <p:spPr>
          <a:xfrm>
            <a:off x="1270000" y="7321550"/>
            <a:ext cx="4761484"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dirty="0">
                <a:solidFill>
                  <a:srgbClr val="D97070"/>
                </a:solidFill>
                <a:latin typeface="Consolas" pitchFamily="34" charset="0"/>
                <a:ea typeface="Consolas" pitchFamily="34" charset="-122"/>
                <a:cs typeface="Consolas" pitchFamily="34" charset="-120"/>
              </a:rPr>
              <a:t>− write: ✗</a:t>
            </a:r>
            <a:endParaRPr lang="en-US" sz="1800" dirty="0"/>
          </a:p>
        </p:txBody>
      </p:sp>
      <p:sp>
        <p:nvSpPr>
          <p:cNvPr id="21" name="Shape 19"/>
          <p:cNvSpPr/>
          <p:nvPr/>
        </p:nvSpPr>
        <p:spPr>
          <a:xfrm>
            <a:off x="6515100" y="3702050"/>
            <a:ext cx="5257800" cy="4254500"/>
          </a:xfrm>
          <a:prstGeom prst="roundRect">
            <a:avLst>
              <a:gd name="adj" fmla="val 1791"/>
            </a:avLst>
          </a:prstGeom>
          <a:solidFill>
            <a:srgbClr val="161A23"/>
          </a:solidFill>
          <a:ln w="12700">
            <a:solidFill>
              <a:srgbClr val="2A3142"/>
            </a:solidFill>
            <a:prstDash val="solid"/>
          </a:ln>
        </p:spPr>
        <p:txBody>
          <a:bodyPr/>
          <a:p/>
        </p:txBody>
      </p:sp>
      <p:sp>
        <p:nvSpPr>
          <p:cNvPr id="22" name="Text 20"/>
          <p:cNvSpPr/>
          <p:nvPr/>
        </p:nvSpPr>
        <p:spPr>
          <a:xfrm>
            <a:off x="6832600" y="4019550"/>
            <a:ext cx="1466255"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7A8294"/>
                </a:solidFill>
                <a:latin typeface="Consolas" pitchFamily="34" charset="0"/>
                <a:ea typeface="Consolas" pitchFamily="34" charset="-122"/>
                <a:cs typeface="Consolas" pitchFamily="34" charset="-120"/>
              </a:rPr>
              <a:t>LAYER 02</a:t>
            </a:r>
            <a:endParaRPr lang="en-US" sz="1800" dirty="0"/>
          </a:p>
        </p:txBody>
      </p:sp>
      <p:sp>
        <p:nvSpPr>
          <p:cNvPr id="23" name="Text 21"/>
          <p:cNvSpPr/>
          <p:nvPr/>
        </p:nvSpPr>
        <p:spPr>
          <a:xfrm>
            <a:off x="10239177" y="4019550"/>
            <a:ext cx="1292423"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B89CFF"/>
                </a:solidFill>
                <a:latin typeface="Consolas" pitchFamily="34" charset="0"/>
                <a:ea typeface="Consolas" pitchFamily="34" charset="-122"/>
                <a:cs typeface="Consolas" pitchFamily="34" charset="-120"/>
              </a:rPr>
              <a:t>INSPECT</a:t>
            </a:r>
            <a:endParaRPr lang="en-US" sz="1800" dirty="0"/>
          </a:p>
        </p:txBody>
      </p:sp>
      <p:sp>
        <p:nvSpPr>
          <p:cNvPr id="24" name="Text 22"/>
          <p:cNvSpPr/>
          <p:nvPr/>
        </p:nvSpPr>
        <p:spPr>
          <a:xfrm>
            <a:off x="6832600" y="4546600"/>
            <a:ext cx="4761484" cy="571500"/>
          </a:xfrm>
          <a:prstGeom prst="rect">
            <a:avLst/>
          </a:prstGeom>
          <a:noFill/>
          <a:ln/>
        </p:spPr>
        <p:txBody>
          <a:bodyPr wrap="square" lIns="25400" tIns="25400" rIns="25400" bIns="25400" rtlCol="0" anchor="t">
            <a:normAutofit/>
          </a:bodyPr>
          <a:lstStyle/>
          <a:p>
            <a:pPr marL="0" indent="0" algn="l">
              <a:lnSpc>
                <a:spcPct val="140000"/>
              </a:lnSpc>
              <a:buNone/>
            </a:pPr>
            <a:r>
              <a:rPr lang="en-US" sz="3000" kern="0" spc="-15" dirty="0">
                <a:solidFill>
                  <a:srgbClr val="B89CFF"/>
                </a:solidFill>
                <a:latin typeface="Consolas" pitchFamily="34" charset="0"/>
                <a:ea typeface="Consolas" pitchFamily="34" charset="-122"/>
                <a:cs typeface="Consolas" pitchFamily="34" charset="-120"/>
              </a:rPr>
              <a:t>detection</a:t>
            </a:r>
            <a:endParaRPr lang="en-US" sz="3000" dirty="0"/>
          </a:p>
        </p:txBody>
      </p:sp>
      <p:sp>
        <p:nvSpPr>
          <p:cNvPr id="25" name="Text 23"/>
          <p:cNvSpPr/>
          <p:nvPr/>
        </p:nvSpPr>
        <p:spPr>
          <a:xfrm>
            <a:off x="6832600" y="5289550"/>
            <a:ext cx="4761484" cy="698500"/>
          </a:xfrm>
          <a:prstGeom prst="rect">
            <a:avLst/>
          </a:prstGeom>
          <a:noFill/>
          <a:ln/>
        </p:spPr>
        <p:txBody>
          <a:bodyPr wrap="square" lIns="25400" tIns="25400" rIns="25400" bIns="25400" rtlCol="0" anchor="t">
            <a:normAutofit/>
          </a:bodyPr>
          <a:lstStyle/>
          <a:p>
            <a:pPr marL="0" indent="0" algn="l">
              <a:lnSpc>
                <a:spcPct val="145000"/>
              </a:lnSpc>
              <a:buNone/>
            </a:pPr>
            <a:r>
              <a:rPr lang="en-US" sz="1800" dirty="0">
                <a:solidFill>
                  <a:srgbClr val="C6C4BC"/>
                </a:solidFill>
                <a:latin typeface="Arial" pitchFamily="34" charset="0"/>
                <a:ea typeface="Arial" pitchFamily="34" charset="-122"/>
                <a:cs typeface="Arial" pitchFamily="34" charset="-120"/>
              </a:rPr>
              <a:t>Threat detection scans agent output for prompt injection and security issues.</a:t>
            </a:r>
            <a:endParaRPr lang="en-US" sz="1800" dirty="0"/>
          </a:p>
        </p:txBody>
      </p:sp>
      <p:sp>
        <p:nvSpPr>
          <p:cNvPr id="26" name="Shape 24"/>
          <p:cNvSpPr/>
          <p:nvPr/>
        </p:nvSpPr>
        <p:spPr>
          <a:xfrm>
            <a:off x="6832600" y="6388100"/>
            <a:ext cx="4622800" cy="12700"/>
          </a:xfrm>
          <a:prstGeom prst="rect">
            <a:avLst/>
          </a:prstGeom>
          <a:solidFill>
            <a:srgbClr val="2A3142"/>
          </a:solidFill>
          <a:ln/>
        </p:spPr>
        <p:txBody>
          <a:bodyPr/>
          <a:p/>
        </p:txBody>
      </p:sp>
      <p:sp>
        <p:nvSpPr>
          <p:cNvPr id="27" name="Text 25"/>
          <p:cNvSpPr/>
          <p:nvPr/>
        </p:nvSpPr>
        <p:spPr>
          <a:xfrm>
            <a:off x="6832600" y="6572250"/>
            <a:ext cx="4761484"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dirty="0">
                <a:solidFill>
                  <a:srgbClr val="7A8294"/>
                </a:solidFill>
                <a:latin typeface="Consolas" pitchFamily="34" charset="0"/>
                <a:ea typeface="Consolas" pitchFamily="34" charset="-122"/>
                <a:cs typeface="Consolas" pitchFamily="34" charset="-120"/>
              </a:rPr>
              <a:t>→ scan(prompt-injection)</a:t>
            </a:r>
            <a:endParaRPr lang="en-US" sz="1800" dirty="0"/>
          </a:p>
        </p:txBody>
      </p:sp>
      <p:sp>
        <p:nvSpPr>
          <p:cNvPr id="28" name="Text 26"/>
          <p:cNvSpPr/>
          <p:nvPr/>
        </p:nvSpPr>
        <p:spPr>
          <a:xfrm>
            <a:off x="6832600" y="6946900"/>
            <a:ext cx="4761484"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dirty="0">
                <a:solidFill>
                  <a:srgbClr val="7A8294"/>
                </a:solidFill>
                <a:latin typeface="Consolas" pitchFamily="34" charset="0"/>
                <a:ea typeface="Consolas" pitchFamily="34" charset="-122"/>
                <a:cs typeface="Consolas" pitchFamily="34" charset="-120"/>
              </a:rPr>
              <a:t>→ scan(secrets)</a:t>
            </a:r>
            <a:endParaRPr lang="en-US" sz="1800" dirty="0"/>
          </a:p>
        </p:txBody>
      </p:sp>
      <p:sp>
        <p:nvSpPr>
          <p:cNvPr id="29" name="Text 27"/>
          <p:cNvSpPr/>
          <p:nvPr/>
        </p:nvSpPr>
        <p:spPr>
          <a:xfrm>
            <a:off x="6832600" y="7321550"/>
            <a:ext cx="4761484"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dirty="0">
                <a:solidFill>
                  <a:srgbClr val="D97070"/>
                </a:solidFill>
                <a:latin typeface="Consolas" pitchFamily="34" charset="0"/>
                <a:ea typeface="Consolas" pitchFamily="34" charset="-122"/>
                <a:cs typeface="Consolas" pitchFamily="34" charset="-120"/>
              </a:rPr>
              <a:t>− block on match</a:t>
            </a:r>
            <a:endParaRPr lang="en-US" sz="1800" dirty="0"/>
          </a:p>
        </p:txBody>
      </p:sp>
      <p:sp>
        <p:nvSpPr>
          <p:cNvPr id="30" name="Shape 28"/>
          <p:cNvSpPr/>
          <p:nvPr/>
        </p:nvSpPr>
        <p:spPr>
          <a:xfrm>
            <a:off x="12077700" y="3702050"/>
            <a:ext cx="5257800" cy="4254500"/>
          </a:xfrm>
          <a:prstGeom prst="roundRect">
            <a:avLst>
              <a:gd name="adj" fmla="val 1791"/>
            </a:avLst>
          </a:prstGeom>
          <a:solidFill>
            <a:srgbClr val="161A23"/>
          </a:solidFill>
          <a:ln w="12700">
            <a:solidFill>
              <a:srgbClr val="2A3142"/>
            </a:solidFill>
            <a:prstDash val="solid"/>
          </a:ln>
        </p:spPr>
        <p:txBody>
          <a:bodyPr/>
          <a:p/>
        </p:txBody>
      </p:sp>
      <p:sp>
        <p:nvSpPr>
          <p:cNvPr id="31" name="Text 29"/>
          <p:cNvSpPr/>
          <p:nvPr/>
        </p:nvSpPr>
        <p:spPr>
          <a:xfrm>
            <a:off x="12395200" y="4019550"/>
            <a:ext cx="1466255"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7A8294"/>
                </a:solidFill>
                <a:latin typeface="Consolas" pitchFamily="34" charset="0"/>
                <a:ea typeface="Consolas" pitchFamily="34" charset="-122"/>
                <a:cs typeface="Consolas" pitchFamily="34" charset="-120"/>
              </a:rPr>
              <a:t>LAYER 03</a:t>
            </a:r>
            <a:endParaRPr lang="en-US" sz="1800" dirty="0"/>
          </a:p>
        </p:txBody>
      </p:sp>
      <p:sp>
        <p:nvSpPr>
          <p:cNvPr id="32" name="Text 30"/>
          <p:cNvSpPr/>
          <p:nvPr/>
        </p:nvSpPr>
        <p:spPr>
          <a:xfrm>
            <a:off x="15801777" y="4019550"/>
            <a:ext cx="1292423"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B89CFF"/>
                </a:solidFill>
                <a:latin typeface="Consolas" pitchFamily="34" charset="0"/>
                <a:ea typeface="Consolas" pitchFamily="34" charset="-122"/>
                <a:cs typeface="Consolas" pitchFamily="34" charset="-120"/>
              </a:rPr>
              <a:t>ISOLATE</a:t>
            </a:r>
            <a:endParaRPr lang="en-US" sz="1800" dirty="0"/>
          </a:p>
        </p:txBody>
      </p:sp>
      <p:sp>
        <p:nvSpPr>
          <p:cNvPr id="33" name="Text 31"/>
          <p:cNvSpPr/>
          <p:nvPr/>
        </p:nvSpPr>
        <p:spPr>
          <a:xfrm>
            <a:off x="12395200" y="4546600"/>
            <a:ext cx="4761484" cy="571500"/>
          </a:xfrm>
          <a:prstGeom prst="rect">
            <a:avLst/>
          </a:prstGeom>
          <a:noFill/>
          <a:ln/>
        </p:spPr>
        <p:txBody>
          <a:bodyPr wrap="square" lIns="25400" tIns="25400" rIns="25400" bIns="25400" rtlCol="0" anchor="t">
            <a:normAutofit/>
          </a:bodyPr>
          <a:lstStyle/>
          <a:p>
            <a:pPr marL="0" indent="0" algn="l">
              <a:lnSpc>
                <a:spcPct val="140000"/>
              </a:lnSpc>
              <a:buNone/>
            </a:pPr>
            <a:r>
              <a:rPr lang="en-US" sz="3000" kern="0" spc="-15" dirty="0">
                <a:solidFill>
                  <a:srgbClr val="B89CFF"/>
                </a:solidFill>
                <a:latin typeface="Consolas" pitchFamily="34" charset="0"/>
                <a:ea typeface="Consolas" pitchFamily="34" charset="-122"/>
                <a:cs typeface="Consolas" pitchFamily="34" charset="-120"/>
              </a:rPr>
              <a:t>safe-outputs</a:t>
            </a:r>
            <a:endParaRPr lang="en-US" sz="3000" dirty="0"/>
          </a:p>
        </p:txBody>
      </p:sp>
      <p:sp>
        <p:nvSpPr>
          <p:cNvPr id="34" name="Text 32"/>
          <p:cNvSpPr/>
          <p:nvPr/>
        </p:nvSpPr>
        <p:spPr>
          <a:xfrm>
            <a:off x="12395200" y="5289550"/>
            <a:ext cx="4761484" cy="698500"/>
          </a:xfrm>
          <a:prstGeom prst="rect">
            <a:avLst/>
          </a:prstGeom>
          <a:noFill/>
          <a:ln/>
        </p:spPr>
        <p:txBody>
          <a:bodyPr wrap="square" lIns="25400" tIns="25400" rIns="25400" bIns="25400" rtlCol="0" anchor="t">
            <a:normAutofit/>
          </a:bodyPr>
          <a:lstStyle/>
          <a:p>
            <a:pPr marL="0" indent="0" algn="l">
              <a:lnSpc>
                <a:spcPct val="145000"/>
              </a:lnSpc>
              <a:buNone/>
            </a:pPr>
            <a:r>
              <a:rPr lang="en-US" sz="1800" dirty="0">
                <a:solidFill>
                  <a:srgbClr val="C6C4BC"/>
                </a:solidFill>
                <a:latin typeface="Arial" pitchFamily="34" charset="0"/>
                <a:ea typeface="Arial" pitchFamily="34" charset="-122"/>
                <a:cs typeface="Arial" pitchFamily="34" charset="-120"/>
              </a:rPr>
              <a:t>Proposed actions execute inside isolated containers with their own permissions.</a:t>
            </a:r>
            <a:endParaRPr lang="en-US" sz="1800" dirty="0"/>
          </a:p>
        </p:txBody>
      </p:sp>
      <p:sp>
        <p:nvSpPr>
          <p:cNvPr id="35" name="Shape 33"/>
          <p:cNvSpPr/>
          <p:nvPr/>
        </p:nvSpPr>
        <p:spPr>
          <a:xfrm>
            <a:off x="12395200" y="6388100"/>
            <a:ext cx="4622800" cy="12700"/>
          </a:xfrm>
          <a:prstGeom prst="rect">
            <a:avLst/>
          </a:prstGeom>
          <a:solidFill>
            <a:srgbClr val="2A3142"/>
          </a:solidFill>
          <a:ln/>
        </p:spPr>
        <p:txBody>
          <a:bodyPr/>
          <a:p/>
        </p:txBody>
      </p:sp>
      <p:sp>
        <p:nvSpPr>
          <p:cNvPr id="36" name="Text 34"/>
          <p:cNvSpPr/>
          <p:nvPr/>
        </p:nvSpPr>
        <p:spPr>
          <a:xfrm>
            <a:off x="12395200" y="6572250"/>
            <a:ext cx="4761484"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dirty="0">
                <a:solidFill>
                  <a:srgbClr val="7A8294"/>
                </a:solidFill>
                <a:latin typeface="Consolas" pitchFamily="34" charset="0"/>
                <a:ea typeface="Consolas" pitchFamily="34" charset="-122"/>
                <a:cs typeface="Consolas" pitchFamily="34" charset="-120"/>
              </a:rPr>
              <a:t>▣ sandboxed</a:t>
            </a:r>
            <a:endParaRPr lang="en-US" sz="1800" dirty="0"/>
          </a:p>
        </p:txBody>
      </p:sp>
      <p:sp>
        <p:nvSpPr>
          <p:cNvPr id="37" name="Text 35"/>
          <p:cNvSpPr/>
          <p:nvPr/>
        </p:nvSpPr>
        <p:spPr>
          <a:xfrm>
            <a:off x="12395200" y="6946900"/>
            <a:ext cx="4761484"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dirty="0">
                <a:solidFill>
                  <a:srgbClr val="7A8294"/>
                </a:solidFill>
                <a:latin typeface="Consolas" pitchFamily="34" charset="0"/>
                <a:ea typeface="Consolas" pitchFamily="34" charset="-122"/>
                <a:cs typeface="Consolas" pitchFamily="34" charset="-120"/>
              </a:rPr>
              <a:t>▣ explicit grants</a:t>
            </a:r>
            <a:endParaRPr lang="en-US" sz="1800" dirty="0"/>
          </a:p>
        </p:txBody>
      </p:sp>
      <p:sp>
        <p:nvSpPr>
          <p:cNvPr id="38" name="Text 36"/>
          <p:cNvSpPr/>
          <p:nvPr/>
        </p:nvSpPr>
        <p:spPr>
          <a:xfrm>
            <a:off x="12395200" y="7321550"/>
            <a:ext cx="4761484"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dirty="0">
                <a:solidFill>
                  <a:srgbClr val="6DC287"/>
                </a:solidFill>
                <a:latin typeface="Consolas" pitchFamily="34" charset="0"/>
                <a:ea typeface="Consolas" pitchFamily="34" charset="-122"/>
                <a:cs typeface="Consolas" pitchFamily="34" charset="-120"/>
              </a:rPr>
              <a:t>+ audit log</a:t>
            </a:r>
            <a:endParaRPr lang="en-US" sz="1800" dirty="0"/>
          </a:p>
        </p:txBody>
      </p:sp>
      <p:sp>
        <p:nvSpPr>
          <p:cNvPr id="39" name="Text 37"/>
          <p:cNvSpPr/>
          <p:nvPr/>
        </p:nvSpPr>
        <p:spPr>
          <a:xfrm>
            <a:off x="952500" y="8299450"/>
            <a:ext cx="1687449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7A8294"/>
                </a:solidFill>
                <a:latin typeface="Consolas" pitchFamily="34" charset="0"/>
                <a:ea typeface="Consolas" pitchFamily="34" charset="-122"/>
                <a:cs typeface="Consolas" pitchFamily="34" charset="-120"/>
              </a:rPr>
              <a:t>→ Read the full Security Architecture documentation.</a:t>
            </a:r>
            <a:endParaRPr lang="en-US" sz="1800" dirty="0"/>
          </a:p>
        </p:txBody>
      </p:sp>
      <p:sp>
        <p:nvSpPr>
          <p:cNvPr id="40" name="Shape 38"/>
          <p:cNvSpPr/>
          <p:nvPr/>
        </p:nvSpPr>
        <p:spPr>
          <a:xfrm>
            <a:off x="0" y="9779001"/>
            <a:ext cx="18288000" cy="508000"/>
          </a:xfrm>
          <a:prstGeom prst="rect">
            <a:avLst/>
          </a:prstGeom>
          <a:solidFill>
            <a:srgbClr val="11141B"/>
          </a:solidFill>
          <a:ln/>
        </p:spPr>
        <p:txBody>
          <a:bodyPr/>
          <a:p/>
        </p:txBody>
      </p:sp>
      <p:sp>
        <p:nvSpPr>
          <p:cNvPr id="41" name="Shape 39"/>
          <p:cNvSpPr/>
          <p:nvPr/>
        </p:nvSpPr>
        <p:spPr>
          <a:xfrm>
            <a:off x="0" y="9779001"/>
            <a:ext cx="18288000" cy="12700"/>
          </a:xfrm>
          <a:prstGeom prst="rect">
            <a:avLst/>
          </a:prstGeom>
          <a:solidFill>
            <a:srgbClr val="2A3142"/>
          </a:solidFill>
          <a:ln/>
        </p:spPr>
        <p:txBody>
          <a:bodyPr/>
          <a:p/>
        </p:txBody>
      </p:sp>
      <p:sp>
        <p:nvSpPr>
          <p:cNvPr id="42" name="Text 40"/>
          <p:cNvSpPr/>
          <p:nvPr/>
        </p:nvSpPr>
        <p:spPr>
          <a:xfrm>
            <a:off x="304800" y="9880600"/>
            <a:ext cx="1635919"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B89CFF"/>
                </a:solidFill>
                <a:latin typeface="Consolas" pitchFamily="34" charset="0"/>
                <a:ea typeface="Consolas" pitchFamily="34" charset="-122"/>
                <a:cs typeface="Consolas" pitchFamily="34" charset="-120"/>
              </a:rPr>
              <a:t>● security</a:t>
            </a:r>
            <a:endParaRPr lang="en-US" sz="1800" dirty="0"/>
          </a:p>
        </p:txBody>
      </p:sp>
      <p:sp>
        <p:nvSpPr>
          <p:cNvPr id="43" name="Text 41"/>
          <p:cNvSpPr/>
          <p:nvPr/>
        </p:nvSpPr>
        <p:spPr>
          <a:xfrm>
            <a:off x="2169319" y="9880600"/>
            <a:ext cx="3211794"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3 layers · independent</a:t>
            </a:r>
            <a:endParaRPr lang="en-US" sz="1800" dirty="0"/>
          </a:p>
        </p:txBody>
      </p:sp>
      <p:sp>
        <p:nvSpPr>
          <p:cNvPr id="44" name="Text 42"/>
          <p:cNvSpPr/>
          <p:nvPr/>
        </p:nvSpPr>
        <p:spPr>
          <a:xfrm>
            <a:off x="16991013" y="9880600"/>
            <a:ext cx="1068388"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08 / 12</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D12"/>
        </a:solidFill>
        <a:effectLst/>
      </p:bgPr>
    </p:bg>
    <p:spTree>
      <p:nvGrpSpPr>
        <p:cNvPr id="1" name=""/>
        <p:cNvGrpSpPr/>
        <p:nvPr/>
      </p:nvGrpSpPr>
      <p:grpSpPr>
        <a:xfrm>
          <a:off x="0" y="0"/>
          <a:ext cx="0" cy="0"/>
          <a:chOff x="0" y="0"/>
          <a:chExt cx="0" cy="0"/>
        </a:xfrm>
      </p:grpSpPr>
      <p:sp>
        <p:nvSpPr>
          <p:cNvPr id="2" name="Shape 0"/>
          <p:cNvSpPr/>
          <p:nvPr/>
        </p:nvSpPr>
        <p:spPr>
          <a:xfrm>
            <a:off x="0" y="0"/>
            <a:ext cx="18288000" cy="546100"/>
          </a:xfrm>
          <a:prstGeom prst="rect">
            <a:avLst/>
          </a:prstGeom>
          <a:solidFill>
            <a:srgbClr val="11141B"/>
          </a:solidFill>
          <a:ln/>
        </p:spPr>
        <p:txBody>
          <a:bodyPr/>
          <a:p/>
        </p:txBody>
      </p:sp>
      <p:sp>
        <p:nvSpPr>
          <p:cNvPr id="3" name="Shape 1"/>
          <p:cNvSpPr/>
          <p:nvPr/>
        </p:nvSpPr>
        <p:spPr>
          <a:xfrm>
            <a:off x="0" y="533400"/>
            <a:ext cx="18288000" cy="12700"/>
          </a:xfrm>
          <a:prstGeom prst="rect">
            <a:avLst/>
          </a:prstGeom>
          <a:solidFill>
            <a:srgbClr val="2A3142"/>
          </a:solidFill>
          <a:ln/>
        </p:spPr>
        <p:txBody>
          <a:bodyPr/>
          <a:p/>
        </p:txBody>
      </p:sp>
      <p:sp>
        <p:nvSpPr>
          <p:cNvPr id="4" name="Shape 2"/>
          <p:cNvSpPr/>
          <p:nvPr/>
        </p:nvSpPr>
        <p:spPr>
          <a:xfrm>
            <a:off x="304800" y="200025"/>
            <a:ext cx="133350" cy="133350"/>
          </a:xfrm>
          <a:prstGeom prst="ellipse">
            <a:avLst/>
          </a:prstGeom>
          <a:solidFill>
            <a:srgbClr val="B6644A"/>
          </a:solidFill>
          <a:ln/>
        </p:spPr>
        <p:txBody>
          <a:bodyPr/>
          <a:p/>
        </p:txBody>
      </p:sp>
      <p:sp>
        <p:nvSpPr>
          <p:cNvPr id="5" name="Shape 3"/>
          <p:cNvSpPr/>
          <p:nvPr/>
        </p:nvSpPr>
        <p:spPr>
          <a:xfrm>
            <a:off x="533400" y="200025"/>
            <a:ext cx="133350" cy="133350"/>
          </a:xfrm>
          <a:prstGeom prst="ellipse">
            <a:avLst/>
          </a:prstGeom>
          <a:solidFill>
            <a:srgbClr val="B69A4A"/>
          </a:solidFill>
          <a:ln/>
        </p:spPr>
        <p:txBody>
          <a:bodyPr/>
          <a:p/>
        </p:txBody>
      </p:sp>
      <p:sp>
        <p:nvSpPr>
          <p:cNvPr id="6" name="Shape 4"/>
          <p:cNvSpPr/>
          <p:nvPr/>
        </p:nvSpPr>
        <p:spPr>
          <a:xfrm>
            <a:off x="762000" y="200025"/>
            <a:ext cx="133350" cy="133350"/>
          </a:xfrm>
          <a:prstGeom prst="ellipse">
            <a:avLst/>
          </a:prstGeom>
          <a:solidFill>
            <a:srgbClr val="6B9A6A"/>
          </a:solidFill>
          <a:ln/>
        </p:spPr>
        <p:txBody>
          <a:bodyPr/>
          <a:p/>
        </p:txBody>
      </p:sp>
      <p:sp>
        <p:nvSpPr>
          <p:cNvPr id="7" name="Text 5"/>
          <p:cNvSpPr/>
          <p:nvPr/>
        </p:nvSpPr>
        <p:spPr>
          <a:xfrm>
            <a:off x="1066800" y="107950"/>
            <a:ext cx="5120598"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C6C4BC"/>
                </a:solidFill>
                <a:latin typeface="Consolas" pitchFamily="34" charset="0"/>
                <a:ea typeface="Consolas" pitchFamily="34" charset="-122"/>
                <a:cs typeface="Consolas" pitchFamily="34" charset="-120"/>
              </a:rPr>
              <a:t>~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C6C4BC"/>
                </a:solidFill>
                <a:latin typeface="Consolas" pitchFamily="34" charset="0"/>
                <a:ea typeface="Consolas" pitchFamily="34" charset="-122"/>
                <a:cs typeface="Consolas" pitchFamily="34" charset="-120"/>
              </a:rPr>
              <a:t>agentic-workflows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B89CFF"/>
                </a:solidFill>
                <a:latin typeface="Consolas" pitchFamily="34" charset="0"/>
                <a:ea typeface="Consolas" pitchFamily="34" charset="-122"/>
                <a:cs typeface="Consolas" pitchFamily="34" charset="-120"/>
              </a:rPr>
              <a:t>08-patterns.md</a:t>
            </a:r>
            <a:endParaRPr lang="en-US" sz="1800" dirty="0"/>
          </a:p>
        </p:txBody>
      </p:sp>
      <p:sp>
        <p:nvSpPr>
          <p:cNvPr id="8" name="Text 6"/>
          <p:cNvSpPr/>
          <p:nvPr/>
        </p:nvSpPr>
        <p:spPr>
          <a:xfrm>
            <a:off x="14549438" y="107950"/>
            <a:ext cx="643136"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545B6C"/>
                </a:solidFill>
                <a:latin typeface="Consolas" pitchFamily="34" charset="0"/>
                <a:ea typeface="Consolas" pitchFamily="34" charset="-122"/>
                <a:cs typeface="Consolas" pitchFamily="34" charset="-120"/>
              </a:rPr>
              <a:t>main</a:t>
            </a:r>
            <a:endParaRPr lang="en-US" sz="1800" dirty="0"/>
          </a:p>
        </p:txBody>
      </p:sp>
      <p:sp>
        <p:nvSpPr>
          <p:cNvPr id="9" name="Text 7"/>
          <p:cNvSpPr/>
          <p:nvPr/>
        </p:nvSpPr>
        <p:spPr>
          <a:xfrm>
            <a:off x="15383074" y="107950"/>
            <a:ext cx="2678131"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6DC287"/>
                </a:solidFill>
                <a:latin typeface="Consolas" pitchFamily="34" charset="0"/>
                <a:ea typeface="Consolas" pitchFamily="34" charset="-122"/>
                <a:cs typeface="Consolas" pitchFamily="34" charset="-120"/>
              </a:rPr>
              <a:t>generally available</a:t>
            </a:r>
            <a:endParaRPr lang="en-US" sz="1800" dirty="0"/>
          </a:p>
        </p:txBody>
      </p:sp>
      <p:sp>
        <p:nvSpPr>
          <p:cNvPr id="10" name="Text 8"/>
          <p:cNvSpPr/>
          <p:nvPr/>
        </p:nvSpPr>
        <p:spPr>
          <a:xfrm>
            <a:off x="952500" y="1047750"/>
            <a:ext cx="1687449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B89CFF"/>
                </a:solidFill>
                <a:latin typeface="Consolas" pitchFamily="34" charset="0"/>
                <a:ea typeface="Consolas" pitchFamily="34" charset="-122"/>
                <a:cs typeface="Consolas" pitchFamily="34" charset="-120"/>
              </a:rPr>
              <a:t>## </a:t>
            </a:r>
            <a:r>
              <a:rPr lang="en-US" sz="1800" kern="0" spc="288" dirty="0">
                <a:solidFill>
                  <a:srgbClr val="7A8294"/>
                </a:solidFill>
                <a:latin typeface="Consolas" pitchFamily="34" charset="0"/>
                <a:ea typeface="Consolas" pitchFamily="34" charset="-122"/>
                <a:cs typeface="Consolas" pitchFamily="34" charset="-120"/>
              </a:rPr>
              <a:t>CONTINUOUS AI</a:t>
            </a:r>
            <a:endParaRPr lang="en-US" sz="1800" dirty="0"/>
          </a:p>
        </p:txBody>
      </p:sp>
      <p:sp>
        <p:nvSpPr>
          <p:cNvPr id="11" name="Text 9"/>
          <p:cNvSpPr/>
          <p:nvPr/>
        </p:nvSpPr>
        <p:spPr>
          <a:xfrm>
            <a:off x="952500" y="1631950"/>
            <a:ext cx="14716125" cy="1612900"/>
          </a:xfrm>
          <a:prstGeom prst="rect">
            <a:avLst/>
          </a:prstGeom>
          <a:noFill/>
          <a:ln/>
        </p:spPr>
        <p:txBody>
          <a:bodyPr wrap="square" lIns="25400" tIns="25400" rIns="25400" bIns="25400" rtlCol="0" anchor="t">
            <a:normAutofit/>
          </a:bodyPr>
          <a:lstStyle/>
          <a:p>
            <a:pPr marL="0" indent="0" algn="l">
              <a:lnSpc>
                <a:spcPct val="105000"/>
              </a:lnSpc>
              <a:buNone/>
            </a:pPr>
            <a:r>
              <a:rPr lang="en-US" sz="5700" kern="0" spc="-142" dirty="0">
                <a:solidFill>
                  <a:srgbClr val="E8E6DF"/>
                </a:solidFill>
                <a:latin typeface="Arial" pitchFamily="34" charset="0"/>
                <a:ea typeface="Arial" pitchFamily="34" charset="-122"/>
                <a:cs typeface="Arial" pitchFamily="34" charset="-120"/>
              </a:rPr>
              <a:t>Building blocks for an </a:t>
            </a:r>
            <a:r>
              <a:rPr lang="en-US" sz="5700" i="1" kern="0" spc="-142" dirty="0">
                <a:solidFill>
                  <a:srgbClr val="B89CFF"/>
                </a:solidFill>
                <a:latin typeface="Georgia" pitchFamily="34" charset="0"/>
                <a:ea typeface="Georgia" pitchFamily="34" charset="-122"/>
                <a:cs typeface="Georgia" pitchFamily="34" charset="-120"/>
              </a:rPr>
              <a:t>always-on </a:t>
            </a:r>
            <a:r>
              <a:rPr lang="en-US" sz="5700" kern="0" spc="-142" dirty="0">
                <a:solidFill>
                  <a:srgbClr val="E8E6DF"/>
                </a:solidFill>
                <a:latin typeface="Arial" pitchFamily="34" charset="0"/>
                <a:ea typeface="Arial" pitchFamily="34" charset="-122"/>
                <a:cs typeface="Arial" pitchFamily="34" charset="-120"/>
              </a:rPr>
              <a:t>engineering loop.</a:t>
            </a:r>
            <a:endParaRPr lang="en-US" sz="5700" dirty="0"/>
          </a:p>
        </p:txBody>
      </p:sp>
      <p:sp>
        <p:nvSpPr>
          <p:cNvPr id="12" name="Shape 10"/>
          <p:cNvSpPr/>
          <p:nvPr/>
        </p:nvSpPr>
        <p:spPr>
          <a:xfrm>
            <a:off x="952500" y="3702050"/>
            <a:ext cx="8058150" cy="2571750"/>
          </a:xfrm>
          <a:prstGeom prst="roundRect">
            <a:avLst>
              <a:gd name="adj" fmla="val 2963"/>
            </a:avLst>
          </a:prstGeom>
          <a:solidFill>
            <a:srgbClr val="161A23"/>
          </a:solidFill>
          <a:ln w="12700">
            <a:solidFill>
              <a:srgbClr val="2A3142"/>
            </a:solidFill>
            <a:prstDash val="solid"/>
          </a:ln>
        </p:spPr>
        <p:txBody>
          <a:bodyPr/>
          <a:p/>
        </p:txBody>
      </p:sp>
      <p:sp>
        <p:nvSpPr>
          <p:cNvPr id="13" name="Text 11"/>
          <p:cNvSpPr/>
          <p:nvPr/>
        </p:nvSpPr>
        <p:spPr>
          <a:xfrm>
            <a:off x="1270000" y="3981450"/>
            <a:ext cx="609600" cy="205105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B89CFF"/>
                </a:solidFill>
                <a:latin typeface="Consolas" pitchFamily="34" charset="0"/>
                <a:ea typeface="Consolas" pitchFamily="34" charset="-122"/>
                <a:cs typeface="Consolas" pitchFamily="34" charset="-120"/>
              </a:rPr>
              <a:t>01 ·</a:t>
            </a:r>
            <a:endParaRPr lang="en-US" sz="1800" dirty="0"/>
          </a:p>
        </p:txBody>
      </p:sp>
      <p:sp>
        <p:nvSpPr>
          <p:cNvPr id="14" name="Text 12"/>
          <p:cNvSpPr/>
          <p:nvPr/>
        </p:nvSpPr>
        <p:spPr>
          <a:xfrm>
            <a:off x="2032000" y="3981450"/>
            <a:ext cx="6860985"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F0B265"/>
                </a:solidFill>
                <a:latin typeface="Consolas" pitchFamily="34" charset="0"/>
                <a:ea typeface="Consolas" pitchFamily="34" charset="-122"/>
                <a:cs typeface="Consolas" pitchFamily="34" charset="-120"/>
              </a:rPr>
              <a:t>ChatOps · IssueOps</a:t>
            </a:r>
            <a:endParaRPr lang="en-US" sz="1800" dirty="0"/>
          </a:p>
        </p:txBody>
      </p:sp>
      <p:sp>
        <p:nvSpPr>
          <p:cNvPr id="15" name="Text 13"/>
          <p:cNvSpPr/>
          <p:nvPr/>
        </p:nvSpPr>
        <p:spPr>
          <a:xfrm>
            <a:off x="2032000" y="4432300"/>
            <a:ext cx="6860985" cy="508000"/>
          </a:xfrm>
          <a:prstGeom prst="rect">
            <a:avLst/>
          </a:prstGeom>
          <a:noFill/>
          <a:ln/>
        </p:spPr>
        <p:txBody>
          <a:bodyPr wrap="square" lIns="25400" tIns="25400" rIns="25400" bIns="25400" rtlCol="0" anchor="t">
            <a:normAutofit/>
          </a:bodyPr>
          <a:lstStyle/>
          <a:p>
            <a:pPr marL="0" indent="0" algn="l">
              <a:lnSpc>
                <a:spcPct val="140000"/>
              </a:lnSpc>
              <a:buNone/>
            </a:pPr>
            <a:r>
              <a:rPr lang="en-US" sz="2700" kern="0" spc="-27" dirty="0">
                <a:solidFill>
                  <a:srgbClr val="E8E6DF"/>
                </a:solidFill>
                <a:latin typeface="Arial" pitchFamily="34" charset="0"/>
                <a:ea typeface="Arial" pitchFamily="34" charset="-122"/>
                <a:cs typeface="Arial" pitchFamily="34" charset="-120"/>
              </a:rPr>
              <a:t>Reactive Intelligence</a:t>
            </a:r>
            <a:endParaRPr lang="en-US" sz="2700" dirty="0"/>
          </a:p>
        </p:txBody>
      </p:sp>
      <p:sp>
        <p:nvSpPr>
          <p:cNvPr id="16" name="Text 14"/>
          <p:cNvSpPr/>
          <p:nvPr/>
        </p:nvSpPr>
        <p:spPr>
          <a:xfrm>
            <a:off x="2032000" y="5130800"/>
            <a:ext cx="6860985" cy="6731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7A8294"/>
                </a:solidFill>
                <a:latin typeface="Arial" pitchFamily="34" charset="0"/>
                <a:ea typeface="Arial" pitchFamily="34" charset="-122"/>
                <a:cs typeface="Arial" pitchFamily="34" charset="-120"/>
              </a:rPr>
              <a:t>AI responds to issues, PRs, and comments — triaging, labelling, and following up in the conversation.</a:t>
            </a:r>
            <a:endParaRPr lang="en-US" sz="1800" dirty="0"/>
          </a:p>
        </p:txBody>
      </p:sp>
      <p:sp>
        <p:nvSpPr>
          <p:cNvPr id="17" name="Shape 15"/>
          <p:cNvSpPr/>
          <p:nvPr/>
        </p:nvSpPr>
        <p:spPr>
          <a:xfrm>
            <a:off x="9277350" y="3702050"/>
            <a:ext cx="8058150" cy="2571750"/>
          </a:xfrm>
          <a:prstGeom prst="roundRect">
            <a:avLst>
              <a:gd name="adj" fmla="val 2963"/>
            </a:avLst>
          </a:prstGeom>
          <a:solidFill>
            <a:srgbClr val="161A23"/>
          </a:solidFill>
          <a:ln w="12700">
            <a:solidFill>
              <a:srgbClr val="2A3142"/>
            </a:solidFill>
            <a:prstDash val="solid"/>
          </a:ln>
        </p:spPr>
        <p:txBody>
          <a:bodyPr/>
          <a:p/>
        </p:txBody>
      </p:sp>
      <p:sp>
        <p:nvSpPr>
          <p:cNvPr id="18" name="Text 16"/>
          <p:cNvSpPr/>
          <p:nvPr/>
        </p:nvSpPr>
        <p:spPr>
          <a:xfrm>
            <a:off x="9594850" y="3981450"/>
            <a:ext cx="609600" cy="205105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B89CFF"/>
                </a:solidFill>
                <a:latin typeface="Consolas" pitchFamily="34" charset="0"/>
                <a:ea typeface="Consolas" pitchFamily="34" charset="-122"/>
                <a:cs typeface="Consolas" pitchFamily="34" charset="-120"/>
              </a:rPr>
              <a:t>02 ·</a:t>
            </a:r>
            <a:endParaRPr lang="en-US" sz="1800" dirty="0"/>
          </a:p>
        </p:txBody>
      </p:sp>
      <p:sp>
        <p:nvSpPr>
          <p:cNvPr id="19" name="Text 17"/>
          <p:cNvSpPr/>
          <p:nvPr/>
        </p:nvSpPr>
        <p:spPr>
          <a:xfrm>
            <a:off x="10356850" y="3981450"/>
            <a:ext cx="6860985"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F0B265"/>
                </a:solidFill>
                <a:latin typeface="Consolas" pitchFamily="34" charset="0"/>
                <a:ea typeface="Consolas" pitchFamily="34" charset="-122"/>
                <a:cs typeface="Consolas" pitchFamily="34" charset="-120"/>
              </a:rPr>
              <a:t>DailyOps · TaskOps</a:t>
            </a:r>
            <a:endParaRPr lang="en-US" sz="1800" dirty="0"/>
          </a:p>
        </p:txBody>
      </p:sp>
      <p:sp>
        <p:nvSpPr>
          <p:cNvPr id="20" name="Text 18"/>
          <p:cNvSpPr/>
          <p:nvPr/>
        </p:nvSpPr>
        <p:spPr>
          <a:xfrm>
            <a:off x="10356850" y="4432300"/>
            <a:ext cx="6860985" cy="508000"/>
          </a:xfrm>
          <a:prstGeom prst="rect">
            <a:avLst/>
          </a:prstGeom>
          <a:noFill/>
          <a:ln/>
        </p:spPr>
        <p:txBody>
          <a:bodyPr wrap="square" lIns="25400" tIns="25400" rIns="25400" bIns="25400" rtlCol="0" anchor="t">
            <a:normAutofit/>
          </a:bodyPr>
          <a:lstStyle/>
          <a:p>
            <a:pPr marL="0" indent="0" algn="l">
              <a:lnSpc>
                <a:spcPct val="140000"/>
              </a:lnSpc>
              <a:buNone/>
            </a:pPr>
            <a:r>
              <a:rPr lang="en-US" sz="2700" kern="0" spc="-27" dirty="0">
                <a:solidFill>
                  <a:srgbClr val="E8E6DF"/>
                </a:solidFill>
                <a:latin typeface="Arial" pitchFamily="34" charset="0"/>
                <a:ea typeface="Arial" pitchFamily="34" charset="-122"/>
                <a:cs typeface="Arial" pitchFamily="34" charset="-120"/>
              </a:rPr>
              <a:t>Continuous Improvement</a:t>
            </a:r>
            <a:endParaRPr lang="en-US" sz="2700" dirty="0"/>
          </a:p>
        </p:txBody>
      </p:sp>
      <p:sp>
        <p:nvSpPr>
          <p:cNvPr id="21" name="Text 19"/>
          <p:cNvSpPr/>
          <p:nvPr/>
        </p:nvSpPr>
        <p:spPr>
          <a:xfrm>
            <a:off x="10356850" y="5130800"/>
            <a:ext cx="6860985" cy="6731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7A8294"/>
                </a:solidFill>
                <a:latin typeface="Arial" pitchFamily="34" charset="0"/>
                <a:ea typeface="Arial" pitchFamily="34" charset="-122"/>
                <a:cs typeface="Arial" pitchFamily="34" charset="-120"/>
              </a:rPr>
              <a:t>Scheduled, AI-driven analysis and incremental upgrades between human commits.</a:t>
            </a:r>
            <a:endParaRPr lang="en-US" sz="1800" dirty="0"/>
          </a:p>
        </p:txBody>
      </p:sp>
      <p:sp>
        <p:nvSpPr>
          <p:cNvPr id="22" name="Shape 20"/>
          <p:cNvSpPr/>
          <p:nvPr/>
        </p:nvSpPr>
        <p:spPr>
          <a:xfrm>
            <a:off x="952500" y="6540500"/>
            <a:ext cx="8058150" cy="2571750"/>
          </a:xfrm>
          <a:prstGeom prst="roundRect">
            <a:avLst>
              <a:gd name="adj" fmla="val 2963"/>
            </a:avLst>
          </a:prstGeom>
          <a:solidFill>
            <a:srgbClr val="161A23"/>
          </a:solidFill>
          <a:ln w="12700">
            <a:solidFill>
              <a:srgbClr val="2A3142"/>
            </a:solidFill>
            <a:prstDash val="solid"/>
          </a:ln>
        </p:spPr>
        <p:txBody>
          <a:bodyPr/>
          <a:p/>
        </p:txBody>
      </p:sp>
      <p:sp>
        <p:nvSpPr>
          <p:cNvPr id="23" name="Text 21"/>
          <p:cNvSpPr/>
          <p:nvPr/>
        </p:nvSpPr>
        <p:spPr>
          <a:xfrm>
            <a:off x="1270000" y="6819900"/>
            <a:ext cx="609600" cy="205105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B89CFF"/>
                </a:solidFill>
                <a:latin typeface="Consolas" pitchFamily="34" charset="0"/>
                <a:ea typeface="Consolas" pitchFamily="34" charset="-122"/>
                <a:cs typeface="Consolas" pitchFamily="34" charset="-120"/>
              </a:rPr>
              <a:t>03 ·</a:t>
            </a:r>
            <a:endParaRPr lang="en-US" sz="1800" dirty="0"/>
          </a:p>
        </p:txBody>
      </p:sp>
      <p:sp>
        <p:nvSpPr>
          <p:cNvPr id="24" name="Text 22"/>
          <p:cNvSpPr/>
          <p:nvPr/>
        </p:nvSpPr>
        <p:spPr>
          <a:xfrm>
            <a:off x="2032000" y="6819900"/>
            <a:ext cx="6860985"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F0B265"/>
                </a:solidFill>
                <a:latin typeface="Consolas" pitchFamily="34" charset="0"/>
                <a:ea typeface="Consolas" pitchFamily="34" charset="-122"/>
                <a:cs typeface="Consolas" pitchFamily="34" charset="-120"/>
              </a:rPr>
              <a:t>DataOps · ProjectOps</a:t>
            </a:r>
            <a:endParaRPr lang="en-US" sz="1800" dirty="0"/>
          </a:p>
        </p:txBody>
      </p:sp>
      <p:sp>
        <p:nvSpPr>
          <p:cNvPr id="25" name="Text 23"/>
          <p:cNvSpPr/>
          <p:nvPr/>
        </p:nvSpPr>
        <p:spPr>
          <a:xfrm>
            <a:off x="2032000" y="7270750"/>
            <a:ext cx="6860985" cy="508000"/>
          </a:xfrm>
          <a:prstGeom prst="rect">
            <a:avLst/>
          </a:prstGeom>
          <a:noFill/>
          <a:ln/>
        </p:spPr>
        <p:txBody>
          <a:bodyPr wrap="square" lIns="25400" tIns="25400" rIns="25400" bIns="25400" rtlCol="0" anchor="t">
            <a:normAutofit/>
          </a:bodyPr>
          <a:lstStyle/>
          <a:p>
            <a:pPr marL="0" indent="0" algn="l">
              <a:lnSpc>
                <a:spcPct val="140000"/>
              </a:lnSpc>
              <a:buNone/>
            </a:pPr>
            <a:r>
              <a:rPr lang="en-US" sz="2700" kern="0" spc="-27" dirty="0">
                <a:solidFill>
                  <a:srgbClr val="E8E6DF"/>
                </a:solidFill>
                <a:latin typeface="Arial" pitchFamily="34" charset="0"/>
                <a:ea typeface="Arial" pitchFamily="34" charset="-122"/>
                <a:cs typeface="Arial" pitchFamily="34" charset="-120"/>
              </a:rPr>
              <a:t>Insight &amp; Governance</a:t>
            </a:r>
            <a:endParaRPr lang="en-US" sz="2700" dirty="0"/>
          </a:p>
        </p:txBody>
      </p:sp>
      <p:sp>
        <p:nvSpPr>
          <p:cNvPr id="26" name="Text 24"/>
          <p:cNvSpPr/>
          <p:nvPr/>
        </p:nvSpPr>
        <p:spPr>
          <a:xfrm>
            <a:off x="2032000" y="7969250"/>
            <a:ext cx="6860985" cy="6731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7A8294"/>
                </a:solidFill>
                <a:latin typeface="Arial" pitchFamily="34" charset="0"/>
                <a:ea typeface="Arial" pitchFamily="34" charset="-122"/>
                <a:cs typeface="Arial" pitchFamily="34" charset="-120"/>
              </a:rPr>
              <a:t>Analyse repository data and automatically update project state, fields, and roll-ups.</a:t>
            </a:r>
            <a:endParaRPr lang="en-US" sz="1800" dirty="0"/>
          </a:p>
        </p:txBody>
      </p:sp>
      <p:sp>
        <p:nvSpPr>
          <p:cNvPr id="27" name="Shape 25"/>
          <p:cNvSpPr/>
          <p:nvPr/>
        </p:nvSpPr>
        <p:spPr>
          <a:xfrm>
            <a:off x="9277350" y="6540500"/>
            <a:ext cx="8058150" cy="2571750"/>
          </a:xfrm>
          <a:prstGeom prst="roundRect">
            <a:avLst>
              <a:gd name="adj" fmla="val 2963"/>
            </a:avLst>
          </a:prstGeom>
          <a:solidFill>
            <a:srgbClr val="161A23"/>
          </a:solidFill>
          <a:ln w="12700">
            <a:solidFill>
              <a:srgbClr val="2A3142"/>
            </a:solidFill>
            <a:prstDash val="solid"/>
          </a:ln>
        </p:spPr>
        <p:txBody>
          <a:bodyPr/>
          <a:p/>
        </p:txBody>
      </p:sp>
      <p:sp>
        <p:nvSpPr>
          <p:cNvPr id="28" name="Text 26"/>
          <p:cNvSpPr/>
          <p:nvPr/>
        </p:nvSpPr>
        <p:spPr>
          <a:xfrm>
            <a:off x="9594850" y="6819900"/>
            <a:ext cx="609600" cy="205105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B89CFF"/>
                </a:solidFill>
                <a:latin typeface="Consolas" pitchFamily="34" charset="0"/>
                <a:ea typeface="Consolas" pitchFamily="34" charset="-122"/>
                <a:cs typeface="Consolas" pitchFamily="34" charset="-120"/>
              </a:rPr>
              <a:t>04 ·</a:t>
            </a:r>
            <a:endParaRPr lang="en-US" sz="1800" dirty="0"/>
          </a:p>
        </p:txBody>
      </p:sp>
      <p:sp>
        <p:nvSpPr>
          <p:cNvPr id="29" name="Text 27"/>
          <p:cNvSpPr/>
          <p:nvPr/>
        </p:nvSpPr>
        <p:spPr>
          <a:xfrm>
            <a:off x="10356850" y="6819900"/>
            <a:ext cx="6860985"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F0B265"/>
                </a:solidFill>
                <a:latin typeface="Consolas" pitchFamily="34" charset="0"/>
                <a:ea typeface="Consolas" pitchFamily="34" charset="-122"/>
                <a:cs typeface="Consolas" pitchFamily="34" charset="-120"/>
              </a:rPr>
              <a:t>MultiRepoOps · CentralRepoOps</a:t>
            </a:r>
            <a:endParaRPr lang="en-US" sz="1800" dirty="0"/>
          </a:p>
        </p:txBody>
      </p:sp>
      <p:sp>
        <p:nvSpPr>
          <p:cNvPr id="30" name="Text 28"/>
          <p:cNvSpPr/>
          <p:nvPr/>
        </p:nvSpPr>
        <p:spPr>
          <a:xfrm>
            <a:off x="10356850" y="7270750"/>
            <a:ext cx="6860985" cy="508000"/>
          </a:xfrm>
          <a:prstGeom prst="rect">
            <a:avLst/>
          </a:prstGeom>
          <a:noFill/>
          <a:ln/>
        </p:spPr>
        <p:txBody>
          <a:bodyPr wrap="square" lIns="25400" tIns="25400" rIns="25400" bIns="25400" rtlCol="0" anchor="t">
            <a:normAutofit/>
          </a:bodyPr>
          <a:lstStyle/>
          <a:p>
            <a:pPr marL="0" indent="0" algn="l">
              <a:lnSpc>
                <a:spcPct val="140000"/>
              </a:lnSpc>
              <a:buNone/>
            </a:pPr>
            <a:r>
              <a:rPr lang="en-US" sz="2700" kern="0" spc="-27" dirty="0">
                <a:solidFill>
                  <a:srgbClr val="E8E6DF"/>
                </a:solidFill>
                <a:latin typeface="Arial" pitchFamily="34" charset="0"/>
                <a:ea typeface="Arial" pitchFamily="34" charset="-122"/>
                <a:cs typeface="Arial" pitchFamily="34" charset="-120"/>
              </a:rPr>
              <a:t>Orchestration</a:t>
            </a:r>
            <a:endParaRPr lang="en-US" sz="2700" dirty="0"/>
          </a:p>
        </p:txBody>
      </p:sp>
      <p:sp>
        <p:nvSpPr>
          <p:cNvPr id="31" name="Text 29"/>
          <p:cNvSpPr/>
          <p:nvPr/>
        </p:nvSpPr>
        <p:spPr>
          <a:xfrm>
            <a:off x="10356850" y="7969250"/>
            <a:ext cx="6860985" cy="6731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7A8294"/>
                </a:solidFill>
                <a:latin typeface="Arial" pitchFamily="34" charset="0"/>
                <a:ea typeface="Arial" pitchFamily="34" charset="-122"/>
                <a:cs typeface="Arial" pitchFamily="34" charset="-120"/>
              </a:rPr>
              <a:t>Coordinate work across repositories with centralised oversight from a single control plane.</a:t>
            </a:r>
            <a:endParaRPr lang="en-US" sz="1800" dirty="0"/>
          </a:p>
        </p:txBody>
      </p:sp>
      <p:sp>
        <p:nvSpPr>
          <p:cNvPr id="32" name="Text 30"/>
          <p:cNvSpPr/>
          <p:nvPr/>
        </p:nvSpPr>
        <p:spPr>
          <a:xfrm>
            <a:off x="952500" y="9378950"/>
            <a:ext cx="1687449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7A8294"/>
                </a:solidFill>
                <a:latin typeface="Consolas" pitchFamily="34" charset="0"/>
                <a:ea typeface="Consolas" pitchFamily="34" charset="-122"/>
                <a:cs typeface="Consolas" pitchFamily="34" charset="-120"/>
              </a:rPr>
              <a:t>→ Full catalogue in the Design Patterns docs.</a:t>
            </a:r>
            <a:endParaRPr lang="en-US" sz="1800" dirty="0"/>
          </a:p>
        </p:txBody>
      </p:sp>
      <p:sp>
        <p:nvSpPr>
          <p:cNvPr id="33" name="Shape 31"/>
          <p:cNvSpPr/>
          <p:nvPr/>
        </p:nvSpPr>
        <p:spPr>
          <a:xfrm>
            <a:off x="0" y="9779001"/>
            <a:ext cx="18288000" cy="508000"/>
          </a:xfrm>
          <a:prstGeom prst="rect">
            <a:avLst/>
          </a:prstGeom>
          <a:solidFill>
            <a:srgbClr val="11141B"/>
          </a:solidFill>
          <a:ln/>
        </p:spPr>
        <p:txBody>
          <a:bodyPr/>
          <a:p/>
        </p:txBody>
      </p:sp>
      <p:sp>
        <p:nvSpPr>
          <p:cNvPr id="34" name="Shape 32"/>
          <p:cNvSpPr/>
          <p:nvPr/>
        </p:nvSpPr>
        <p:spPr>
          <a:xfrm>
            <a:off x="0" y="9779001"/>
            <a:ext cx="18288000" cy="12700"/>
          </a:xfrm>
          <a:prstGeom prst="rect">
            <a:avLst/>
          </a:prstGeom>
          <a:solidFill>
            <a:srgbClr val="2A3142"/>
          </a:solidFill>
          <a:ln/>
        </p:spPr>
        <p:txBody>
          <a:bodyPr/>
          <a:p/>
        </p:txBody>
      </p:sp>
      <p:sp>
        <p:nvSpPr>
          <p:cNvPr id="35" name="Text 33"/>
          <p:cNvSpPr/>
          <p:nvPr/>
        </p:nvSpPr>
        <p:spPr>
          <a:xfrm>
            <a:off x="304800" y="9880600"/>
            <a:ext cx="1635919"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B89CFF"/>
                </a:solidFill>
                <a:latin typeface="Consolas" pitchFamily="34" charset="0"/>
                <a:ea typeface="Consolas" pitchFamily="34" charset="-122"/>
                <a:cs typeface="Consolas" pitchFamily="34" charset="-120"/>
              </a:rPr>
              <a:t>● patterns</a:t>
            </a:r>
            <a:endParaRPr lang="en-US" sz="1800" dirty="0"/>
          </a:p>
        </p:txBody>
      </p:sp>
      <p:sp>
        <p:nvSpPr>
          <p:cNvPr id="36" name="Text 34"/>
          <p:cNvSpPr/>
          <p:nvPr/>
        </p:nvSpPr>
        <p:spPr>
          <a:xfrm>
            <a:off x="2169319" y="9880600"/>
            <a:ext cx="2485827"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4 building blocks</a:t>
            </a:r>
            <a:endParaRPr lang="en-US" sz="1800" dirty="0"/>
          </a:p>
        </p:txBody>
      </p:sp>
      <p:sp>
        <p:nvSpPr>
          <p:cNvPr id="37" name="Text 35"/>
          <p:cNvSpPr/>
          <p:nvPr/>
        </p:nvSpPr>
        <p:spPr>
          <a:xfrm>
            <a:off x="16991013" y="9880600"/>
            <a:ext cx="1068388"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09 / 12</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D12"/>
        </a:solidFill>
        <a:effectLst/>
      </p:bgPr>
    </p:bg>
    <p:spTree>
      <p:nvGrpSpPr>
        <p:cNvPr id="1" name=""/>
        <p:cNvGrpSpPr/>
        <p:nvPr/>
      </p:nvGrpSpPr>
      <p:grpSpPr>
        <a:xfrm>
          <a:off x="0" y="0"/>
          <a:ext cx="0" cy="0"/>
          <a:chOff x="0" y="0"/>
          <a:chExt cx="0" cy="0"/>
        </a:xfrm>
      </p:grpSpPr>
      <p:sp>
        <p:nvSpPr>
          <p:cNvPr id="2" name="Shape 0"/>
          <p:cNvSpPr/>
          <p:nvPr/>
        </p:nvSpPr>
        <p:spPr>
          <a:xfrm>
            <a:off x="0" y="0"/>
            <a:ext cx="18288000" cy="546100"/>
          </a:xfrm>
          <a:prstGeom prst="rect">
            <a:avLst/>
          </a:prstGeom>
          <a:solidFill>
            <a:srgbClr val="11141B"/>
          </a:solidFill>
          <a:ln/>
        </p:spPr>
        <p:txBody>
          <a:bodyPr/>
          <a:p/>
        </p:txBody>
      </p:sp>
      <p:sp>
        <p:nvSpPr>
          <p:cNvPr id="3" name="Shape 1"/>
          <p:cNvSpPr/>
          <p:nvPr/>
        </p:nvSpPr>
        <p:spPr>
          <a:xfrm>
            <a:off x="0" y="533400"/>
            <a:ext cx="18288000" cy="12700"/>
          </a:xfrm>
          <a:prstGeom prst="rect">
            <a:avLst/>
          </a:prstGeom>
          <a:solidFill>
            <a:srgbClr val="2A3142"/>
          </a:solidFill>
          <a:ln/>
        </p:spPr>
        <p:txBody>
          <a:bodyPr/>
          <a:p/>
        </p:txBody>
      </p:sp>
      <p:sp>
        <p:nvSpPr>
          <p:cNvPr id="4" name="Shape 2"/>
          <p:cNvSpPr/>
          <p:nvPr/>
        </p:nvSpPr>
        <p:spPr>
          <a:xfrm>
            <a:off x="304800" y="200025"/>
            <a:ext cx="133350" cy="133350"/>
          </a:xfrm>
          <a:prstGeom prst="ellipse">
            <a:avLst/>
          </a:prstGeom>
          <a:solidFill>
            <a:srgbClr val="B6644A"/>
          </a:solidFill>
          <a:ln/>
        </p:spPr>
        <p:txBody>
          <a:bodyPr/>
          <a:p/>
        </p:txBody>
      </p:sp>
      <p:sp>
        <p:nvSpPr>
          <p:cNvPr id="5" name="Shape 3"/>
          <p:cNvSpPr/>
          <p:nvPr/>
        </p:nvSpPr>
        <p:spPr>
          <a:xfrm>
            <a:off x="533400" y="200025"/>
            <a:ext cx="133350" cy="133350"/>
          </a:xfrm>
          <a:prstGeom prst="ellipse">
            <a:avLst/>
          </a:prstGeom>
          <a:solidFill>
            <a:srgbClr val="B69A4A"/>
          </a:solidFill>
          <a:ln/>
        </p:spPr>
        <p:txBody>
          <a:bodyPr/>
          <a:p/>
        </p:txBody>
      </p:sp>
      <p:sp>
        <p:nvSpPr>
          <p:cNvPr id="6" name="Shape 4"/>
          <p:cNvSpPr/>
          <p:nvPr/>
        </p:nvSpPr>
        <p:spPr>
          <a:xfrm>
            <a:off x="762000" y="200025"/>
            <a:ext cx="133350" cy="133350"/>
          </a:xfrm>
          <a:prstGeom prst="ellipse">
            <a:avLst/>
          </a:prstGeom>
          <a:solidFill>
            <a:srgbClr val="6B9A6A"/>
          </a:solidFill>
          <a:ln/>
        </p:spPr>
        <p:txBody>
          <a:bodyPr/>
          <a:p/>
        </p:txBody>
      </p:sp>
      <p:sp>
        <p:nvSpPr>
          <p:cNvPr id="7" name="Text 5"/>
          <p:cNvSpPr/>
          <p:nvPr/>
        </p:nvSpPr>
        <p:spPr>
          <a:xfrm>
            <a:off x="1066800" y="107950"/>
            <a:ext cx="5120598"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C6C4BC"/>
                </a:solidFill>
                <a:latin typeface="Consolas" pitchFamily="34" charset="0"/>
                <a:ea typeface="Consolas" pitchFamily="34" charset="-122"/>
                <a:cs typeface="Consolas" pitchFamily="34" charset="-120"/>
              </a:rPr>
              <a:t>~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C6C4BC"/>
                </a:solidFill>
                <a:latin typeface="Consolas" pitchFamily="34" charset="0"/>
                <a:ea typeface="Consolas" pitchFamily="34" charset="-122"/>
                <a:cs typeface="Consolas" pitchFamily="34" charset="-120"/>
              </a:rPr>
              <a:t>agentic-workflows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B89CFF"/>
                </a:solidFill>
                <a:latin typeface="Consolas" pitchFamily="34" charset="0"/>
                <a:ea typeface="Consolas" pitchFamily="34" charset="-122"/>
                <a:cs typeface="Consolas" pitchFamily="34" charset="-120"/>
              </a:rPr>
              <a:t>09-agentics.md</a:t>
            </a:r>
            <a:endParaRPr lang="en-US" sz="1800" dirty="0"/>
          </a:p>
        </p:txBody>
      </p:sp>
      <p:sp>
        <p:nvSpPr>
          <p:cNvPr id="8" name="Text 6"/>
          <p:cNvSpPr/>
          <p:nvPr/>
        </p:nvSpPr>
        <p:spPr>
          <a:xfrm>
            <a:off x="14549438" y="107950"/>
            <a:ext cx="643136"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545B6C"/>
                </a:solidFill>
                <a:latin typeface="Consolas" pitchFamily="34" charset="0"/>
                <a:ea typeface="Consolas" pitchFamily="34" charset="-122"/>
                <a:cs typeface="Consolas" pitchFamily="34" charset="-120"/>
              </a:rPr>
              <a:t>main</a:t>
            </a:r>
            <a:endParaRPr lang="en-US" sz="1800" dirty="0"/>
          </a:p>
        </p:txBody>
      </p:sp>
      <p:sp>
        <p:nvSpPr>
          <p:cNvPr id="9" name="Text 7"/>
          <p:cNvSpPr/>
          <p:nvPr/>
        </p:nvSpPr>
        <p:spPr>
          <a:xfrm>
            <a:off x="15383074" y="107950"/>
            <a:ext cx="2678131"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6DC287"/>
                </a:solidFill>
                <a:latin typeface="Consolas" pitchFamily="34" charset="0"/>
                <a:ea typeface="Consolas" pitchFamily="34" charset="-122"/>
                <a:cs typeface="Consolas" pitchFamily="34" charset="-120"/>
              </a:rPr>
              <a:t>generally available</a:t>
            </a:r>
            <a:endParaRPr lang="en-US" sz="1800" dirty="0"/>
          </a:p>
        </p:txBody>
      </p:sp>
      <p:sp>
        <p:nvSpPr>
          <p:cNvPr id="10" name="Text 8"/>
          <p:cNvSpPr/>
          <p:nvPr/>
        </p:nvSpPr>
        <p:spPr>
          <a:xfrm>
            <a:off x="952500" y="1047750"/>
            <a:ext cx="16874490"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B89CFF"/>
                </a:solidFill>
                <a:latin typeface="Consolas" pitchFamily="34" charset="0"/>
                <a:ea typeface="Consolas" pitchFamily="34" charset="-122"/>
                <a:cs typeface="Consolas" pitchFamily="34" charset="-120"/>
              </a:rPr>
              <a:t>## </a:t>
            </a:r>
            <a:r>
              <a:rPr lang="en-US" sz="1800" kern="0" spc="288" dirty="0">
                <a:solidFill>
                  <a:srgbClr val="7A8294"/>
                </a:solidFill>
                <a:latin typeface="Consolas" pitchFamily="34" charset="0"/>
                <a:ea typeface="Consolas" pitchFamily="34" charset="-122"/>
                <a:cs typeface="Consolas" pitchFamily="34" charset="-120"/>
              </a:rPr>
              <a:t>GET STARTED</a:t>
            </a:r>
            <a:endParaRPr lang="en-US" sz="1800" dirty="0"/>
          </a:p>
        </p:txBody>
      </p:sp>
      <p:sp>
        <p:nvSpPr>
          <p:cNvPr id="11" name="Text 9"/>
          <p:cNvSpPr/>
          <p:nvPr/>
        </p:nvSpPr>
        <p:spPr>
          <a:xfrm>
            <a:off x="952500" y="1631950"/>
            <a:ext cx="14716125" cy="1612900"/>
          </a:xfrm>
          <a:prstGeom prst="rect">
            <a:avLst/>
          </a:prstGeom>
          <a:noFill/>
          <a:ln/>
        </p:spPr>
        <p:txBody>
          <a:bodyPr wrap="square" lIns="25400" tIns="25400" rIns="25400" bIns="25400" rtlCol="0" anchor="t">
            <a:normAutofit/>
          </a:bodyPr>
          <a:lstStyle/>
          <a:p>
            <a:pPr marL="0" indent="0" algn="l">
              <a:lnSpc>
                <a:spcPct val="105000"/>
              </a:lnSpc>
              <a:buNone/>
            </a:pPr>
            <a:r>
              <a:rPr lang="en-US" sz="5700" kern="0" spc="-142" dirty="0">
                <a:solidFill>
                  <a:srgbClr val="E8E6DF"/>
                </a:solidFill>
                <a:latin typeface="Arial" pitchFamily="34" charset="0"/>
                <a:ea typeface="Arial" pitchFamily="34" charset="-122"/>
                <a:cs typeface="Arial" pitchFamily="34" charset="-120"/>
              </a:rPr>
              <a:t>A library of ready-made workflows to </a:t>
            </a:r>
            <a:r>
              <a:rPr lang="en-US" sz="5700" i="1" kern="0" spc="-142" dirty="0">
                <a:solidFill>
                  <a:srgbClr val="B89CFF"/>
                </a:solidFill>
                <a:latin typeface="Georgia" pitchFamily="34" charset="0"/>
                <a:ea typeface="Georgia" pitchFamily="34" charset="-122"/>
                <a:cs typeface="Georgia" pitchFamily="34" charset="-120"/>
              </a:rPr>
              <a:t>lift &amp; remix</a:t>
            </a:r>
            <a:r>
              <a:rPr lang="en-US" sz="5700" kern="0" spc="-142" dirty="0">
                <a:solidFill>
                  <a:srgbClr val="E8E6DF"/>
                </a:solidFill>
                <a:latin typeface="Arial" pitchFamily="34" charset="0"/>
                <a:ea typeface="Arial" pitchFamily="34" charset="-122"/>
                <a:cs typeface="Arial" pitchFamily="34" charset="-120"/>
              </a:rPr>
              <a:t>.</a:t>
            </a:r>
            <a:endParaRPr lang="en-US" sz="5700" dirty="0"/>
          </a:p>
        </p:txBody>
      </p:sp>
      <p:sp>
        <p:nvSpPr>
          <p:cNvPr id="12" name="Shape 10"/>
          <p:cNvSpPr/>
          <p:nvPr/>
        </p:nvSpPr>
        <p:spPr>
          <a:xfrm>
            <a:off x="952500" y="3702050"/>
            <a:ext cx="16383000" cy="1651000"/>
          </a:xfrm>
          <a:prstGeom prst="roundRect">
            <a:avLst>
              <a:gd name="adj" fmla="val 4615"/>
            </a:avLst>
          </a:prstGeom>
          <a:solidFill>
            <a:srgbClr val="161A23"/>
          </a:solidFill>
          <a:ln w="12700">
            <a:solidFill>
              <a:srgbClr val="2A3142"/>
            </a:solidFill>
            <a:prstDash val="solid"/>
          </a:ln>
        </p:spPr>
        <p:txBody>
          <a:bodyPr/>
          <a:p/>
        </p:txBody>
      </p:sp>
      <p:sp>
        <p:nvSpPr>
          <p:cNvPr id="13" name="Text 11"/>
          <p:cNvSpPr/>
          <p:nvPr/>
        </p:nvSpPr>
        <p:spPr>
          <a:xfrm>
            <a:off x="1498600" y="4171950"/>
            <a:ext cx="385961" cy="749300"/>
          </a:xfrm>
          <a:prstGeom prst="rect">
            <a:avLst/>
          </a:prstGeom>
          <a:noFill/>
          <a:ln/>
        </p:spPr>
        <p:txBody>
          <a:bodyPr wrap="square" lIns="25400" tIns="25400" rIns="25400" bIns="25400" rtlCol="0" anchor="t">
            <a:normAutofit/>
          </a:bodyPr>
          <a:lstStyle/>
          <a:p>
            <a:pPr marL="0" indent="0" algn="l">
              <a:lnSpc>
                <a:spcPct val="140000"/>
              </a:lnSpc>
              <a:buNone/>
            </a:pPr>
            <a:r>
              <a:rPr lang="en-US" sz="4050" dirty="0">
                <a:solidFill>
                  <a:srgbClr val="B89CFF"/>
                </a:solidFill>
                <a:latin typeface="Consolas" pitchFamily="34" charset="0"/>
                <a:ea typeface="Consolas" pitchFamily="34" charset="-122"/>
                <a:cs typeface="Consolas" pitchFamily="34" charset="-120"/>
              </a:rPr>
              <a:t>→</a:t>
            </a:r>
            <a:endParaRPr lang="en-US" sz="4050" dirty="0"/>
          </a:p>
        </p:txBody>
      </p:sp>
      <p:sp>
        <p:nvSpPr>
          <p:cNvPr id="14" name="Text 12"/>
          <p:cNvSpPr/>
          <p:nvPr/>
        </p:nvSpPr>
        <p:spPr>
          <a:xfrm>
            <a:off x="2189361" y="4438650"/>
            <a:ext cx="4040460" cy="3302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7A8294"/>
                </a:solidFill>
                <a:latin typeface="Consolas" pitchFamily="34" charset="0"/>
                <a:ea typeface="Consolas" pitchFamily="34" charset="-122"/>
                <a:cs typeface="Consolas" pitchFamily="34" charset="-120"/>
              </a:rPr>
              <a:t>// AGENTICS COLLECTION</a:t>
            </a:r>
            <a:endParaRPr lang="en-US" sz="1800" dirty="0"/>
          </a:p>
        </p:txBody>
      </p:sp>
      <p:sp>
        <p:nvSpPr>
          <p:cNvPr id="15" name="Text 13"/>
          <p:cNvSpPr/>
          <p:nvPr/>
        </p:nvSpPr>
        <p:spPr>
          <a:xfrm>
            <a:off x="6191528" y="4260850"/>
            <a:ext cx="7355118" cy="558800"/>
          </a:xfrm>
          <a:prstGeom prst="rect">
            <a:avLst/>
          </a:prstGeom>
          <a:noFill/>
          <a:ln/>
        </p:spPr>
        <p:txBody>
          <a:bodyPr wrap="square" lIns="25400" tIns="25400" rIns="25400" bIns="25400" rtlCol="0" anchor="t">
            <a:normAutofit/>
          </a:bodyPr>
          <a:lstStyle/>
          <a:p>
            <a:pPr marL="0" indent="0" algn="l">
              <a:lnSpc>
                <a:spcPct val="140000"/>
              </a:lnSpc>
              <a:buNone/>
            </a:pPr>
            <a:r>
              <a:rPr lang="en-US" sz="3150" kern="0" spc="-16" dirty="0">
                <a:solidFill>
                  <a:srgbClr val="B89CFF"/>
                </a:solidFill>
                <a:latin typeface="Consolas" pitchFamily="34" charset="0"/>
                <a:ea typeface="Consolas" pitchFamily="34" charset="-122"/>
                <a:cs typeface="Consolas" pitchFamily="34" charset="-120"/>
              </a:rPr>
              <a:t>github.com/</a:t>
            </a:r>
            <a:r>
              <a:rPr lang="en-US" sz="3150" kern="0" spc="-16" dirty="0">
                <a:solidFill>
                  <a:srgbClr val="E8E6DF"/>
                </a:solidFill>
                <a:latin typeface="Consolas" pitchFamily="34" charset="0"/>
                <a:ea typeface="Consolas" pitchFamily="34" charset="-122"/>
                <a:cs typeface="Consolas" pitchFamily="34" charset="-120"/>
              </a:rPr>
              <a:t>githubnext/agentics</a:t>
            </a:r>
            <a:endParaRPr lang="en-US" sz="3150" dirty="0"/>
          </a:p>
        </p:txBody>
      </p:sp>
      <p:sp>
        <p:nvSpPr>
          <p:cNvPr id="16" name="Shape 14"/>
          <p:cNvSpPr/>
          <p:nvPr/>
        </p:nvSpPr>
        <p:spPr>
          <a:xfrm>
            <a:off x="14835585" y="4222750"/>
            <a:ext cx="1953816" cy="609600"/>
          </a:xfrm>
          <a:prstGeom prst="roundRect">
            <a:avLst>
              <a:gd name="adj" fmla="val 9375"/>
            </a:avLst>
          </a:prstGeom>
          <a:ln w="12700">
            <a:solidFill>
              <a:srgbClr val="B89CFF"/>
            </a:solidFill>
            <a:prstDash val="solid"/>
          </a:ln>
        </p:spPr>
        <p:txBody>
          <a:bodyPr/>
          <a:p/>
        </p:txBody>
      </p:sp>
      <p:sp>
        <p:nvSpPr>
          <p:cNvPr id="17" name="Text 15"/>
          <p:cNvSpPr/>
          <p:nvPr/>
        </p:nvSpPr>
        <p:spPr>
          <a:xfrm>
            <a:off x="15057835" y="4368800"/>
            <a:ext cx="1585516"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B89CFF"/>
                </a:solidFill>
                <a:latin typeface="Consolas" pitchFamily="34" charset="0"/>
                <a:ea typeface="Consolas" pitchFamily="34" charset="-122"/>
                <a:cs typeface="Consolas" pitchFamily="34" charset="-120"/>
              </a:rPr>
              <a:t>git clone ↵</a:t>
            </a:r>
            <a:endParaRPr lang="en-US" sz="1800" dirty="0"/>
          </a:p>
        </p:txBody>
      </p:sp>
      <p:sp>
        <p:nvSpPr>
          <p:cNvPr id="18" name="Text 16"/>
          <p:cNvSpPr/>
          <p:nvPr/>
        </p:nvSpPr>
        <p:spPr>
          <a:xfrm>
            <a:off x="952500" y="5924550"/>
            <a:ext cx="11772900" cy="825500"/>
          </a:xfrm>
          <a:prstGeom prst="rect">
            <a:avLst/>
          </a:prstGeom>
          <a:noFill/>
          <a:ln/>
        </p:spPr>
        <p:txBody>
          <a:bodyPr wrap="square" lIns="25400" tIns="25400" rIns="25400" bIns="25400" rtlCol="0" anchor="t">
            <a:normAutofit/>
          </a:bodyPr>
          <a:lstStyle/>
          <a:p>
            <a:pPr marL="0" indent="0" algn="l">
              <a:lnSpc>
                <a:spcPct val="150000"/>
              </a:lnSpc>
              <a:buNone/>
            </a:pPr>
            <a:r>
              <a:rPr lang="en-US" sz="2100" dirty="0">
                <a:solidFill>
                  <a:srgbClr val="7A8294"/>
                </a:solidFill>
                <a:latin typeface="Arial" pitchFamily="34" charset="0"/>
                <a:ea typeface="Arial" pitchFamily="34" charset="-122"/>
                <a:cs typeface="Arial" pitchFamily="34" charset="-120"/>
              </a:rPr>
              <a:t>Each entry is a working </a:t>
            </a:r>
            <a:r>
              <a:rPr lang="en-US" sz="2100" dirty="0">
                <a:solidFill>
                  <a:srgbClr val="B89CFF"/>
                </a:solidFill>
                <a:latin typeface="Consolas" pitchFamily="34" charset="0"/>
                <a:ea typeface="Consolas" pitchFamily="34" charset="-122"/>
                <a:cs typeface="Consolas" pitchFamily="34" charset="-120"/>
              </a:rPr>
              <a:t>*.md </a:t>
            </a:r>
            <a:r>
              <a:rPr lang="en-US" sz="2100" dirty="0">
                <a:solidFill>
                  <a:srgbClr val="7A8294"/>
                </a:solidFill>
                <a:latin typeface="Arial" pitchFamily="34" charset="0"/>
                <a:ea typeface="Arial" pitchFamily="34" charset="-122"/>
                <a:cs typeface="Arial" pitchFamily="34" charset="-120"/>
              </a:rPr>
              <a:t>workflow — copy it into </a:t>
            </a:r>
            <a:r>
              <a:rPr lang="en-US" sz="2100" dirty="0">
                <a:solidFill>
                  <a:srgbClr val="B89CFF"/>
                </a:solidFill>
                <a:latin typeface="Consolas" pitchFamily="34" charset="0"/>
                <a:ea typeface="Consolas" pitchFamily="34" charset="-122"/>
                <a:cs typeface="Consolas" pitchFamily="34" charset="-120"/>
              </a:rPr>
              <a:t>.github/workflows/ </a:t>
            </a:r>
            <a:r>
              <a:rPr lang="en-US" sz="2100" dirty="0">
                <a:solidFill>
                  <a:srgbClr val="7A8294"/>
                </a:solidFill>
                <a:latin typeface="Arial" pitchFamily="34" charset="0"/>
                <a:ea typeface="Arial" pitchFamily="34" charset="-122"/>
                <a:cs typeface="Arial" pitchFamily="34" charset="-120"/>
              </a:rPr>
              <a:t>, compile, commit, run.</a:t>
            </a:r>
            <a:endParaRPr lang="en-US" sz="2100" dirty="0"/>
          </a:p>
        </p:txBody>
      </p:sp>
      <p:sp>
        <p:nvSpPr>
          <p:cNvPr id="19" name="Shape 17"/>
          <p:cNvSpPr/>
          <p:nvPr/>
        </p:nvSpPr>
        <p:spPr>
          <a:xfrm>
            <a:off x="0" y="9779001"/>
            <a:ext cx="18288000" cy="508000"/>
          </a:xfrm>
          <a:prstGeom prst="rect">
            <a:avLst/>
          </a:prstGeom>
          <a:solidFill>
            <a:srgbClr val="11141B"/>
          </a:solidFill>
          <a:ln/>
        </p:spPr>
        <p:txBody>
          <a:bodyPr/>
          <a:p/>
        </p:txBody>
      </p:sp>
      <p:sp>
        <p:nvSpPr>
          <p:cNvPr id="20" name="Shape 18"/>
          <p:cNvSpPr/>
          <p:nvPr/>
        </p:nvSpPr>
        <p:spPr>
          <a:xfrm>
            <a:off x="0" y="9779001"/>
            <a:ext cx="18288000" cy="12700"/>
          </a:xfrm>
          <a:prstGeom prst="rect">
            <a:avLst/>
          </a:prstGeom>
          <a:solidFill>
            <a:srgbClr val="2A3142"/>
          </a:solidFill>
          <a:ln/>
        </p:spPr>
        <p:txBody>
          <a:bodyPr/>
          <a:p/>
        </p:txBody>
      </p:sp>
      <p:sp>
        <p:nvSpPr>
          <p:cNvPr id="21" name="Text 19"/>
          <p:cNvSpPr/>
          <p:nvPr/>
        </p:nvSpPr>
        <p:spPr>
          <a:xfrm>
            <a:off x="304800" y="9880600"/>
            <a:ext cx="1635919"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B89CFF"/>
                </a:solidFill>
                <a:latin typeface="Consolas" pitchFamily="34" charset="0"/>
                <a:ea typeface="Consolas" pitchFamily="34" charset="-122"/>
                <a:cs typeface="Consolas" pitchFamily="34" charset="-120"/>
              </a:rPr>
              <a:t>● agentics</a:t>
            </a:r>
            <a:endParaRPr lang="en-US" sz="1800" dirty="0"/>
          </a:p>
        </p:txBody>
      </p:sp>
      <p:sp>
        <p:nvSpPr>
          <p:cNvPr id="22" name="Text 20"/>
          <p:cNvSpPr/>
          <p:nvPr/>
        </p:nvSpPr>
        <p:spPr>
          <a:xfrm>
            <a:off x="2169319" y="9880600"/>
            <a:ext cx="4379683"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github.com/githubnext/agentics</a:t>
            </a:r>
            <a:endParaRPr lang="en-US" sz="1800" dirty="0"/>
          </a:p>
        </p:txBody>
      </p:sp>
      <p:sp>
        <p:nvSpPr>
          <p:cNvPr id="23" name="Text 21"/>
          <p:cNvSpPr/>
          <p:nvPr/>
        </p:nvSpPr>
        <p:spPr>
          <a:xfrm>
            <a:off x="16991013" y="9880600"/>
            <a:ext cx="1068388"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10 / 12</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D12"/>
        </a:solidFill>
        <a:effectLst/>
      </p:bgPr>
    </p:bg>
    <p:spTree>
      <p:nvGrpSpPr>
        <p:cNvPr id="1" name=""/>
        <p:cNvGrpSpPr/>
        <p:nvPr/>
      </p:nvGrpSpPr>
      <p:grpSpPr>
        <a:xfrm>
          <a:off x="0" y="0"/>
          <a:ext cx="0" cy="0"/>
          <a:chOff x="0" y="0"/>
          <a:chExt cx="0" cy="0"/>
        </a:xfrm>
      </p:grpSpPr>
      <p:sp>
        <p:nvSpPr>
          <p:cNvPr id="2" name="Shape 0"/>
          <p:cNvSpPr/>
          <p:nvPr/>
        </p:nvSpPr>
        <p:spPr>
          <a:xfrm>
            <a:off x="0" y="0"/>
            <a:ext cx="18288000" cy="546100"/>
          </a:xfrm>
          <a:prstGeom prst="rect">
            <a:avLst/>
          </a:prstGeom>
          <a:solidFill>
            <a:srgbClr val="11141B"/>
          </a:solidFill>
          <a:ln/>
        </p:spPr>
        <p:txBody>
          <a:bodyPr/>
          <a:p/>
        </p:txBody>
      </p:sp>
      <p:sp>
        <p:nvSpPr>
          <p:cNvPr id="3" name="Shape 1"/>
          <p:cNvSpPr/>
          <p:nvPr/>
        </p:nvSpPr>
        <p:spPr>
          <a:xfrm>
            <a:off x="0" y="533400"/>
            <a:ext cx="18288000" cy="12700"/>
          </a:xfrm>
          <a:prstGeom prst="rect">
            <a:avLst/>
          </a:prstGeom>
          <a:solidFill>
            <a:srgbClr val="2A3142"/>
          </a:solidFill>
          <a:ln/>
        </p:spPr>
        <p:txBody>
          <a:bodyPr/>
          <a:p/>
        </p:txBody>
      </p:sp>
      <p:sp>
        <p:nvSpPr>
          <p:cNvPr id="4" name="Shape 2"/>
          <p:cNvSpPr/>
          <p:nvPr/>
        </p:nvSpPr>
        <p:spPr>
          <a:xfrm>
            <a:off x="304800" y="200025"/>
            <a:ext cx="133350" cy="133350"/>
          </a:xfrm>
          <a:prstGeom prst="ellipse">
            <a:avLst/>
          </a:prstGeom>
          <a:solidFill>
            <a:srgbClr val="B6644A"/>
          </a:solidFill>
          <a:ln/>
        </p:spPr>
        <p:txBody>
          <a:bodyPr/>
          <a:p/>
        </p:txBody>
      </p:sp>
      <p:sp>
        <p:nvSpPr>
          <p:cNvPr id="5" name="Shape 3"/>
          <p:cNvSpPr/>
          <p:nvPr/>
        </p:nvSpPr>
        <p:spPr>
          <a:xfrm>
            <a:off x="533400" y="200025"/>
            <a:ext cx="133350" cy="133350"/>
          </a:xfrm>
          <a:prstGeom prst="ellipse">
            <a:avLst/>
          </a:prstGeom>
          <a:solidFill>
            <a:srgbClr val="B69A4A"/>
          </a:solidFill>
          <a:ln/>
        </p:spPr>
        <p:txBody>
          <a:bodyPr/>
          <a:p/>
        </p:txBody>
      </p:sp>
      <p:sp>
        <p:nvSpPr>
          <p:cNvPr id="6" name="Shape 4"/>
          <p:cNvSpPr/>
          <p:nvPr/>
        </p:nvSpPr>
        <p:spPr>
          <a:xfrm>
            <a:off x="762000" y="200025"/>
            <a:ext cx="133350" cy="133350"/>
          </a:xfrm>
          <a:prstGeom prst="ellipse">
            <a:avLst/>
          </a:prstGeom>
          <a:solidFill>
            <a:srgbClr val="6B9A6A"/>
          </a:solidFill>
          <a:ln/>
        </p:spPr>
        <p:txBody>
          <a:bodyPr/>
          <a:p/>
        </p:txBody>
      </p:sp>
      <p:sp>
        <p:nvSpPr>
          <p:cNvPr id="7" name="Text 5"/>
          <p:cNvSpPr/>
          <p:nvPr/>
        </p:nvSpPr>
        <p:spPr>
          <a:xfrm>
            <a:off x="1066800" y="107950"/>
            <a:ext cx="4536655"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C6C4BC"/>
                </a:solidFill>
                <a:latin typeface="Consolas" pitchFamily="34" charset="0"/>
                <a:ea typeface="Consolas" pitchFamily="34" charset="-122"/>
                <a:cs typeface="Consolas" pitchFamily="34" charset="-120"/>
              </a:rPr>
              <a:t>~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C6C4BC"/>
                </a:solidFill>
                <a:latin typeface="Consolas" pitchFamily="34" charset="0"/>
                <a:ea typeface="Consolas" pitchFamily="34" charset="-122"/>
                <a:cs typeface="Consolas" pitchFamily="34" charset="-120"/>
              </a:rPr>
              <a:t>agentic-workflows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B89CFF"/>
                </a:solidFill>
                <a:latin typeface="Consolas" pitchFamily="34" charset="0"/>
                <a:ea typeface="Consolas" pitchFamily="34" charset="-122"/>
                <a:cs typeface="Consolas" pitchFamily="34" charset="-120"/>
              </a:rPr>
              <a:t>10-demo.sh</a:t>
            </a:r>
            <a:endParaRPr lang="en-US" sz="1800" dirty="0"/>
          </a:p>
        </p:txBody>
      </p:sp>
      <p:sp>
        <p:nvSpPr>
          <p:cNvPr id="8" name="Text 6"/>
          <p:cNvSpPr/>
          <p:nvPr/>
        </p:nvSpPr>
        <p:spPr>
          <a:xfrm>
            <a:off x="14549438" y="107950"/>
            <a:ext cx="643136"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545B6C"/>
                </a:solidFill>
                <a:latin typeface="Consolas" pitchFamily="34" charset="0"/>
                <a:ea typeface="Consolas" pitchFamily="34" charset="-122"/>
                <a:cs typeface="Consolas" pitchFamily="34" charset="-120"/>
              </a:rPr>
              <a:t>main</a:t>
            </a:r>
            <a:endParaRPr lang="en-US" sz="1800" dirty="0"/>
          </a:p>
        </p:txBody>
      </p:sp>
      <p:sp>
        <p:nvSpPr>
          <p:cNvPr id="9" name="Text 7"/>
          <p:cNvSpPr/>
          <p:nvPr/>
        </p:nvSpPr>
        <p:spPr>
          <a:xfrm>
            <a:off x="15383074" y="107950"/>
            <a:ext cx="2678131"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6DC287"/>
                </a:solidFill>
                <a:latin typeface="Consolas" pitchFamily="34" charset="0"/>
                <a:ea typeface="Consolas" pitchFamily="34" charset="-122"/>
                <a:cs typeface="Consolas" pitchFamily="34" charset="-120"/>
              </a:rPr>
              <a:t>generally available</a:t>
            </a:r>
            <a:endParaRPr lang="en-US" sz="1800" dirty="0"/>
          </a:p>
        </p:txBody>
      </p:sp>
      <p:sp>
        <p:nvSpPr>
          <p:cNvPr id="10" name="Text 8"/>
          <p:cNvSpPr/>
          <p:nvPr/>
        </p:nvSpPr>
        <p:spPr>
          <a:xfrm>
            <a:off x="844500" y="1851625"/>
            <a:ext cx="16874490" cy="2387600"/>
          </a:xfrm>
          <a:prstGeom prst="rect">
            <a:avLst/>
          </a:prstGeom>
          <a:noFill/>
          <a:ln/>
        </p:spPr>
        <p:txBody>
          <a:bodyPr wrap="square" lIns="25400" tIns="25400" rIns="25400" bIns="25400" rtlCol="0" anchor="t">
            <a:normAutofit/>
          </a:bodyPr>
          <a:lstStyle/>
          <a:p>
            <a:pPr marL="0" indent="0" algn="l">
              <a:lnSpc>
                <a:spcPct val="100000"/>
              </a:lnSpc>
              <a:buNone/>
            </a:pPr>
            <a:r>
              <a:rPr lang="en-US" sz="16500" i="1" kern="0" spc="-660" dirty="0">
                <a:solidFill>
                  <a:srgbClr val="B89CFF"/>
                </a:solidFill>
                <a:latin typeface="Georgia" pitchFamily="34" charset="0"/>
                <a:ea typeface="Georgia" pitchFamily="34" charset="-122"/>
                <a:cs typeface="Georgia" pitchFamily="34" charset="-120"/>
              </a:rPr>
              <a:t>Demo.</a:t>
            </a:r>
            <a:endParaRPr lang="en-US" sz="16500" dirty="0"/>
          </a:p>
        </p:txBody>
      </p:sp>
      <p:sp>
        <p:nvSpPr>
          <p:cNvPr id="11" name="Text 9"/>
          <p:cNvSpPr/>
          <p:nvPr/>
        </p:nvSpPr>
        <p:spPr>
          <a:xfrm>
            <a:off x="1069500" y="4734375"/>
            <a:ext cx="16874490" cy="406400"/>
          </a:xfrm>
          <a:prstGeom prst="rect">
            <a:avLst/>
          </a:prstGeom>
          <a:noFill/>
          <a:ln/>
        </p:spPr>
        <p:txBody>
          <a:bodyPr wrap="square" lIns="25400" tIns="25400" rIns="25400" bIns="25400" rtlCol="0" anchor="t">
            <a:normAutofit fontScale="92500" lnSpcReduction="10000"/>
          </a:bodyPr>
          <a:lstStyle/>
          <a:p>
            <a:pPr>
              <a:lnSpc>
                <a:spcPct val="140000"/>
              </a:lnSpc>
            </a:pPr>
            <a:r>
              <a:rPr lang="en-US" sz="2100" kern="0" spc="336" dirty="0">
                <a:solidFill>
                  <a:srgbClr val="7A8294"/>
                </a:solidFill>
                <a:latin typeface="Consolas"/>
                <a:ea typeface="Consolas" pitchFamily="34" charset="-122"/>
                <a:cs typeface="Consolas" pitchFamily="34" charset="-120"/>
              </a:rPr>
              <a:t>→ SWITCHING TO THE TERMINAL... Agentic Wor</a:t>
            </a:r>
            <a:r>
              <a:rPr lang="en-US" sz="2100" kern="0" spc="336" dirty="0">
                <a:solidFill>
                  <a:srgbClr val="7A8294"/>
                </a:solidFill>
                <a:latin typeface="Consolas"/>
              </a:rPr>
              <a:t>kflows</a:t>
            </a:r>
            <a:r>
              <a:rPr lang="en-US" sz="2100" kern="0" spc="336">
                <a:solidFill>
                  <a:srgbClr val="7A8294"/>
                </a:solidFill>
                <a:latin typeface="Consolas"/>
                <a:ea typeface="Consolas" pitchFamily="34" charset="-122"/>
                <a:cs typeface="Consolas" pitchFamily="34" charset="-120"/>
              </a:rPr>
              <a:t> with Efficiency Improver  </a:t>
            </a:r>
            <a:r>
              <a:rPr lang="en-US" sz="2100" kern="0" spc="336" dirty="0">
                <a:solidFill>
                  <a:srgbClr val="B89CFF"/>
                </a:solidFill>
                <a:latin typeface="Consolas"/>
                <a:ea typeface="Consolas" pitchFamily="34" charset="-122"/>
                <a:cs typeface="Consolas" pitchFamily="34" charset="-120"/>
              </a:rPr>
              <a:t>▍</a:t>
            </a:r>
            <a:endParaRPr lang="en-US" sz="2100" dirty="0"/>
          </a:p>
        </p:txBody>
      </p:sp>
      <p:sp>
        <p:nvSpPr>
          <p:cNvPr id="12" name="Shape 10"/>
          <p:cNvSpPr/>
          <p:nvPr/>
        </p:nvSpPr>
        <p:spPr>
          <a:xfrm>
            <a:off x="0" y="9779001"/>
            <a:ext cx="18288000" cy="508000"/>
          </a:xfrm>
          <a:prstGeom prst="rect">
            <a:avLst/>
          </a:prstGeom>
          <a:solidFill>
            <a:srgbClr val="11141B"/>
          </a:solidFill>
          <a:ln/>
        </p:spPr>
        <p:txBody>
          <a:bodyPr/>
          <a:p/>
        </p:txBody>
      </p:sp>
      <p:sp>
        <p:nvSpPr>
          <p:cNvPr id="13" name="Shape 11"/>
          <p:cNvSpPr/>
          <p:nvPr/>
        </p:nvSpPr>
        <p:spPr>
          <a:xfrm>
            <a:off x="0" y="9779001"/>
            <a:ext cx="18288000" cy="12700"/>
          </a:xfrm>
          <a:prstGeom prst="rect">
            <a:avLst/>
          </a:prstGeom>
          <a:solidFill>
            <a:srgbClr val="2A3142"/>
          </a:solidFill>
          <a:ln/>
        </p:spPr>
        <p:txBody>
          <a:bodyPr/>
          <a:p/>
        </p:txBody>
      </p:sp>
      <p:sp>
        <p:nvSpPr>
          <p:cNvPr id="14" name="Text 12"/>
          <p:cNvSpPr/>
          <p:nvPr/>
        </p:nvSpPr>
        <p:spPr>
          <a:xfrm>
            <a:off x="304800" y="9880600"/>
            <a:ext cx="1068983"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B89CFF"/>
                </a:solidFill>
                <a:latin typeface="Consolas" pitchFamily="34" charset="0"/>
                <a:ea typeface="Consolas" pitchFamily="34" charset="-122"/>
                <a:cs typeface="Consolas" pitchFamily="34" charset="-120"/>
              </a:rPr>
              <a:t>● demo</a:t>
            </a:r>
            <a:endParaRPr lang="en-US" sz="1800" dirty="0"/>
          </a:p>
        </p:txBody>
      </p:sp>
      <p:sp>
        <p:nvSpPr>
          <p:cNvPr id="15" name="Text 13"/>
          <p:cNvSpPr/>
          <p:nvPr/>
        </p:nvSpPr>
        <p:spPr>
          <a:xfrm>
            <a:off x="1602383" y="9880600"/>
            <a:ext cx="643136"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live</a:t>
            </a:r>
            <a:endParaRPr lang="en-US" sz="1800" dirty="0"/>
          </a:p>
        </p:txBody>
      </p:sp>
      <p:sp>
        <p:nvSpPr>
          <p:cNvPr id="16" name="Text 14"/>
          <p:cNvSpPr/>
          <p:nvPr/>
        </p:nvSpPr>
        <p:spPr>
          <a:xfrm>
            <a:off x="16991013" y="9880600"/>
            <a:ext cx="1068388"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11 / 12</a:t>
            </a:r>
            <a:endParaRPr lang="en-US" sz="1800" dirty="0"/>
          </a:p>
        </p:txBody>
      </p:sp>
      <p:sp>
        <p:nvSpPr>
          <p:cNvPr id="19" name="Shape 31">
            <a:extLst>
              <a:ext uri="{FF2B5EF4-FFF2-40B4-BE49-F238E27FC236}">
                <a16:creationId xmlns:a16="http://schemas.microsoft.com/office/drawing/2014/main" id="{D7A93D5F-D890-FCDD-A79D-154A40BDFA3E}"/>
              </a:ext>
            </a:extLst>
          </p:cNvPr>
          <p:cNvSpPr/>
          <p:nvPr/>
        </p:nvSpPr>
        <p:spPr>
          <a:xfrm>
            <a:off x="9572625" y="5870250"/>
            <a:ext cx="7762875" cy="3670300"/>
          </a:xfrm>
          <a:prstGeom prst="roundRect">
            <a:avLst>
              <a:gd name="adj" fmla="val 2076"/>
            </a:avLst>
          </a:prstGeom>
          <a:solidFill>
            <a:srgbClr val="161A23"/>
          </a:solidFill>
          <a:ln w="12700">
            <a:solidFill>
              <a:srgbClr val="2A3142"/>
            </a:solidFill>
            <a:prstDash val="solid"/>
          </a:ln>
        </p:spPr>
        <p:txBody>
          <a:bodyPr/>
          <a:p/>
        </p:txBody>
      </p:sp>
      <p:sp>
        <p:nvSpPr>
          <p:cNvPr id="21" name="Shape 32">
            <a:extLst>
              <a:ext uri="{FF2B5EF4-FFF2-40B4-BE49-F238E27FC236}">
                <a16:creationId xmlns:a16="http://schemas.microsoft.com/office/drawing/2014/main" id="{6BAF6E74-C88B-96ED-4B1B-E5F3EB3075B0}"/>
              </a:ext>
            </a:extLst>
          </p:cNvPr>
          <p:cNvSpPr/>
          <p:nvPr/>
        </p:nvSpPr>
        <p:spPr>
          <a:xfrm>
            <a:off x="9585325" y="5882950"/>
            <a:ext cx="7737475" cy="596900"/>
          </a:xfrm>
          <a:prstGeom prst="rect">
            <a:avLst/>
          </a:prstGeom>
          <a:solidFill>
            <a:srgbClr val="1C2230"/>
          </a:solidFill>
          <a:ln/>
        </p:spPr>
        <p:txBody>
          <a:bodyPr/>
          <a:p/>
        </p:txBody>
      </p:sp>
      <p:sp>
        <p:nvSpPr>
          <p:cNvPr id="23" name="Shape 33">
            <a:extLst>
              <a:ext uri="{FF2B5EF4-FFF2-40B4-BE49-F238E27FC236}">
                <a16:creationId xmlns:a16="http://schemas.microsoft.com/office/drawing/2014/main" id="{3BF3ED3A-F62A-8BA2-FC23-682E72FC223D}"/>
              </a:ext>
            </a:extLst>
          </p:cNvPr>
          <p:cNvSpPr/>
          <p:nvPr/>
        </p:nvSpPr>
        <p:spPr>
          <a:xfrm>
            <a:off x="9585325" y="6467150"/>
            <a:ext cx="7737475" cy="12700"/>
          </a:xfrm>
          <a:prstGeom prst="rect">
            <a:avLst/>
          </a:prstGeom>
          <a:solidFill>
            <a:srgbClr val="2A3142"/>
          </a:solidFill>
          <a:ln/>
        </p:spPr>
        <p:txBody>
          <a:bodyPr/>
          <a:p/>
        </p:txBody>
      </p:sp>
      <p:sp>
        <p:nvSpPr>
          <p:cNvPr id="25" name="Shape 34">
            <a:extLst>
              <a:ext uri="{FF2B5EF4-FFF2-40B4-BE49-F238E27FC236}">
                <a16:creationId xmlns:a16="http://schemas.microsoft.com/office/drawing/2014/main" id="{D9390BD2-2686-EB41-6DC2-22573E9E23F0}"/>
              </a:ext>
            </a:extLst>
          </p:cNvPr>
          <p:cNvSpPr/>
          <p:nvPr/>
        </p:nvSpPr>
        <p:spPr>
          <a:xfrm>
            <a:off x="9794875" y="6117900"/>
            <a:ext cx="114300" cy="114300"/>
          </a:xfrm>
          <a:prstGeom prst="ellipse">
            <a:avLst/>
          </a:prstGeom>
          <a:solidFill>
            <a:srgbClr val="3A4357"/>
          </a:solidFill>
          <a:ln/>
        </p:spPr>
        <p:txBody>
          <a:bodyPr/>
          <a:p/>
        </p:txBody>
      </p:sp>
      <p:sp>
        <p:nvSpPr>
          <p:cNvPr id="27" name="Shape 35">
            <a:extLst>
              <a:ext uri="{FF2B5EF4-FFF2-40B4-BE49-F238E27FC236}">
                <a16:creationId xmlns:a16="http://schemas.microsoft.com/office/drawing/2014/main" id="{22C42051-D2F3-1D74-7229-6976F2B3727D}"/>
              </a:ext>
            </a:extLst>
          </p:cNvPr>
          <p:cNvSpPr/>
          <p:nvPr/>
        </p:nvSpPr>
        <p:spPr>
          <a:xfrm>
            <a:off x="9985375" y="6117900"/>
            <a:ext cx="114300" cy="114300"/>
          </a:xfrm>
          <a:prstGeom prst="ellipse">
            <a:avLst/>
          </a:prstGeom>
          <a:solidFill>
            <a:srgbClr val="3A4357"/>
          </a:solidFill>
          <a:ln/>
        </p:spPr>
        <p:txBody>
          <a:bodyPr/>
          <a:p/>
        </p:txBody>
      </p:sp>
      <p:sp>
        <p:nvSpPr>
          <p:cNvPr id="29" name="Shape 36">
            <a:extLst>
              <a:ext uri="{FF2B5EF4-FFF2-40B4-BE49-F238E27FC236}">
                <a16:creationId xmlns:a16="http://schemas.microsoft.com/office/drawing/2014/main" id="{0E7BF0F9-6870-0B6D-054F-5C8A0A97578A}"/>
              </a:ext>
            </a:extLst>
          </p:cNvPr>
          <p:cNvSpPr/>
          <p:nvPr/>
        </p:nvSpPr>
        <p:spPr>
          <a:xfrm>
            <a:off x="10175875" y="6117900"/>
            <a:ext cx="114300" cy="114300"/>
          </a:xfrm>
          <a:prstGeom prst="ellipse">
            <a:avLst/>
          </a:prstGeom>
          <a:solidFill>
            <a:srgbClr val="3A4357"/>
          </a:solidFill>
          <a:ln/>
        </p:spPr>
        <p:txBody>
          <a:bodyPr/>
          <a:p/>
        </p:txBody>
      </p:sp>
      <p:sp>
        <p:nvSpPr>
          <p:cNvPr id="31" name="Text 37">
            <a:extLst>
              <a:ext uri="{FF2B5EF4-FFF2-40B4-BE49-F238E27FC236}">
                <a16:creationId xmlns:a16="http://schemas.microsoft.com/office/drawing/2014/main" id="{E337B5ED-9191-4C72-B6D1-5E91545CE2AC}"/>
              </a:ext>
            </a:extLst>
          </p:cNvPr>
          <p:cNvSpPr/>
          <p:nvPr/>
        </p:nvSpPr>
        <p:spPr>
          <a:xfrm>
            <a:off x="10423525" y="6016300"/>
            <a:ext cx="1722239" cy="355600"/>
          </a:xfrm>
          <a:prstGeom prst="rect">
            <a:avLst/>
          </a:prstGeom>
          <a:noFill/>
          <a:ln/>
        </p:spPr>
        <p:txBody>
          <a:bodyPr wrap="square" lIns="25400" tIns="25400" rIns="25400" bIns="25400" rtlCol="0" anchor="t">
            <a:noAutofit/>
          </a:bodyPr>
          <a:lstStyle/>
          <a:p>
            <a:pPr marL="0" indent="0" algn="l">
              <a:lnSpc>
                <a:spcPct val="140000"/>
              </a:lnSpc>
              <a:buNone/>
            </a:pPr>
            <a:r>
              <a:rPr lang="en-US" sz="1950" dirty="0">
                <a:solidFill>
                  <a:srgbClr val="7A8294"/>
                </a:solidFill>
                <a:latin typeface="Consolas" pitchFamily="34" charset="0"/>
                <a:ea typeface="Consolas" pitchFamily="34" charset="-122"/>
                <a:cs typeface="Consolas" pitchFamily="34" charset="-120"/>
              </a:rPr>
              <a:t>~/work — zsh</a:t>
            </a:r>
            <a:endParaRPr lang="en-US" sz="1950" dirty="0"/>
          </a:p>
        </p:txBody>
      </p:sp>
      <p:sp>
        <p:nvSpPr>
          <p:cNvPr id="33" name="Text 38">
            <a:extLst>
              <a:ext uri="{FF2B5EF4-FFF2-40B4-BE49-F238E27FC236}">
                <a16:creationId xmlns:a16="http://schemas.microsoft.com/office/drawing/2014/main" id="{E06BB5CA-C1D1-4D4B-5D45-45372B9C61B5}"/>
              </a:ext>
            </a:extLst>
          </p:cNvPr>
          <p:cNvSpPr/>
          <p:nvPr/>
        </p:nvSpPr>
        <p:spPr>
          <a:xfrm>
            <a:off x="9852025" y="6746550"/>
            <a:ext cx="7420198" cy="457200"/>
          </a:xfrm>
          <a:prstGeom prst="rect">
            <a:avLst/>
          </a:prstGeom>
          <a:noFill/>
          <a:ln/>
        </p:spPr>
        <p:txBody>
          <a:bodyPr wrap="square" lIns="25400" tIns="25400" rIns="25400" bIns="25400" rtlCol="0" anchor="t">
            <a:noAutofit/>
          </a:bodyPr>
          <a:lstStyle/>
          <a:p>
            <a:pPr marL="0" indent="0" algn="l">
              <a:lnSpc>
                <a:spcPct val="170000"/>
              </a:lnSpc>
              <a:buNone/>
            </a:pPr>
            <a:r>
              <a:rPr lang="en-US" sz="1950" baseline="0" dirty="0">
                <a:solidFill>
                  <a:srgbClr val="7A8294"/>
                </a:solidFill>
                <a:latin typeface="Consolas"/>
              </a:rPr>
              <a:t># installs the </a:t>
            </a:r>
            <a:r>
              <a:rPr lang="en-US" sz="1950" baseline="0" dirty="0" err="1">
                <a:solidFill>
                  <a:srgbClr val="7A8294"/>
                </a:solidFill>
                <a:latin typeface="Consolas"/>
              </a:rPr>
              <a:t>gh</a:t>
            </a:r>
            <a:r>
              <a:rPr lang="en-US" sz="1950" baseline="0" dirty="0">
                <a:solidFill>
                  <a:srgbClr val="7A8294"/>
                </a:solidFill>
                <a:latin typeface="Consolas"/>
              </a:rPr>
              <a:t>-aw CLI extension</a:t>
            </a:r>
            <a:endParaRPr lang="en-US" sz="1950" dirty="0">
              <a:solidFill>
                <a:srgbClr val="C6C4BC"/>
              </a:solidFill>
              <a:latin typeface="Consolas"/>
            </a:endParaRPr>
          </a:p>
        </p:txBody>
      </p:sp>
      <p:sp>
        <p:nvSpPr>
          <p:cNvPr id="35" name="Text 39">
            <a:extLst>
              <a:ext uri="{FF2B5EF4-FFF2-40B4-BE49-F238E27FC236}">
                <a16:creationId xmlns:a16="http://schemas.microsoft.com/office/drawing/2014/main" id="{7233C66A-04AF-051B-F79C-9CA36E641287}"/>
              </a:ext>
            </a:extLst>
          </p:cNvPr>
          <p:cNvSpPr/>
          <p:nvPr/>
        </p:nvSpPr>
        <p:spPr>
          <a:xfrm>
            <a:off x="9852025" y="7299000"/>
            <a:ext cx="7420198" cy="457200"/>
          </a:xfrm>
          <a:prstGeom prst="rect">
            <a:avLst/>
          </a:prstGeom>
          <a:noFill/>
          <a:ln/>
        </p:spPr>
        <p:txBody>
          <a:bodyPr wrap="square" lIns="25400" tIns="25400" rIns="25400" bIns="25400" rtlCol="0" anchor="t">
            <a:noAutofit/>
          </a:bodyPr>
          <a:lstStyle/>
          <a:p>
            <a:pPr>
              <a:lnSpc>
                <a:spcPct val="170000"/>
              </a:lnSpc>
            </a:pPr>
            <a:r>
              <a:rPr lang="en-US" sz="1950" dirty="0">
                <a:solidFill>
                  <a:srgbClr val="B89CFF"/>
                </a:solidFill>
                <a:latin typeface="Consolas"/>
                <a:ea typeface="Consolas" pitchFamily="34" charset="-122"/>
                <a:cs typeface="Consolas" pitchFamily="34" charset="-120"/>
              </a:rPr>
              <a:t>$ </a:t>
            </a:r>
            <a:r>
              <a:rPr lang="en-US" sz="1950" dirty="0" err="1">
                <a:solidFill>
                  <a:srgbClr val="C6C4BC"/>
                </a:solidFill>
                <a:latin typeface="Consolas"/>
                <a:ea typeface="Consolas" pitchFamily="34" charset="-122"/>
                <a:cs typeface="Consolas" pitchFamily="34" charset="-120"/>
              </a:rPr>
              <a:t>gh</a:t>
            </a:r>
            <a:r>
              <a:rPr lang="en-US" sz="1950" dirty="0">
                <a:solidFill>
                  <a:srgbClr val="C6C4BC"/>
                </a:solidFill>
                <a:latin typeface="Consolas"/>
                <a:ea typeface="Consolas" pitchFamily="34" charset="-122"/>
                <a:cs typeface="Consolas" pitchFamily="34" charset="-120"/>
              </a:rPr>
              <a:t> extension install </a:t>
            </a:r>
            <a:r>
              <a:rPr lang="en-US" sz="1950" dirty="0" err="1">
                <a:solidFill>
                  <a:srgbClr val="C6C4BC"/>
                </a:solidFill>
                <a:latin typeface="Consolas"/>
                <a:ea typeface="Consolas" pitchFamily="34" charset="-122"/>
                <a:cs typeface="Consolas" pitchFamily="34" charset="-120"/>
              </a:rPr>
              <a:t>github</a:t>
            </a:r>
            <a:r>
              <a:rPr lang="en-US" sz="1950" dirty="0">
                <a:solidFill>
                  <a:srgbClr val="C6C4BC"/>
                </a:solidFill>
                <a:latin typeface="Consolas"/>
                <a:ea typeface="Consolas" pitchFamily="34" charset="-122"/>
                <a:cs typeface="Consolas" pitchFamily="34" charset="-120"/>
              </a:rPr>
              <a:t>/</a:t>
            </a:r>
            <a:r>
              <a:rPr lang="en-US" sz="1950" dirty="0" err="1">
                <a:solidFill>
                  <a:srgbClr val="C6C4BC"/>
                </a:solidFill>
                <a:latin typeface="Consolas"/>
                <a:ea typeface="Consolas" pitchFamily="34" charset="-122"/>
                <a:cs typeface="Consolas" pitchFamily="34" charset="-120"/>
              </a:rPr>
              <a:t>gh</a:t>
            </a:r>
            <a:r>
              <a:rPr lang="en-US" sz="1950" dirty="0">
                <a:solidFill>
                  <a:srgbClr val="C6C4BC"/>
                </a:solidFill>
                <a:latin typeface="Consolas"/>
                <a:ea typeface="Consolas" pitchFamily="34" charset="-122"/>
                <a:cs typeface="Consolas" pitchFamily="34" charset="-120"/>
              </a:rPr>
              <a:t>-aw</a:t>
            </a:r>
            <a:endParaRPr lang="en-US" sz="1950" dirty="0"/>
          </a:p>
        </p:txBody>
      </p:sp>
      <p:sp>
        <p:nvSpPr>
          <p:cNvPr id="37" name="Text 40">
            <a:extLst>
              <a:ext uri="{FF2B5EF4-FFF2-40B4-BE49-F238E27FC236}">
                <a16:creationId xmlns:a16="http://schemas.microsoft.com/office/drawing/2014/main" id="{03F411B2-C2EC-0CFC-B0D2-872FA622370D}"/>
              </a:ext>
            </a:extLst>
          </p:cNvPr>
          <p:cNvSpPr/>
          <p:nvPr/>
        </p:nvSpPr>
        <p:spPr>
          <a:xfrm>
            <a:off x="9852025" y="7718100"/>
            <a:ext cx="7420198" cy="457200"/>
          </a:xfrm>
          <a:prstGeom prst="rect">
            <a:avLst/>
          </a:prstGeom>
          <a:noFill/>
          <a:ln/>
        </p:spPr>
        <p:txBody>
          <a:bodyPr wrap="square" lIns="25400" tIns="25400" rIns="25400" bIns="25400" rtlCol="0" anchor="t">
            <a:noAutofit/>
          </a:bodyPr>
          <a:lstStyle/>
          <a:p>
            <a:pPr>
              <a:lnSpc>
                <a:spcPct val="170000"/>
              </a:lnSpc>
            </a:pPr>
            <a:r>
              <a:rPr lang="en-US" sz="1950">
                <a:solidFill>
                  <a:srgbClr val="7A8294"/>
                </a:solidFill>
                <a:latin typeface="Consolas"/>
                <a:ea typeface="Calibri"/>
                <a:cs typeface="Calibri"/>
              </a:rPr>
              <a:t># add the agentic workflow to your repository</a:t>
            </a:r>
          </a:p>
        </p:txBody>
      </p:sp>
      <p:sp>
        <p:nvSpPr>
          <p:cNvPr id="39" name="Text 41">
            <a:extLst>
              <a:ext uri="{FF2B5EF4-FFF2-40B4-BE49-F238E27FC236}">
                <a16:creationId xmlns:a16="http://schemas.microsoft.com/office/drawing/2014/main" id="{D4E423FE-263F-B8D1-35C3-157374FE09DA}"/>
              </a:ext>
            </a:extLst>
          </p:cNvPr>
          <p:cNvSpPr/>
          <p:nvPr/>
        </p:nvSpPr>
        <p:spPr>
          <a:xfrm>
            <a:off x="9852025" y="8270550"/>
            <a:ext cx="7420198" cy="457200"/>
          </a:xfrm>
          <a:prstGeom prst="rect">
            <a:avLst/>
          </a:prstGeom>
          <a:noFill/>
          <a:ln/>
        </p:spPr>
        <p:txBody>
          <a:bodyPr wrap="square" lIns="25400" tIns="25400" rIns="25400" bIns="25400" rtlCol="0" anchor="t">
            <a:normAutofit fontScale="85000" lnSpcReduction="10000"/>
          </a:bodyPr>
          <a:lstStyle/>
          <a:p>
            <a:pPr>
              <a:lnSpc>
                <a:spcPct val="170000"/>
              </a:lnSpc>
            </a:pPr>
            <a:r>
              <a:rPr lang="en-US" sz="1950" dirty="0">
                <a:solidFill>
                  <a:srgbClr val="B89CFF"/>
                </a:solidFill>
                <a:latin typeface="Consolas"/>
                <a:ea typeface="Consolas" pitchFamily="34" charset="-122"/>
                <a:cs typeface="Consolas" pitchFamily="34" charset="-120"/>
              </a:rPr>
              <a:t>$ </a:t>
            </a:r>
            <a:r>
              <a:rPr lang="en-US" sz="1950" dirty="0">
                <a:solidFill>
                  <a:srgbClr val="C6C4BC"/>
                </a:solidFill>
                <a:latin typeface="Consolas"/>
                <a:ea typeface="Consolas" pitchFamily="34" charset="-122"/>
                <a:cs typeface="Consolas" pitchFamily="34" charset="-120"/>
              </a:rPr>
              <a:t> </a:t>
            </a:r>
            <a:r>
              <a:rPr lang="en-US" sz="1950" dirty="0" err="1">
                <a:solidFill>
                  <a:srgbClr val="C6C4BC"/>
                </a:solidFill>
                <a:latin typeface="Consolas"/>
                <a:ea typeface="Consolas" pitchFamily="34" charset="-122"/>
                <a:cs typeface="Consolas" pitchFamily="34" charset="-120"/>
              </a:rPr>
              <a:t>gh</a:t>
            </a:r>
            <a:r>
              <a:rPr lang="en-US" sz="1950" dirty="0">
                <a:solidFill>
                  <a:srgbClr val="C6C4BC"/>
                </a:solidFill>
                <a:latin typeface="Consolas"/>
                <a:ea typeface="Consolas" pitchFamily="34" charset="-122"/>
                <a:cs typeface="Consolas" pitchFamily="34" charset="-120"/>
              </a:rPr>
              <a:t> aw add-wizard </a:t>
            </a:r>
            <a:r>
              <a:rPr lang="en-US" sz="1950" dirty="0" err="1">
                <a:solidFill>
                  <a:srgbClr val="C6C4BC"/>
                </a:solidFill>
                <a:latin typeface="Consolas"/>
                <a:ea typeface="Consolas" pitchFamily="34" charset="-122"/>
                <a:cs typeface="Consolas" pitchFamily="34" charset="-120"/>
              </a:rPr>
              <a:t>githubnext</a:t>
            </a:r>
            <a:r>
              <a:rPr lang="en-US" sz="1950" dirty="0">
                <a:solidFill>
                  <a:srgbClr val="C6C4BC"/>
                </a:solidFill>
                <a:latin typeface="Consolas"/>
                <a:ea typeface="Consolas" pitchFamily="34" charset="-122"/>
                <a:cs typeface="Consolas" pitchFamily="34" charset="-120"/>
              </a:rPr>
              <a:t>/</a:t>
            </a:r>
            <a:r>
              <a:rPr lang="en-US" sz="1950" dirty="0" err="1">
                <a:solidFill>
                  <a:srgbClr val="C6C4BC"/>
                </a:solidFill>
                <a:latin typeface="Consolas"/>
                <a:ea typeface="Consolas" pitchFamily="34" charset="-122"/>
                <a:cs typeface="Consolas" pitchFamily="34" charset="-120"/>
              </a:rPr>
              <a:t>agentics</a:t>
            </a:r>
            <a:r>
              <a:rPr lang="en-US" sz="1950" dirty="0">
                <a:solidFill>
                  <a:srgbClr val="C6C4BC"/>
                </a:solidFill>
                <a:latin typeface="Consolas"/>
                <a:ea typeface="Consolas" pitchFamily="34" charset="-122"/>
                <a:cs typeface="Consolas" pitchFamily="34" charset="-120"/>
              </a:rPr>
              <a:t>/</a:t>
            </a:r>
            <a:r>
              <a:rPr lang="en-US" sz="1950" dirty="0" err="1">
                <a:solidFill>
                  <a:srgbClr val="C6C4BC"/>
                </a:solidFill>
                <a:latin typeface="Consolas"/>
                <a:ea typeface="Consolas" pitchFamily="34" charset="-122"/>
                <a:cs typeface="Consolas" pitchFamily="34" charset="-120"/>
              </a:rPr>
              <a:t>efficiency</a:t>
            </a:r>
            <a:r>
              <a:rPr lang="en-US" sz="1950" dirty="0">
                <a:solidFill>
                  <a:srgbClr val="C6C4BC"/>
                </a:solidFill>
                <a:latin typeface="Consolas"/>
                <a:ea typeface="Consolas" pitchFamily="34" charset="-122"/>
                <a:cs typeface="Consolas" pitchFamily="34" charset="-120"/>
              </a:rPr>
              <a:t>-improver</a:t>
            </a:r>
            <a:endParaRPr lang="en-US" sz="1950" dirty="0">
              <a:solidFill>
                <a:srgbClr val="E8E6DF"/>
              </a:solidFill>
              <a:latin typeface="Consolas"/>
            </a:endParaRPr>
          </a:p>
        </p:txBody>
      </p:sp>
      <p:sp>
        <p:nvSpPr>
          <p:cNvPr id="41" name="Text 42">
            <a:extLst>
              <a:ext uri="{FF2B5EF4-FFF2-40B4-BE49-F238E27FC236}">
                <a16:creationId xmlns:a16="http://schemas.microsoft.com/office/drawing/2014/main" id="{274469DA-78A5-9FF0-E56F-AF7761782239}"/>
              </a:ext>
            </a:extLst>
          </p:cNvPr>
          <p:cNvSpPr/>
          <p:nvPr/>
        </p:nvSpPr>
        <p:spPr>
          <a:xfrm>
            <a:off x="9852025" y="8823000"/>
            <a:ext cx="7420198" cy="457200"/>
          </a:xfrm>
          <a:prstGeom prst="rect">
            <a:avLst/>
          </a:prstGeom>
          <a:noFill/>
          <a:ln/>
        </p:spPr>
        <p:txBody>
          <a:bodyPr wrap="square" lIns="25400" tIns="25400" rIns="25400" bIns="25400" rtlCol="0" anchor="t">
            <a:normAutofit/>
          </a:bodyPr>
          <a:lstStyle/>
          <a:p>
            <a:pPr marL="0" indent="0" algn="l">
              <a:lnSpc>
                <a:spcPct val="170000"/>
              </a:lnSpc>
              <a:buNone/>
            </a:pPr>
            <a:r>
              <a:rPr lang="en-US" sz="1950" dirty="0">
                <a:solidFill>
                  <a:srgbClr val="6DC287"/>
                </a:solidFill>
                <a:latin typeface="Consolas" pitchFamily="34" charset="0"/>
                <a:ea typeface="Consolas" pitchFamily="34" charset="-122"/>
                <a:cs typeface="Consolas" pitchFamily="34" charset="-120"/>
              </a:rPr>
              <a:t>✓ ready</a:t>
            </a:r>
            <a:endParaRPr lang="en-US" sz="1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D12"/>
        </a:solidFill>
        <a:effectLst/>
      </p:bgPr>
    </p:bg>
    <p:spTree>
      <p:nvGrpSpPr>
        <p:cNvPr id="1" name=""/>
        <p:cNvGrpSpPr/>
        <p:nvPr/>
      </p:nvGrpSpPr>
      <p:grpSpPr>
        <a:xfrm>
          <a:off x="0" y="0"/>
          <a:ext cx="0" cy="0"/>
          <a:chOff x="0" y="0"/>
          <a:chExt cx="0" cy="0"/>
        </a:xfrm>
      </p:grpSpPr>
      <p:sp>
        <p:nvSpPr>
          <p:cNvPr id="2" name="Shape 0"/>
          <p:cNvSpPr/>
          <p:nvPr/>
        </p:nvSpPr>
        <p:spPr>
          <a:xfrm>
            <a:off x="0" y="0"/>
            <a:ext cx="18288000" cy="546100"/>
          </a:xfrm>
          <a:prstGeom prst="rect">
            <a:avLst/>
          </a:prstGeom>
          <a:solidFill>
            <a:srgbClr val="11141B"/>
          </a:solidFill>
          <a:ln/>
        </p:spPr>
        <p:txBody>
          <a:bodyPr/>
          <a:p/>
        </p:txBody>
      </p:sp>
      <p:sp>
        <p:nvSpPr>
          <p:cNvPr id="3" name="Shape 1"/>
          <p:cNvSpPr/>
          <p:nvPr/>
        </p:nvSpPr>
        <p:spPr>
          <a:xfrm>
            <a:off x="0" y="533400"/>
            <a:ext cx="18288000" cy="12700"/>
          </a:xfrm>
          <a:prstGeom prst="rect">
            <a:avLst/>
          </a:prstGeom>
          <a:solidFill>
            <a:srgbClr val="2A3142"/>
          </a:solidFill>
          <a:ln/>
        </p:spPr>
        <p:txBody>
          <a:bodyPr/>
          <a:p/>
        </p:txBody>
      </p:sp>
      <p:sp>
        <p:nvSpPr>
          <p:cNvPr id="4" name="Shape 2"/>
          <p:cNvSpPr/>
          <p:nvPr/>
        </p:nvSpPr>
        <p:spPr>
          <a:xfrm>
            <a:off x="304800" y="200025"/>
            <a:ext cx="133350" cy="133350"/>
          </a:xfrm>
          <a:prstGeom prst="ellipse">
            <a:avLst/>
          </a:prstGeom>
          <a:solidFill>
            <a:srgbClr val="B6644A"/>
          </a:solidFill>
          <a:ln/>
        </p:spPr>
        <p:txBody>
          <a:bodyPr/>
          <a:p/>
        </p:txBody>
      </p:sp>
      <p:sp>
        <p:nvSpPr>
          <p:cNvPr id="5" name="Shape 3"/>
          <p:cNvSpPr/>
          <p:nvPr/>
        </p:nvSpPr>
        <p:spPr>
          <a:xfrm>
            <a:off x="533400" y="200025"/>
            <a:ext cx="133350" cy="133350"/>
          </a:xfrm>
          <a:prstGeom prst="ellipse">
            <a:avLst/>
          </a:prstGeom>
          <a:solidFill>
            <a:srgbClr val="B69A4A"/>
          </a:solidFill>
          <a:ln/>
        </p:spPr>
        <p:txBody>
          <a:bodyPr/>
          <a:p/>
        </p:txBody>
      </p:sp>
      <p:sp>
        <p:nvSpPr>
          <p:cNvPr id="6" name="Shape 4"/>
          <p:cNvSpPr/>
          <p:nvPr/>
        </p:nvSpPr>
        <p:spPr>
          <a:xfrm>
            <a:off x="762000" y="200025"/>
            <a:ext cx="133350" cy="133350"/>
          </a:xfrm>
          <a:prstGeom prst="ellipse">
            <a:avLst/>
          </a:prstGeom>
          <a:solidFill>
            <a:srgbClr val="6B9A6A"/>
          </a:solidFill>
          <a:ln/>
        </p:spPr>
        <p:txBody>
          <a:bodyPr/>
          <a:p/>
        </p:txBody>
      </p:sp>
      <p:sp>
        <p:nvSpPr>
          <p:cNvPr id="7" name="Text 5"/>
          <p:cNvSpPr/>
          <p:nvPr/>
        </p:nvSpPr>
        <p:spPr>
          <a:xfrm>
            <a:off x="1066800" y="107950"/>
            <a:ext cx="4828524"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C6C4BC"/>
                </a:solidFill>
                <a:latin typeface="Consolas" pitchFamily="34" charset="0"/>
                <a:ea typeface="Consolas" pitchFamily="34" charset="-122"/>
                <a:cs typeface="Consolas" pitchFamily="34" charset="-120"/>
              </a:rPr>
              <a:t>~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C6C4BC"/>
                </a:solidFill>
                <a:latin typeface="Consolas" pitchFamily="34" charset="0"/>
                <a:ea typeface="Consolas" pitchFamily="34" charset="-122"/>
                <a:cs typeface="Consolas" pitchFamily="34" charset="-120"/>
              </a:rPr>
              <a:t>agentic-workflows </a:t>
            </a:r>
            <a:r>
              <a:rPr lang="en-US" sz="1800" kern="0" spc="36" dirty="0">
                <a:solidFill>
                  <a:srgbClr val="545B6C"/>
                </a:solidFill>
                <a:latin typeface="Consolas" pitchFamily="34" charset="0"/>
                <a:ea typeface="Consolas" pitchFamily="34" charset="-122"/>
                <a:cs typeface="Consolas" pitchFamily="34" charset="-120"/>
              </a:rPr>
              <a:t>/ </a:t>
            </a:r>
            <a:r>
              <a:rPr lang="en-US" sz="1800" kern="0" spc="36" dirty="0">
                <a:solidFill>
                  <a:srgbClr val="B89CFF"/>
                </a:solidFill>
                <a:latin typeface="Consolas" pitchFamily="34" charset="0"/>
                <a:ea typeface="Consolas" pitchFamily="34" charset="-122"/>
                <a:cs typeface="Consolas" pitchFamily="34" charset="-120"/>
              </a:rPr>
              <a:t>11-thanks.md</a:t>
            </a:r>
            <a:endParaRPr lang="en-US" sz="1800" dirty="0"/>
          </a:p>
        </p:txBody>
      </p:sp>
      <p:sp>
        <p:nvSpPr>
          <p:cNvPr id="8" name="Text 6"/>
          <p:cNvSpPr/>
          <p:nvPr/>
        </p:nvSpPr>
        <p:spPr>
          <a:xfrm>
            <a:off x="14549438" y="107950"/>
            <a:ext cx="643136" cy="35560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545B6C"/>
                </a:solidFill>
                <a:latin typeface="Consolas" pitchFamily="34" charset="0"/>
                <a:ea typeface="Consolas" pitchFamily="34" charset="-122"/>
                <a:cs typeface="Consolas" pitchFamily="34" charset="-120"/>
              </a:rPr>
              <a:t>main</a:t>
            </a:r>
            <a:endParaRPr lang="en-US" sz="1800" dirty="0"/>
          </a:p>
        </p:txBody>
      </p:sp>
      <p:sp>
        <p:nvSpPr>
          <p:cNvPr id="9" name="Text 7"/>
          <p:cNvSpPr/>
          <p:nvPr/>
        </p:nvSpPr>
        <p:spPr>
          <a:xfrm>
            <a:off x="15383074" y="107950"/>
            <a:ext cx="2678131"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6DC287"/>
                </a:solidFill>
                <a:latin typeface="Consolas" pitchFamily="34" charset="0"/>
                <a:ea typeface="Consolas" pitchFamily="34" charset="-122"/>
                <a:cs typeface="Consolas" pitchFamily="34" charset="-120"/>
              </a:rPr>
              <a:t>generally available</a:t>
            </a:r>
            <a:endParaRPr lang="en-US" sz="1800" dirty="0"/>
          </a:p>
        </p:txBody>
      </p:sp>
      <p:sp>
        <p:nvSpPr>
          <p:cNvPr id="10" name="Text 8"/>
          <p:cNvSpPr/>
          <p:nvPr/>
        </p:nvSpPr>
        <p:spPr>
          <a:xfrm>
            <a:off x="952500" y="1793875"/>
            <a:ext cx="16874490" cy="4483100"/>
          </a:xfrm>
          <a:prstGeom prst="rect">
            <a:avLst/>
          </a:prstGeom>
          <a:noFill/>
          <a:ln/>
        </p:spPr>
        <p:txBody>
          <a:bodyPr wrap="square" lIns="25400" tIns="25400" rIns="25400" bIns="25400" rtlCol="0" anchor="t">
            <a:normAutofit/>
          </a:bodyPr>
          <a:lstStyle/>
          <a:p>
            <a:pPr marL="0" indent="0" algn="l">
              <a:lnSpc>
                <a:spcPct val="100000"/>
              </a:lnSpc>
              <a:buNone/>
            </a:pPr>
            <a:r>
              <a:rPr lang="en-US" sz="16500" kern="0" spc="-660" dirty="0">
                <a:solidFill>
                  <a:srgbClr val="E8E6DF"/>
                </a:solidFill>
                <a:latin typeface="Arial" pitchFamily="34" charset="0"/>
                <a:ea typeface="Arial" pitchFamily="34" charset="-122"/>
                <a:cs typeface="Arial" pitchFamily="34" charset="-120"/>
              </a:rPr>
              <a:t>Thank </a:t>
            </a:r>
            <a:r>
              <a:rPr lang="en-US" sz="16500" i="1" kern="0" spc="-660" dirty="0">
                <a:solidFill>
                  <a:srgbClr val="B89CFF"/>
                </a:solidFill>
                <a:latin typeface="Georgia" pitchFamily="34" charset="0"/>
                <a:ea typeface="Georgia" pitchFamily="34" charset="-122"/>
                <a:cs typeface="Georgia" pitchFamily="34" charset="-120"/>
              </a:rPr>
              <a:t>you.</a:t>
            </a:r>
            <a:endParaRPr lang="en-US" sz="16500" dirty="0"/>
          </a:p>
        </p:txBody>
      </p:sp>
      <p:sp>
        <p:nvSpPr>
          <p:cNvPr id="11" name="Text 9"/>
          <p:cNvSpPr/>
          <p:nvPr/>
        </p:nvSpPr>
        <p:spPr>
          <a:xfrm>
            <a:off x="952500" y="7096125"/>
            <a:ext cx="16874490" cy="40640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kern="0" spc="336">
                <a:solidFill>
                  <a:srgbClr val="7A8294"/>
                </a:solidFill>
                <a:latin typeface="Consolas"/>
                <a:ea typeface="Consolas" pitchFamily="34" charset="-122"/>
                <a:cs typeface="Consolas" pitchFamily="34" charset="-120"/>
              </a:rPr>
              <a:t>// QUESTIONS?</a:t>
            </a:r>
            <a:endParaRPr lang="en-US" sz="2100">
              <a:latin typeface="Consolas"/>
            </a:endParaRPr>
          </a:p>
        </p:txBody>
      </p:sp>
      <p:sp>
        <p:nvSpPr>
          <p:cNvPr id="12" name="Shape 10"/>
          <p:cNvSpPr/>
          <p:nvPr/>
        </p:nvSpPr>
        <p:spPr>
          <a:xfrm>
            <a:off x="0" y="9779001"/>
            <a:ext cx="18288000" cy="508000"/>
          </a:xfrm>
          <a:prstGeom prst="rect">
            <a:avLst/>
          </a:prstGeom>
          <a:solidFill>
            <a:srgbClr val="11141B"/>
          </a:solidFill>
          <a:ln/>
        </p:spPr>
        <p:txBody>
          <a:bodyPr/>
          <a:p/>
        </p:txBody>
      </p:sp>
      <p:sp>
        <p:nvSpPr>
          <p:cNvPr id="13" name="Shape 11"/>
          <p:cNvSpPr/>
          <p:nvPr/>
        </p:nvSpPr>
        <p:spPr>
          <a:xfrm>
            <a:off x="0" y="9779001"/>
            <a:ext cx="18288000" cy="12700"/>
          </a:xfrm>
          <a:prstGeom prst="rect">
            <a:avLst/>
          </a:prstGeom>
          <a:solidFill>
            <a:srgbClr val="2A3142"/>
          </a:solidFill>
          <a:ln/>
        </p:spPr>
        <p:txBody>
          <a:bodyPr/>
          <a:p/>
        </p:txBody>
      </p:sp>
      <p:sp>
        <p:nvSpPr>
          <p:cNvPr id="14" name="Text 12"/>
          <p:cNvSpPr/>
          <p:nvPr/>
        </p:nvSpPr>
        <p:spPr>
          <a:xfrm>
            <a:off x="304800" y="9880600"/>
            <a:ext cx="927100"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B89CFF"/>
                </a:solidFill>
                <a:latin typeface="Consolas" pitchFamily="34" charset="0"/>
                <a:ea typeface="Consolas" pitchFamily="34" charset="-122"/>
                <a:cs typeface="Consolas" pitchFamily="34" charset="-120"/>
              </a:rPr>
              <a:t>● q&amp;a</a:t>
            </a:r>
            <a:endParaRPr lang="en-US" sz="1800" dirty="0"/>
          </a:p>
        </p:txBody>
      </p:sp>
      <p:sp>
        <p:nvSpPr>
          <p:cNvPr id="15" name="Text 13"/>
          <p:cNvSpPr/>
          <p:nvPr/>
        </p:nvSpPr>
        <p:spPr>
          <a:xfrm>
            <a:off x="1460500" y="9880600"/>
            <a:ext cx="4817487"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gh extension install github/gh-aw</a:t>
            </a:r>
            <a:endParaRPr lang="en-US" sz="1800" dirty="0"/>
          </a:p>
        </p:txBody>
      </p:sp>
      <p:sp>
        <p:nvSpPr>
          <p:cNvPr id="16" name="Text 14"/>
          <p:cNvSpPr/>
          <p:nvPr/>
        </p:nvSpPr>
        <p:spPr>
          <a:xfrm>
            <a:off x="16991013" y="9880600"/>
            <a:ext cx="1068388" cy="355600"/>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36" dirty="0">
                <a:solidFill>
                  <a:srgbClr val="7A8294"/>
                </a:solidFill>
                <a:latin typeface="Consolas" pitchFamily="34" charset="0"/>
                <a:ea typeface="Consolas" pitchFamily="34" charset="-122"/>
                <a:cs typeface="Consolas" pitchFamily="34" charset="-120"/>
              </a:rPr>
              <a:t>12 / 12</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Custom</PresentationFormat>
  <Paragraphs>0</Paragraphs>
  <Slides>12</Slides>
  <Notes>12</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83</cp:revision>
  <dcterms:created xsi:type="dcterms:W3CDTF">2026-05-26T21:25:37Z</dcterms:created>
  <dcterms:modified xsi:type="dcterms:W3CDTF">2026-05-26T22:11:07Z</dcterms:modified>
</cp:coreProperties>
</file>